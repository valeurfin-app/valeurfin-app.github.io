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4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7387DC-DB9E-4569-ADE1-2E8A1FF2CA02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12840F-6D21-40E1-943A-2419061C2A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6406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2840F-6D21-40E1-943A-2419061C2A4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7235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ogo_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" y="201168"/>
            <a:ext cx="566928" cy="90708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78992" y="329184"/>
            <a:ext cx="164592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 Display"/>
              </a:rPr>
              <a:t>ValeurFin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" y="603504"/>
            <a:ext cx="2103120" cy="1371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0">
                <a:solidFill>
                  <a:srgbClr val="A4B0D7"/>
                </a:solidFill>
                <a:latin typeface="Aptos"/>
              </a:rPr>
              <a:t>Master Your Financial Story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097280"/>
            <a:ext cx="2084831" cy="310896"/>
          </a:xfrm>
          <a:prstGeom prst="roundRect">
            <a:avLst/>
          </a:prstGeom>
          <a:solidFill>
            <a:srgbClr val="1F1A4A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04088" y="1161288"/>
            <a:ext cx="182880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1">
                <a:solidFill>
                  <a:srgbClr val="CBC1FF"/>
                </a:solidFill>
                <a:latin typeface="Aptos"/>
              </a:rPr>
              <a:t>WHAT'S IN IT FOR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2761488"/>
            <a:ext cx="4251960" cy="6093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20" b="1" dirty="0" err="1">
                <a:solidFill>
                  <a:srgbClr val="C7CEE5"/>
                </a:solidFill>
                <a:latin typeface="Aptos"/>
              </a:rPr>
              <a:t>ValeurFin</a:t>
            </a:r>
            <a:r>
              <a:rPr sz="1320" b="0" dirty="0">
                <a:solidFill>
                  <a:srgbClr val="C7CEE5"/>
                </a:solidFill>
                <a:latin typeface="Aptos"/>
              </a:rPr>
              <a:t> brings your investments, taxes, live market moves and family finances into one private dashboard </a:t>
            </a:r>
            <a:r>
              <a:rPr lang="en-US" sz="1320" b="0" dirty="0">
                <a:solidFill>
                  <a:srgbClr val="C7CEE5"/>
                </a:solidFill>
                <a:latin typeface="Aptos"/>
              </a:rPr>
              <a:t>-</a:t>
            </a:r>
            <a:r>
              <a:rPr sz="1320" b="0" dirty="0">
                <a:solidFill>
                  <a:srgbClr val="C7CEE5"/>
                </a:solidFill>
                <a:latin typeface="Aptos"/>
              </a:rPr>
              <a:t> so you can see more, decide faster and stay in control.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2356" y="3593592"/>
            <a:ext cx="1280160" cy="329184"/>
          </a:xfrm>
          <a:prstGeom prst="roundRect">
            <a:avLst/>
          </a:prstGeom>
          <a:solidFill>
            <a:srgbClr val="0D1428"/>
          </a:solidFill>
          <a:ln w="12700">
            <a:solidFill>
              <a:srgbClr val="6D4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30" b="1" dirty="0">
                <a:solidFill>
                  <a:srgbClr val="F2F6FF"/>
                </a:solidFill>
                <a:latin typeface="Aptos"/>
              </a:rPr>
              <a:t>12+ asset classes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30552" y="3600290"/>
            <a:ext cx="1280160" cy="329184"/>
          </a:xfrm>
          <a:prstGeom prst="roundRect">
            <a:avLst/>
          </a:prstGeom>
          <a:solidFill>
            <a:srgbClr val="0D1428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30" b="1" dirty="0">
                <a:solidFill>
                  <a:srgbClr val="F2F6FF"/>
                </a:solidFill>
                <a:latin typeface="Aptos"/>
              </a:rPr>
              <a:t>Live NSE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94176" y="3593592"/>
            <a:ext cx="1280160" cy="329184"/>
          </a:xfrm>
          <a:prstGeom prst="roundRect">
            <a:avLst/>
          </a:prstGeom>
          <a:solidFill>
            <a:srgbClr val="0D1428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30" b="1" dirty="0">
                <a:solidFill>
                  <a:srgbClr val="F2F6FF"/>
                </a:solidFill>
                <a:latin typeface="Aptos"/>
              </a:rPr>
              <a:t>Works offline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114800"/>
            <a:ext cx="4407408" cy="566928"/>
          </a:xfrm>
          <a:prstGeom prst="roundRect">
            <a:avLst/>
          </a:prstGeom>
          <a:solidFill>
            <a:srgbClr val="0C1225"/>
          </a:solidFill>
          <a:ln w="12700">
            <a:solidFill>
              <a:srgbClr val="2A37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04088" y="4206240"/>
            <a:ext cx="438912" cy="310896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3816" y="4264761"/>
            <a:ext cx="201168" cy="914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52728" y="4187952"/>
            <a:ext cx="219456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20" b="1">
                <a:solidFill>
                  <a:srgbClr val="F9FBFF"/>
                </a:solidFill>
                <a:latin typeface="Aptos"/>
              </a:rPr>
              <a:t>Everything in one 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52728" y="4398264"/>
            <a:ext cx="3401568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80" b="0">
                <a:solidFill>
                  <a:srgbClr val="B0BCDC"/>
                </a:solidFill>
                <a:latin typeface="Aptos"/>
              </a:rPr>
              <a:t>Stocks, SIPs, FDs, PPF, gold, crypto and family finances together.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745736"/>
            <a:ext cx="4407408" cy="566928"/>
          </a:xfrm>
          <a:prstGeom prst="roundRect">
            <a:avLst/>
          </a:prstGeom>
          <a:solidFill>
            <a:srgbClr val="0C1225"/>
          </a:solidFill>
          <a:ln w="12700">
            <a:solidFill>
              <a:srgbClr val="2A37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04088" y="4837175"/>
            <a:ext cx="438912" cy="310896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13816" y="4895697"/>
            <a:ext cx="201168" cy="914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52728" y="4818888"/>
            <a:ext cx="219456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20" b="1">
                <a:solidFill>
                  <a:srgbClr val="F9FBFF"/>
                </a:solidFill>
                <a:latin typeface="Aptos"/>
              </a:rPr>
              <a:t>Better decisions, faster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52728" y="5029199"/>
            <a:ext cx="3401568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80" b="0">
                <a:solidFill>
                  <a:srgbClr val="B0BCDC"/>
                </a:solidFill>
                <a:latin typeface="Aptos"/>
              </a:rPr>
              <a:t>Live prices, tax visibility, scores and exit cues that keep you ahead.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5376672"/>
            <a:ext cx="4407408" cy="566928"/>
          </a:xfrm>
          <a:prstGeom prst="roundRect">
            <a:avLst/>
          </a:prstGeom>
          <a:solidFill>
            <a:srgbClr val="0C1225"/>
          </a:solidFill>
          <a:ln w="12700">
            <a:solidFill>
              <a:srgbClr val="2A37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704088" y="5468112"/>
            <a:ext cx="438912" cy="310896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13816" y="5526633"/>
            <a:ext cx="201168" cy="914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52728" y="5449824"/>
            <a:ext cx="219456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20" b="1">
                <a:solidFill>
                  <a:srgbClr val="F9FBFF"/>
                </a:solidFill>
                <a:latin typeface="Aptos"/>
              </a:rPr>
              <a:t>Privacy you can trust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52728" y="5660136"/>
            <a:ext cx="3401568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80" b="0">
                <a:solidFill>
                  <a:srgbClr val="B0BCDC"/>
                </a:solidFill>
                <a:latin typeface="Aptos"/>
              </a:rPr>
              <a:t>No signup. No server. Your data stays on your device, even offline.</a:t>
            </a:r>
          </a:p>
        </p:txBody>
      </p:sp>
      <p:pic>
        <p:nvPicPr>
          <p:cNvPr id="31" name="Picture 30" descr="device_pane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0992" y="621792"/>
            <a:ext cx="5705856" cy="4372422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5989320" y="5468112"/>
            <a:ext cx="1371600" cy="347472"/>
          </a:xfrm>
          <a:prstGeom prst="roundRect">
            <a:avLst/>
          </a:prstGeom>
          <a:solidFill>
            <a:srgbClr val="0B1225"/>
          </a:solidFill>
          <a:ln w="12700">
            <a:solidFill>
              <a:srgbClr val="79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19" b="1" dirty="0">
                <a:solidFill>
                  <a:srgbClr val="F5F8FF"/>
                </a:solidFill>
                <a:latin typeface="Aptos"/>
              </a:rPr>
              <a:t>Net worth clarity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38140" y="5465403"/>
            <a:ext cx="1371600" cy="347472"/>
          </a:xfrm>
          <a:prstGeom prst="roundRect">
            <a:avLst/>
          </a:prstGeom>
          <a:solidFill>
            <a:srgbClr val="0B1225"/>
          </a:solidFill>
          <a:ln w="12700">
            <a:solidFill>
              <a:srgbClr val="FEB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19" b="1" dirty="0">
                <a:solidFill>
                  <a:srgbClr val="F5F8FF"/>
                </a:solidFill>
                <a:latin typeface="Aptos"/>
              </a:rPr>
              <a:t>Tax ready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296144" y="5468112"/>
            <a:ext cx="1371600" cy="347472"/>
          </a:xfrm>
          <a:prstGeom prst="roundRect">
            <a:avLst/>
          </a:prstGeom>
          <a:solidFill>
            <a:srgbClr val="0B1225"/>
          </a:solidFill>
          <a:ln w="1270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19" b="1" dirty="0">
                <a:solidFill>
                  <a:srgbClr val="F5F8FF"/>
                </a:solidFill>
                <a:latin typeface="Aptos"/>
              </a:rPr>
              <a:t>Exit cues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12064" y="5998464"/>
            <a:ext cx="11155680" cy="658368"/>
          </a:xfrm>
          <a:prstGeom prst="roundRect">
            <a:avLst/>
          </a:prstGeom>
          <a:solidFill>
            <a:srgbClr val="090E1C"/>
          </a:solidFill>
          <a:ln w="12700">
            <a:solidFill>
              <a:srgbClr val="374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49808" y="6163056"/>
            <a:ext cx="82296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1">
                <a:solidFill>
                  <a:srgbClr val="8B5CF6"/>
                </a:solidFill>
                <a:latin typeface="Aptos"/>
              </a:rPr>
              <a:t>HOW IT
WORKS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920240" y="6126480"/>
            <a:ext cx="301752" cy="301752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018080" y="6176772"/>
            <a:ext cx="109728" cy="914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87828" y="6199632"/>
            <a:ext cx="141732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 dirty="0">
                <a:solidFill>
                  <a:srgbClr val="E7ECFA"/>
                </a:solidFill>
                <a:latin typeface="Aptos"/>
              </a:rPr>
              <a:t>Add your assets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657600" y="6126480"/>
            <a:ext cx="301752" cy="30175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755440" y="6176772"/>
            <a:ext cx="109728" cy="914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059936" y="6108192"/>
            <a:ext cx="141732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E7ECFA"/>
                </a:solidFill>
                <a:latin typeface="Aptos"/>
              </a:rPr>
              <a:t>ValeurFin organizes
+ analyzes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623560" y="6126480"/>
            <a:ext cx="301752" cy="301752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721400" y="6176772"/>
            <a:ext cx="109728" cy="914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25896" y="6108192"/>
            <a:ext cx="141732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E7ECFA"/>
                </a:solidFill>
                <a:latin typeface="Aptos"/>
              </a:rPr>
              <a:t>You get clarity,
action &amp; peace of
mind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3273552" y="6277356"/>
            <a:ext cx="292608" cy="0"/>
          </a:xfrm>
          <a:prstGeom prst="line">
            <a:avLst/>
          </a:prstGeom>
          <a:ln w="13970">
            <a:solidFill>
              <a:srgbClr val="6371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5276088" y="6277356"/>
            <a:ext cx="256032" cy="0"/>
          </a:xfrm>
          <a:prstGeom prst="line">
            <a:avLst/>
          </a:prstGeom>
          <a:ln w="13970">
            <a:solidFill>
              <a:srgbClr val="6371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1" name="Picture 50" descr="q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12680" y="6044184"/>
            <a:ext cx="438912" cy="438912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10497312" y="6099048"/>
            <a:ext cx="914400" cy="12801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19" b="1">
                <a:solidFill>
                  <a:srgbClr val="B4BDDC"/>
                </a:solidFill>
                <a:latin typeface="Aptos"/>
              </a:rPr>
              <a:t>Scan to open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26679" y="6099048"/>
            <a:ext cx="201168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80" b="1">
                <a:solidFill>
                  <a:srgbClr val="FFFFFF"/>
                </a:solidFill>
                <a:latin typeface="Aptos"/>
              </a:rPr>
              <a:t>Try ValeurFin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26679" y="6300216"/>
            <a:ext cx="2468880" cy="1371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50" b="1" dirty="0">
                <a:solidFill>
                  <a:srgbClr val="71A1FF"/>
                </a:solidFill>
                <a:latin typeface="Aptos"/>
              </a:rPr>
              <a:t>valeurfin-app.github.io</a:t>
            </a:r>
          </a:p>
        </p:txBody>
      </p:sp>
      <p:sp>
        <p:nvSpPr>
          <p:cNvPr id="55" name="Shape 2">
            <a:extLst>
              <a:ext uri="{FF2B5EF4-FFF2-40B4-BE49-F238E27FC236}">
                <a16:creationId xmlns:a16="http://schemas.microsoft.com/office/drawing/2014/main" id="{2C2FB3A1-DF46-C209-5BFB-0B25568CE87F}"/>
              </a:ext>
            </a:extLst>
          </p:cNvPr>
          <p:cNvSpPr/>
          <p:nvPr/>
        </p:nvSpPr>
        <p:spPr>
          <a:xfrm>
            <a:off x="-171844" y="-1576240"/>
            <a:ext cx="3489224" cy="3508045"/>
          </a:xfrm>
          <a:prstGeom prst="ellipse">
            <a:avLst/>
          </a:prstGeom>
          <a:solidFill>
            <a:srgbClr val="6C5CE7">
              <a:alpha val="12000"/>
            </a:srgbClr>
          </a:solidFill>
          <a:ln w="12700">
            <a:solidFill>
              <a:srgbClr val="6C5CE7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6" name="Text 1">
            <a:extLst>
              <a:ext uri="{FF2B5EF4-FFF2-40B4-BE49-F238E27FC236}">
                <a16:creationId xmlns:a16="http://schemas.microsoft.com/office/drawing/2014/main" id="{6F9BA257-57E3-4B7A-A8CE-74B0BC9A9DFF}"/>
              </a:ext>
            </a:extLst>
          </p:cNvPr>
          <p:cNvSpPr/>
          <p:nvPr/>
        </p:nvSpPr>
        <p:spPr>
          <a:xfrm>
            <a:off x="589788" y="1490472"/>
            <a:ext cx="38862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See every rupee.
</a:t>
            </a:r>
            <a:r>
              <a:rPr lang="en-US" sz="2800" b="1" dirty="0">
                <a:solidFill>
                  <a:srgbClr val="6DE6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Know what to do.
</a:t>
            </a:r>
            <a:r>
              <a:rPr lang="en-US" sz="2800" b="1" dirty="0">
                <a:solidFill>
                  <a:srgbClr val="A5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Keep it private.</a:t>
            </a:r>
            <a:endParaRPr lang="en-US" sz="2800" dirty="0"/>
          </a:p>
        </p:txBody>
      </p:sp>
      <p:sp>
        <p:nvSpPr>
          <p:cNvPr id="57" name="Shape 52">
            <a:extLst>
              <a:ext uri="{FF2B5EF4-FFF2-40B4-BE49-F238E27FC236}">
                <a16:creationId xmlns:a16="http://schemas.microsoft.com/office/drawing/2014/main" id="{F3E5A66D-4991-E5EF-9E48-7398E436C1D2}"/>
              </a:ext>
            </a:extLst>
          </p:cNvPr>
          <p:cNvSpPr/>
          <p:nvPr/>
        </p:nvSpPr>
        <p:spPr>
          <a:xfrm>
            <a:off x="5989320" y="4853728"/>
            <a:ext cx="5166360" cy="466344"/>
          </a:xfrm>
          <a:prstGeom prst="rect">
            <a:avLst/>
          </a:prstGeom>
          <a:solidFill>
            <a:srgbClr val="13132A"/>
          </a:solidFill>
          <a:ln w="12700">
            <a:solidFill>
              <a:srgbClr val="1313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8" name="Text 53">
            <a:extLst>
              <a:ext uri="{FF2B5EF4-FFF2-40B4-BE49-F238E27FC236}">
                <a16:creationId xmlns:a16="http://schemas.microsoft.com/office/drawing/2014/main" id="{979A425A-F531-C58A-E944-72FF33938423}"/>
              </a:ext>
            </a:extLst>
          </p:cNvPr>
          <p:cNvSpPr/>
          <p:nvPr/>
        </p:nvSpPr>
        <p:spPr>
          <a:xfrm>
            <a:off x="6070599" y="4878113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29BF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2000" dirty="0"/>
          </a:p>
        </p:txBody>
      </p:sp>
      <p:sp>
        <p:nvSpPr>
          <p:cNvPr id="59" name="Text 54">
            <a:extLst>
              <a:ext uri="{FF2B5EF4-FFF2-40B4-BE49-F238E27FC236}">
                <a16:creationId xmlns:a16="http://schemas.microsoft.com/office/drawing/2014/main" id="{4024E281-731E-91DB-72F6-02C44AEF3C2A}"/>
              </a:ext>
            </a:extLst>
          </p:cNvPr>
          <p:cNvSpPr/>
          <p:nvPr/>
        </p:nvSpPr>
        <p:spPr>
          <a:xfrm>
            <a:off x="6070599" y="507115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kern="0" spc="100" dirty="0">
                <a:solidFill>
                  <a:srgbClr val="9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&amp; Local</a:t>
            </a:r>
            <a:endParaRPr lang="en-US" sz="750" dirty="0"/>
          </a:p>
        </p:txBody>
      </p:sp>
      <p:sp>
        <p:nvSpPr>
          <p:cNvPr id="60" name="Text 55">
            <a:extLst>
              <a:ext uri="{FF2B5EF4-FFF2-40B4-BE49-F238E27FC236}">
                <a16:creationId xmlns:a16="http://schemas.microsoft.com/office/drawing/2014/main" id="{57E785B3-80B4-C36D-C16F-43C0058EE3E7}"/>
              </a:ext>
            </a:extLst>
          </p:cNvPr>
          <p:cNvSpPr/>
          <p:nvPr/>
        </p:nvSpPr>
        <p:spPr>
          <a:xfrm>
            <a:off x="7958664" y="485372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29BF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12+</a:t>
            </a:r>
            <a:endParaRPr lang="en-US" sz="2000" dirty="0"/>
          </a:p>
        </p:txBody>
      </p:sp>
      <p:sp>
        <p:nvSpPr>
          <p:cNvPr id="61" name="Text 56">
            <a:extLst>
              <a:ext uri="{FF2B5EF4-FFF2-40B4-BE49-F238E27FC236}">
                <a16:creationId xmlns:a16="http://schemas.microsoft.com/office/drawing/2014/main" id="{EE887175-66E5-00B4-16F8-C29F8D742AA2}"/>
              </a:ext>
            </a:extLst>
          </p:cNvPr>
          <p:cNvSpPr/>
          <p:nvPr/>
        </p:nvSpPr>
        <p:spPr>
          <a:xfrm>
            <a:off x="7955277" y="507115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kern="0" spc="100" dirty="0">
                <a:solidFill>
                  <a:srgbClr val="9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Types</a:t>
            </a:r>
            <a:endParaRPr lang="en-US" sz="750" dirty="0"/>
          </a:p>
        </p:txBody>
      </p:sp>
      <p:sp>
        <p:nvSpPr>
          <p:cNvPr id="62" name="Text 57">
            <a:extLst>
              <a:ext uri="{FF2B5EF4-FFF2-40B4-BE49-F238E27FC236}">
                <a16:creationId xmlns:a16="http://schemas.microsoft.com/office/drawing/2014/main" id="{C4E5A5EF-A2A9-1482-A5A3-931935D66225}"/>
              </a:ext>
            </a:extLst>
          </p:cNvPr>
          <p:cNvSpPr/>
          <p:nvPr/>
        </p:nvSpPr>
        <p:spPr>
          <a:xfrm>
            <a:off x="9731923" y="4872016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29BF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</a:t>
            </a:r>
            <a:endParaRPr lang="en-US" sz="2000" dirty="0"/>
          </a:p>
        </p:txBody>
      </p:sp>
      <p:sp>
        <p:nvSpPr>
          <p:cNvPr id="63" name="Text 58">
            <a:extLst>
              <a:ext uri="{FF2B5EF4-FFF2-40B4-BE49-F238E27FC236}">
                <a16:creationId xmlns:a16="http://schemas.microsoft.com/office/drawing/2014/main" id="{77CEBF72-5FA1-A977-5232-F7DF82659DD5}"/>
              </a:ext>
            </a:extLst>
          </p:cNvPr>
          <p:cNvSpPr/>
          <p:nvPr/>
        </p:nvSpPr>
        <p:spPr>
          <a:xfrm>
            <a:off x="9750211" y="507115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kern="0" spc="100" dirty="0">
                <a:solidFill>
                  <a:srgbClr val="9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Forever, No Ads</a:t>
            </a:r>
            <a:endParaRPr lang="en-US" sz="750" dirty="0"/>
          </a:p>
        </p:txBody>
      </p:sp>
      <p:sp>
        <p:nvSpPr>
          <p:cNvPr id="64" name="Shape 59">
            <a:extLst>
              <a:ext uri="{FF2B5EF4-FFF2-40B4-BE49-F238E27FC236}">
                <a16:creationId xmlns:a16="http://schemas.microsoft.com/office/drawing/2014/main" id="{2933F623-2452-2987-0609-9479BDE2DD49}"/>
              </a:ext>
            </a:extLst>
          </p:cNvPr>
          <p:cNvSpPr/>
          <p:nvPr/>
        </p:nvSpPr>
        <p:spPr>
          <a:xfrm>
            <a:off x="7867225" y="4858130"/>
            <a:ext cx="9144" cy="457200"/>
          </a:xfrm>
          <a:prstGeom prst="rect">
            <a:avLst/>
          </a:prstGeom>
          <a:solidFill>
            <a:srgbClr val="6C5CE7">
              <a:alpha val="40000"/>
            </a:srgbClr>
          </a:solidFill>
          <a:ln w="12700">
            <a:solidFill>
              <a:srgbClr val="6C5CE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5" name="Shape 60">
            <a:extLst>
              <a:ext uri="{FF2B5EF4-FFF2-40B4-BE49-F238E27FC236}">
                <a16:creationId xmlns:a16="http://schemas.microsoft.com/office/drawing/2014/main" id="{7AC5E58E-4C92-2992-3924-695CB1717186}"/>
              </a:ext>
            </a:extLst>
          </p:cNvPr>
          <p:cNvSpPr/>
          <p:nvPr/>
        </p:nvSpPr>
        <p:spPr>
          <a:xfrm>
            <a:off x="9602890" y="4858130"/>
            <a:ext cx="9144" cy="457200"/>
          </a:xfrm>
          <a:prstGeom prst="rect">
            <a:avLst/>
          </a:prstGeom>
          <a:solidFill>
            <a:srgbClr val="6C5CE7">
              <a:alpha val="40000"/>
            </a:srgbClr>
          </a:solidFill>
          <a:ln w="12700">
            <a:solidFill>
              <a:srgbClr val="6C5CE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6" name="Rounded Rectangle 13">
            <a:extLst>
              <a:ext uri="{FF2B5EF4-FFF2-40B4-BE49-F238E27FC236}">
                <a16:creationId xmlns:a16="http://schemas.microsoft.com/office/drawing/2014/main" id="{AFA03C4D-8831-C3B1-BFE9-1BD57D7C46D6}"/>
              </a:ext>
            </a:extLst>
          </p:cNvPr>
          <p:cNvSpPr/>
          <p:nvPr/>
        </p:nvSpPr>
        <p:spPr>
          <a:xfrm>
            <a:off x="8915399" y="5472176"/>
            <a:ext cx="1280160" cy="329184"/>
          </a:xfrm>
          <a:prstGeom prst="roundRect">
            <a:avLst/>
          </a:prstGeom>
          <a:solidFill>
            <a:srgbClr val="0D1428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ValeurBot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AI</a:t>
            </a:r>
            <a:endParaRPr lang="en-US" sz="1000" dirty="0"/>
          </a:p>
        </p:txBody>
      </p:sp>
      <p:sp>
        <p:nvSpPr>
          <p:cNvPr id="67" name="Text 25">
            <a:extLst>
              <a:ext uri="{FF2B5EF4-FFF2-40B4-BE49-F238E27FC236}">
                <a16:creationId xmlns:a16="http://schemas.microsoft.com/office/drawing/2014/main" id="{E629EC93-E91B-F6EF-8975-0421CB8B71CD}"/>
              </a:ext>
            </a:extLst>
          </p:cNvPr>
          <p:cNvSpPr/>
          <p:nvPr/>
        </p:nvSpPr>
        <p:spPr>
          <a:xfrm>
            <a:off x="7513107" y="6122288"/>
            <a:ext cx="238775" cy="200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950" dirty="0"/>
          </a:p>
        </p:txBody>
      </p:sp>
      <p:sp>
        <p:nvSpPr>
          <p:cNvPr id="68" name="Shape 3">
            <a:extLst>
              <a:ext uri="{FF2B5EF4-FFF2-40B4-BE49-F238E27FC236}">
                <a16:creationId xmlns:a16="http://schemas.microsoft.com/office/drawing/2014/main" id="{13C84AA0-E27B-2067-1C15-92FB2625D396}"/>
              </a:ext>
            </a:extLst>
          </p:cNvPr>
          <p:cNvSpPr/>
          <p:nvPr/>
        </p:nvSpPr>
        <p:spPr>
          <a:xfrm>
            <a:off x="5982883" y="774532"/>
            <a:ext cx="5212080" cy="18288"/>
          </a:xfrm>
          <a:prstGeom prst="rect">
            <a:avLst/>
          </a:prstGeom>
          <a:solidFill>
            <a:srgbClr val="F0A500">
              <a:alpha val="40000"/>
            </a:srgbClr>
          </a:solidFill>
          <a:ln w="12700">
            <a:solidFill>
              <a:srgbClr val="F0A50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9" name="Shape 4">
            <a:extLst>
              <a:ext uri="{FF2B5EF4-FFF2-40B4-BE49-F238E27FC236}">
                <a16:creationId xmlns:a16="http://schemas.microsoft.com/office/drawing/2014/main" id="{6AA54912-93B1-0961-DC2E-EB74480924A1}"/>
              </a:ext>
            </a:extLst>
          </p:cNvPr>
          <p:cNvSpPr/>
          <p:nvPr/>
        </p:nvSpPr>
        <p:spPr>
          <a:xfrm>
            <a:off x="10006243" y="420624"/>
            <a:ext cx="54864" cy="54864"/>
          </a:xfrm>
          <a:prstGeom prst="ellipse">
            <a:avLst/>
          </a:prstGeom>
          <a:solidFill>
            <a:srgbClr val="6C5CE7">
              <a:alpha val="45000"/>
            </a:srgbClr>
          </a:solidFill>
          <a:ln w="12700">
            <a:solidFill>
              <a:srgbClr val="6C5C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0" name="Shape 5">
            <a:extLst>
              <a:ext uri="{FF2B5EF4-FFF2-40B4-BE49-F238E27FC236}">
                <a16:creationId xmlns:a16="http://schemas.microsoft.com/office/drawing/2014/main" id="{94952751-3989-B371-166B-C79EFFF1B23D}"/>
              </a:ext>
            </a:extLst>
          </p:cNvPr>
          <p:cNvSpPr/>
          <p:nvPr/>
        </p:nvSpPr>
        <p:spPr>
          <a:xfrm>
            <a:off x="10234843" y="420624"/>
            <a:ext cx="54864" cy="54864"/>
          </a:xfrm>
          <a:prstGeom prst="ellipse">
            <a:avLst/>
          </a:prstGeom>
          <a:solidFill>
            <a:srgbClr val="6C5CE7">
              <a:alpha val="45000"/>
            </a:srgbClr>
          </a:solidFill>
          <a:ln w="12700">
            <a:solidFill>
              <a:srgbClr val="6C5C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1" name="Shape 6">
            <a:extLst>
              <a:ext uri="{FF2B5EF4-FFF2-40B4-BE49-F238E27FC236}">
                <a16:creationId xmlns:a16="http://schemas.microsoft.com/office/drawing/2014/main" id="{990FCACE-9888-7F32-869D-86F0548D8B5B}"/>
              </a:ext>
            </a:extLst>
          </p:cNvPr>
          <p:cNvSpPr/>
          <p:nvPr/>
        </p:nvSpPr>
        <p:spPr>
          <a:xfrm>
            <a:off x="10463443" y="420624"/>
            <a:ext cx="54864" cy="54864"/>
          </a:xfrm>
          <a:prstGeom prst="ellipse">
            <a:avLst/>
          </a:prstGeom>
          <a:solidFill>
            <a:srgbClr val="6C5CE7">
              <a:alpha val="45000"/>
            </a:srgbClr>
          </a:solidFill>
          <a:ln w="12700">
            <a:solidFill>
              <a:srgbClr val="6C5C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2" name="Shape 7">
            <a:extLst>
              <a:ext uri="{FF2B5EF4-FFF2-40B4-BE49-F238E27FC236}">
                <a16:creationId xmlns:a16="http://schemas.microsoft.com/office/drawing/2014/main" id="{82A8CCB2-ADDB-6068-682E-90D8C09A078A}"/>
              </a:ext>
            </a:extLst>
          </p:cNvPr>
          <p:cNvSpPr/>
          <p:nvPr/>
        </p:nvSpPr>
        <p:spPr>
          <a:xfrm>
            <a:off x="10692043" y="420624"/>
            <a:ext cx="54864" cy="54864"/>
          </a:xfrm>
          <a:prstGeom prst="ellipse">
            <a:avLst/>
          </a:prstGeom>
          <a:solidFill>
            <a:srgbClr val="6C5CE7">
              <a:alpha val="45000"/>
            </a:srgbClr>
          </a:solidFill>
          <a:ln w="12700">
            <a:solidFill>
              <a:srgbClr val="6C5C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3" name="Shape 8">
            <a:extLst>
              <a:ext uri="{FF2B5EF4-FFF2-40B4-BE49-F238E27FC236}">
                <a16:creationId xmlns:a16="http://schemas.microsoft.com/office/drawing/2014/main" id="{749690E0-6843-6C6A-F6D3-8DE4D62ABCEA}"/>
              </a:ext>
            </a:extLst>
          </p:cNvPr>
          <p:cNvSpPr/>
          <p:nvPr/>
        </p:nvSpPr>
        <p:spPr>
          <a:xfrm>
            <a:off x="10920643" y="420624"/>
            <a:ext cx="54864" cy="54864"/>
          </a:xfrm>
          <a:prstGeom prst="ellipse">
            <a:avLst/>
          </a:prstGeom>
          <a:solidFill>
            <a:srgbClr val="6C5CE7">
              <a:alpha val="45000"/>
            </a:srgbClr>
          </a:solidFill>
          <a:ln w="12700">
            <a:solidFill>
              <a:srgbClr val="6C5C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4" name="Shape 9">
            <a:extLst>
              <a:ext uri="{FF2B5EF4-FFF2-40B4-BE49-F238E27FC236}">
                <a16:creationId xmlns:a16="http://schemas.microsoft.com/office/drawing/2014/main" id="{78B44CB5-4ED3-65CC-8D3F-528304472308}"/>
              </a:ext>
            </a:extLst>
          </p:cNvPr>
          <p:cNvSpPr/>
          <p:nvPr/>
        </p:nvSpPr>
        <p:spPr>
          <a:xfrm>
            <a:off x="10006243" y="649224"/>
            <a:ext cx="54864" cy="54864"/>
          </a:xfrm>
          <a:prstGeom prst="ellipse">
            <a:avLst/>
          </a:prstGeom>
          <a:solidFill>
            <a:srgbClr val="6C5CE7">
              <a:alpha val="45000"/>
            </a:srgbClr>
          </a:solidFill>
          <a:ln w="12700">
            <a:solidFill>
              <a:srgbClr val="6C5C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5" name="Shape 10">
            <a:extLst>
              <a:ext uri="{FF2B5EF4-FFF2-40B4-BE49-F238E27FC236}">
                <a16:creationId xmlns:a16="http://schemas.microsoft.com/office/drawing/2014/main" id="{EEFB89E6-4240-766D-AFBE-D6791DBEBF51}"/>
              </a:ext>
            </a:extLst>
          </p:cNvPr>
          <p:cNvSpPr/>
          <p:nvPr/>
        </p:nvSpPr>
        <p:spPr>
          <a:xfrm>
            <a:off x="10234843" y="649224"/>
            <a:ext cx="54864" cy="54864"/>
          </a:xfrm>
          <a:prstGeom prst="ellipse">
            <a:avLst/>
          </a:prstGeom>
          <a:solidFill>
            <a:srgbClr val="6C5CE7">
              <a:alpha val="45000"/>
            </a:srgbClr>
          </a:solidFill>
          <a:ln w="12700">
            <a:solidFill>
              <a:srgbClr val="6C5C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6" name="Shape 11">
            <a:extLst>
              <a:ext uri="{FF2B5EF4-FFF2-40B4-BE49-F238E27FC236}">
                <a16:creationId xmlns:a16="http://schemas.microsoft.com/office/drawing/2014/main" id="{511BC1C2-2959-CB7A-7C62-0E78EA6777FA}"/>
              </a:ext>
            </a:extLst>
          </p:cNvPr>
          <p:cNvSpPr/>
          <p:nvPr/>
        </p:nvSpPr>
        <p:spPr>
          <a:xfrm>
            <a:off x="10463443" y="649224"/>
            <a:ext cx="54864" cy="54864"/>
          </a:xfrm>
          <a:prstGeom prst="ellipse">
            <a:avLst/>
          </a:prstGeom>
          <a:solidFill>
            <a:srgbClr val="6C5CE7">
              <a:alpha val="45000"/>
            </a:srgbClr>
          </a:solidFill>
          <a:ln w="12700">
            <a:solidFill>
              <a:srgbClr val="6C5C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7" name="Shape 12">
            <a:extLst>
              <a:ext uri="{FF2B5EF4-FFF2-40B4-BE49-F238E27FC236}">
                <a16:creationId xmlns:a16="http://schemas.microsoft.com/office/drawing/2014/main" id="{B64F11DA-A8DD-11D7-DE86-F18F344242F2}"/>
              </a:ext>
            </a:extLst>
          </p:cNvPr>
          <p:cNvSpPr/>
          <p:nvPr/>
        </p:nvSpPr>
        <p:spPr>
          <a:xfrm>
            <a:off x="10692043" y="649224"/>
            <a:ext cx="54864" cy="54864"/>
          </a:xfrm>
          <a:prstGeom prst="ellipse">
            <a:avLst/>
          </a:prstGeom>
          <a:solidFill>
            <a:srgbClr val="6C5CE7">
              <a:alpha val="45000"/>
            </a:srgbClr>
          </a:solidFill>
          <a:ln w="12700">
            <a:solidFill>
              <a:srgbClr val="6C5C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8" name="Shape 13">
            <a:extLst>
              <a:ext uri="{FF2B5EF4-FFF2-40B4-BE49-F238E27FC236}">
                <a16:creationId xmlns:a16="http://schemas.microsoft.com/office/drawing/2014/main" id="{C6FA2AF1-E970-A26D-9056-266CA08124A6}"/>
              </a:ext>
            </a:extLst>
          </p:cNvPr>
          <p:cNvSpPr/>
          <p:nvPr/>
        </p:nvSpPr>
        <p:spPr>
          <a:xfrm>
            <a:off x="10920643" y="649224"/>
            <a:ext cx="54864" cy="54864"/>
          </a:xfrm>
          <a:prstGeom prst="ellipse">
            <a:avLst/>
          </a:prstGeom>
          <a:solidFill>
            <a:srgbClr val="6C5CE7">
              <a:alpha val="45000"/>
            </a:srgbClr>
          </a:solidFill>
          <a:ln w="12700">
            <a:solidFill>
              <a:srgbClr val="6C5C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9" name="Shape 21">
            <a:extLst>
              <a:ext uri="{FF2B5EF4-FFF2-40B4-BE49-F238E27FC236}">
                <a16:creationId xmlns:a16="http://schemas.microsoft.com/office/drawing/2014/main" id="{2191A45B-778D-8D3C-7C52-101ACFEFBA27}"/>
              </a:ext>
            </a:extLst>
          </p:cNvPr>
          <p:cNvSpPr/>
          <p:nvPr/>
        </p:nvSpPr>
        <p:spPr>
          <a:xfrm>
            <a:off x="566928" y="1476756"/>
            <a:ext cx="1097280" cy="274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0" name="Shape 1">
            <a:extLst>
              <a:ext uri="{FF2B5EF4-FFF2-40B4-BE49-F238E27FC236}">
                <a16:creationId xmlns:a16="http://schemas.microsoft.com/office/drawing/2014/main" id="{9524FACF-56AC-B7D8-37FD-6062FED11E6D}"/>
              </a:ext>
            </a:extLst>
          </p:cNvPr>
          <p:cNvSpPr/>
          <p:nvPr/>
        </p:nvSpPr>
        <p:spPr>
          <a:xfrm>
            <a:off x="12113770" y="0"/>
            <a:ext cx="66038" cy="6858000"/>
          </a:xfrm>
          <a:prstGeom prst="rect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1" name="Text 26">
            <a:extLst>
              <a:ext uri="{FF2B5EF4-FFF2-40B4-BE49-F238E27FC236}">
                <a16:creationId xmlns:a16="http://schemas.microsoft.com/office/drawing/2014/main" id="{22D94FBC-524C-210E-9525-B43D493E1A2B}"/>
              </a:ext>
            </a:extLst>
          </p:cNvPr>
          <p:cNvSpPr/>
          <p:nvPr/>
        </p:nvSpPr>
        <p:spPr>
          <a:xfrm rot="16200000">
            <a:off x="9753448" y="280343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Free  ·  No Signup  ·  Works Offline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195</Words>
  <Application>Microsoft Office PowerPoint</Application>
  <PresentationFormat>Widescreen</PresentationFormat>
  <Paragraphs>40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Georgia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Siddharth Tiwari</dc:creator>
  <cp:keywords/>
  <dc:description>generated using python-pptx</dc:description>
  <cp:lastModifiedBy>Siddharth Tiwari (US)</cp:lastModifiedBy>
  <cp:revision>2</cp:revision>
  <dcterms:created xsi:type="dcterms:W3CDTF">2013-01-27T09:14:16Z</dcterms:created>
  <dcterms:modified xsi:type="dcterms:W3CDTF">2026-04-11T11:33:42Z</dcterms:modified>
  <cp:category/>
</cp:coreProperties>
</file>