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71" r:id="rId7"/>
    <p:sldId id="262" r:id="rId8"/>
    <p:sldId id="263" r:id="rId9"/>
    <p:sldId id="264" r:id="rId10"/>
    <p:sldId id="265" r:id="rId11"/>
    <p:sldId id="266" r:id="rId12"/>
    <p:sldId id="268" r:id="rId13"/>
    <p:sldId id="272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8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074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4CBB5-36E9-B8F8-1D58-6C57C7ED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72AD5-B0F5-EE10-C688-E3CD13453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6543F-64C9-80BD-13E1-64EBF6F9C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07F8E-C53B-CE2B-DCE8-DC9A6868A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036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25DE8-0504-BF99-A7BD-353844FA5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C1D19-8731-C925-AC0F-C80701244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775D0-C5BF-7945-5F0F-9950F9EEC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536A3-CC06-A7D2-9421-4D4CFFE4A8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56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029200" cy="5029200"/>
          </a:xfrm>
          <a:prstGeom prst="lin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3200400"/>
            <a:ext cx="4114800" cy="4114800"/>
          </a:xfrm>
          <a:prstGeom prst="line">
            <a:avLst/>
          </a:prstGeom>
          <a:solidFill>
            <a:srgbClr val="2563EB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286000" cy="2286000"/>
          </a:xfrm>
          <a:prstGeom prst="line">
            <a:avLst/>
          </a:prstGeom>
          <a:solidFill>
            <a:srgbClr val="F59E0B">
              <a:alpha val="4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0" y="2148840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2860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Privacy-First Wealth Dashboard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2816352"/>
            <a:ext cx="1691640" cy="804672"/>
          </a:xfrm>
          <a:prstGeom prst="rect">
            <a:avLst/>
          </a:prstGeom>
          <a:solidFill>
            <a:srgbClr val="141830"/>
          </a:solidFill>
          <a:ln w="1016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14400" y="2816352"/>
            <a:ext cx="1691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14400" y="331012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Types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88920" y="2816352"/>
            <a:ext cx="1691640" cy="804672"/>
          </a:xfrm>
          <a:prstGeom prst="rect">
            <a:avLst/>
          </a:prstGeom>
          <a:solidFill>
            <a:srgbClr val="141830"/>
          </a:solidFill>
          <a:ln w="1016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88920" y="2816352"/>
            <a:ext cx="1691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8892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2788920" y="331012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63440" y="2816352"/>
            <a:ext cx="1691640" cy="804672"/>
          </a:xfrm>
          <a:prstGeom prst="rect">
            <a:avLst/>
          </a:prstGeom>
          <a:solidFill>
            <a:srgbClr val="141830"/>
          </a:solidFill>
          <a:ln w="1016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63440" y="2816352"/>
            <a:ext cx="1691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66344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663440" y="331012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Calls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537960" y="2816352"/>
            <a:ext cx="1691640" cy="804672"/>
          </a:xfrm>
          <a:prstGeom prst="rect">
            <a:avLst/>
          </a:prstGeom>
          <a:solidFill>
            <a:srgbClr val="141830"/>
          </a:solidFill>
          <a:ln w="101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537960" y="2816352"/>
            <a:ext cx="1691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3796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537960" y="331012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920240" y="3749040"/>
            <a:ext cx="1600200" cy="274320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920240" y="37490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749040" y="3749040"/>
            <a:ext cx="1600200" cy="274320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749040" y="37490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577840" y="3749040"/>
            <a:ext cx="1600200" cy="274320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577840" y="37490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Device Only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E1128"/>
          </a:solidFill>
          <a:ln w="12700">
            <a:solidFill>
              <a:srgbClr val="0E1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0" y="4160520"/>
            <a:ext cx="9144000" cy="27432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14400" y="427939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Tiwari  ·  Founder, ValeurFin Technologies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14400" y="46451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valeurfin-app.github.io/valeurfin   ·   2026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2603F3B-F50C-1F45-36F7-2DCE54DCA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16" y="156498"/>
            <a:ext cx="3255975" cy="2170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245413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92024"/>
            <a:ext cx="115397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Investors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Deserve Better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035040" y="201168"/>
            <a:ext cx="2743200" cy="1325880"/>
          </a:xfrm>
          <a:prstGeom prst="rect">
            <a:avLst/>
          </a:prstGeom>
          <a:solidFill>
            <a:srgbClr val="141830"/>
          </a:solidFill>
          <a:ln w="15240">
            <a:solidFill>
              <a:srgbClr val="EF4444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0" y="201168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80760" y="3474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38L Cr+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17220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mutual fund AUM — no privacy-first tool to manage it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4206240" cy="96012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4572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" y="1901952"/>
            <a:ext cx="475488" cy="475488"/>
          </a:xfrm>
          <a:prstGeom prst="lin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1883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88136" y="1810512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Apps Chaos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88136" y="2121408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· Groww · Bank app · Excel — no single unified view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81728" y="1719072"/>
            <a:ext cx="4206240" cy="96012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81728" y="1719072"/>
            <a:ext cx="4572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901952"/>
            <a:ext cx="475488" cy="475488"/>
          </a:xfrm>
          <a:prstGeom prst="lin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883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9824" y="1810512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Nightmare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49824" y="2121408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fintech uploads your PAN, bank details &amp; portfolio to their servers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798064"/>
            <a:ext cx="4206240" cy="96012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798064"/>
            <a:ext cx="4572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" y="2980944"/>
            <a:ext cx="475488" cy="475488"/>
          </a:xfrm>
          <a:prstGeom prst="lin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" y="2962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88136" y="288950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Tax Clarity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88136" y="3200400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LTCG vs STCG unknown until your CA tells you every March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81728" y="2798064"/>
            <a:ext cx="4206240" cy="96012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81728" y="2798064"/>
            <a:ext cx="4572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2980944"/>
            <a:ext cx="475488" cy="475488"/>
          </a:xfrm>
          <a:prstGeom prst="lin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962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9824" y="288950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Exit Guidance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49824" y="3200400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tells you when to sell — you hold losers, sell winners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877056"/>
            <a:ext cx="4206240" cy="96012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3877056"/>
            <a:ext cx="4572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" y="4059936"/>
            <a:ext cx="475488" cy="475488"/>
          </a:xfrm>
          <a:prstGeom prst="lin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" y="4041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88136" y="3968496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Finance Chaos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88136" y="4279392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 PPF + Parent FD + your stocks? No tool handles this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81728" y="3877056"/>
            <a:ext cx="4206240" cy="96012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81728" y="3877056"/>
            <a:ext cx="4572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46320" y="4059936"/>
            <a:ext cx="475488" cy="475488"/>
          </a:xfrm>
          <a:prstGeom prst="lin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4041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49824" y="3968496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Health Score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49824" y="4279392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'Am I financially healthy?' — nobody gives you a single clear number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1329538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92024"/>
            <a:ext cx="123809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ValeurFin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3273552"/>
          </a:xfrm>
          <a:prstGeom prst="rect">
            <a:avLst/>
          </a:prstGeom>
          <a:solidFill>
            <a:srgbClr val="141830"/>
          </a:solidFill>
          <a:ln w="15240">
            <a:solidFill>
              <a:srgbClr val="7C3AED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3977640" cy="3273552"/>
          </a:xfrm>
          <a:prstGeom prst="rect">
            <a:avLst/>
          </a:prstGeom>
          <a:solidFill>
            <a:srgbClr val="2D1B69">
              <a:alpha val="70000"/>
            </a:srgbClr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Dashboard.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188366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Financial Asset.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Data Leaves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Device.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29260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Investors. By an Indian.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26280" y="1353312"/>
            <a:ext cx="4572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13533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74920" y="13624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Types — SIP, Stocks, FD, PPF, NPS, Gold, Crypto...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6280" y="1682496"/>
            <a:ext cx="3977640" cy="7315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26280" y="1773936"/>
            <a:ext cx="4572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26280" y="17739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74920" y="17830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Stock Prices via Yahoo Finance API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2103120"/>
            <a:ext cx="3977640" cy="7315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26280" y="2194560"/>
            <a:ext cx="4572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26280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74920" y="220370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ValeurBot — AI Financial Assistant with Voice Input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2523744"/>
            <a:ext cx="3977640" cy="7315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0" y="2615184"/>
            <a:ext cx="4572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2615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74920" y="26243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LTCG / STCG Classification &amp; Exit Signals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26280" y="2944368"/>
            <a:ext cx="3977640" cy="7315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26280" y="3035808"/>
            <a:ext cx="4572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26280" y="30358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074920" y="304495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Score + Insurance Score Engine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26280" y="3364992"/>
            <a:ext cx="3977640" cy="7315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26280" y="3456432"/>
            <a:ext cx="4572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26280" y="3456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74920" y="34655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Mode — All Members, One View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26280" y="3785616"/>
            <a:ext cx="3977640" cy="7315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26280" y="3877056"/>
            <a:ext cx="4572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26280" y="38770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74920" y="38862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100% Offline as Installable App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solidFill>
            <a:srgbClr val="7C3AED">
              <a:alpha val="18000"/>
            </a:srgbClr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   ·   No server   ·   No tracking   ·   Just your finances, your way.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141366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92024"/>
            <a:ext cx="132222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Pillars of Excellence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2724912" cy="175564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43000"/>
            <a:ext cx="2724912" cy="64008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1362456"/>
            <a:ext cx="566928" cy="475488"/>
          </a:xfrm>
          <a:prstGeom prst="rect">
            <a:avLst/>
          </a:prstGeom>
          <a:solidFill>
            <a:srgbClr val="6C3FC5">
              <a:alpha val="25000"/>
            </a:srgbClr>
          </a:solidFill>
          <a:ln w="1524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344168"/>
            <a:ext cx="5669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380744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Tracking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1929384"/>
            <a:ext cx="2414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asset classes — SIP, Stocks, FD, RD, PPF, NPS, Gold, Crypto, Land, ELSS, Bonds &amp; more. Real-time values.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18688" y="1143000"/>
            <a:ext cx="2724912" cy="175564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143000"/>
            <a:ext cx="272491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0" y="1362456"/>
            <a:ext cx="566928" cy="475488"/>
          </a:xfrm>
          <a:prstGeom prst="rect">
            <a:avLst/>
          </a:prstGeom>
          <a:solidFill>
            <a:srgbClr val="06B6D4">
              <a:alpha val="25000"/>
            </a:srgbClr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344168"/>
            <a:ext cx="5669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59936" y="1380744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Market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1929384"/>
            <a:ext cx="2414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NSE prices via Yahoo Finance. India Market Heatmap. Top Gainers, Losers. 52-Week alerts.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9904" y="1143000"/>
            <a:ext cx="2724912" cy="175564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9904" y="1143000"/>
            <a:ext cx="272491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54496" y="1362456"/>
            <a:ext cx="566928" cy="475488"/>
          </a:xfrm>
          <a:prstGeom prst="rect">
            <a:avLst/>
          </a:prstGeom>
          <a:solidFill>
            <a:srgbClr val="F59E0B">
              <a:alpha val="25000"/>
            </a:srgbClr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54496" y="1344168"/>
            <a:ext cx="5669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31152" y="1380744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1929384"/>
            <a:ext cx="2414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ValeurBot understands 50+ queries. Optional Gemini AI. Voice input. Floating bubble + full-page mode.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044952"/>
            <a:ext cx="2724912" cy="175564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3044952"/>
            <a:ext cx="2724912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2064" y="3264408"/>
            <a:ext cx="566928" cy="475488"/>
          </a:xfrm>
          <a:prstGeom prst="rect">
            <a:avLst/>
          </a:prstGeom>
          <a:solidFill>
            <a:srgbClr val="F97316">
              <a:alpha val="25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" y="3246120"/>
            <a:ext cx="5669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3282696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 Intelligence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" y="3831336"/>
            <a:ext cx="2414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LTCG/STCG classification. Holding period tracking. Exit signals on target-hit or stop-loss breach.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18688" y="3044952"/>
            <a:ext cx="2724912" cy="175564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18688" y="3044952"/>
            <a:ext cx="272491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83280" y="3264408"/>
            <a:ext cx="566928" cy="475488"/>
          </a:xfrm>
          <a:prstGeom prst="rect">
            <a:avLst/>
          </a:prstGeom>
          <a:solidFill>
            <a:srgbClr val="10B981">
              <a:alpha val="25000"/>
            </a:srgbClr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83280" y="3246120"/>
            <a:ext cx="5669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59936" y="3282696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Engine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83280" y="3831336"/>
            <a:ext cx="2414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Score (0-100) across 7 parameters. Insurance Score across 10 policy types. Actionable grades.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9904" y="3044952"/>
            <a:ext cx="2724912" cy="175564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89904" y="3044952"/>
            <a:ext cx="2724912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54496" y="3264408"/>
            <a:ext cx="566928" cy="475488"/>
          </a:xfrm>
          <a:prstGeom prst="rect">
            <a:avLst/>
          </a:prstGeom>
          <a:solidFill>
            <a:srgbClr val="A78BFA">
              <a:alpha val="25000"/>
            </a:srgbClr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54496" y="3246120"/>
            <a:ext cx="5669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31152" y="3282696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Privacy-First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54496" y="3831336"/>
            <a:ext cx="2414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client-side. Quad-backup storage. 4-digit PIN lock. Zero server. Fully offline after first load.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>
            <a:extLst>
              <a:ext uri="{FF2B5EF4-FFF2-40B4-BE49-F238E27FC236}">
                <a16:creationId xmlns:a16="http://schemas.microsoft.com/office/drawing/2014/main" id="{3983F404-E2EB-D4D3-F447-BE085406590B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">
            <a:extLst>
              <a:ext uri="{FF2B5EF4-FFF2-40B4-BE49-F238E27FC236}">
                <a16:creationId xmlns:a16="http://schemas.microsoft.com/office/drawing/2014/main" id="{1F20CE6A-95D0-E630-964A-6ED609F5FEA3}"/>
              </a:ext>
            </a:extLst>
          </p:cNvPr>
          <p:cNvSpPr/>
          <p:nvPr/>
        </p:nvSpPr>
        <p:spPr>
          <a:xfrm>
            <a:off x="365760" y="164592"/>
            <a:ext cx="1097280" cy="237744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2">
            <a:extLst>
              <a:ext uri="{FF2B5EF4-FFF2-40B4-BE49-F238E27FC236}">
                <a16:creationId xmlns:a16="http://schemas.microsoft.com/office/drawing/2014/main" id="{7BD33EE9-4227-7D95-28A9-987077273B5B}"/>
              </a:ext>
            </a:extLst>
          </p:cNvPr>
          <p:cNvSpPr/>
          <p:nvPr/>
        </p:nvSpPr>
        <p:spPr>
          <a:xfrm>
            <a:off x="502920" y="17373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08" name="Text 3">
            <a:extLst>
              <a:ext uri="{FF2B5EF4-FFF2-40B4-BE49-F238E27FC236}">
                <a16:creationId xmlns:a16="http://schemas.microsoft.com/office/drawing/2014/main" id="{99ABD2CB-3A3A-1112-C935-9227A5FA6CA0}"/>
              </a:ext>
            </a:extLst>
          </p:cNvPr>
          <p:cNvSpPr/>
          <p:nvPr/>
        </p:nvSpPr>
        <p:spPr>
          <a:xfrm>
            <a:off x="36576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</a:rPr>
              <a:t>Everything at a Glance</a:t>
            </a:r>
          </a:p>
        </p:txBody>
      </p:sp>
      <p:pic>
        <p:nvPicPr>
          <p:cNvPr id="109" name="Image 0" descr="preencoded.png">
            <a:extLst>
              <a:ext uri="{FF2B5EF4-FFF2-40B4-BE49-F238E27FC236}">
                <a16:creationId xmlns:a16="http://schemas.microsoft.com/office/drawing/2014/main" id="{DCE88730-F553-9EEF-F211-E63065F26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1168"/>
            <a:ext cx="1920240" cy="528816"/>
          </a:xfrm>
          <a:prstGeom prst="rect">
            <a:avLst/>
          </a:prstGeom>
        </p:spPr>
      </p:pic>
      <p:sp>
        <p:nvSpPr>
          <p:cNvPr id="110" name="Shape 4">
            <a:extLst>
              <a:ext uri="{FF2B5EF4-FFF2-40B4-BE49-F238E27FC236}">
                <a16:creationId xmlns:a16="http://schemas.microsoft.com/office/drawing/2014/main" id="{D09372C7-25C6-5F94-B131-DAA4400FCA54}"/>
              </a:ext>
            </a:extLst>
          </p:cNvPr>
          <p:cNvSpPr/>
          <p:nvPr/>
        </p:nvSpPr>
        <p:spPr>
          <a:xfrm>
            <a:off x="347472" y="1051560"/>
            <a:ext cx="8449056" cy="3657600"/>
          </a:xfrm>
          <a:prstGeom prst="rect">
            <a:avLst/>
          </a:prstGeom>
          <a:solidFill>
            <a:srgbClr val="080B1A"/>
          </a:solidFill>
          <a:ln w="12700">
            <a:solidFill>
              <a:srgbClr val="080B1A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Shape 5">
            <a:extLst>
              <a:ext uri="{FF2B5EF4-FFF2-40B4-BE49-F238E27FC236}">
                <a16:creationId xmlns:a16="http://schemas.microsoft.com/office/drawing/2014/main" id="{7921046F-0C1E-C3AA-3B28-A12C3907C774}"/>
              </a:ext>
            </a:extLst>
          </p:cNvPr>
          <p:cNvSpPr/>
          <p:nvPr/>
        </p:nvSpPr>
        <p:spPr>
          <a:xfrm>
            <a:off x="475488" y="1170432"/>
            <a:ext cx="1901952" cy="9144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Shape 6">
            <a:extLst>
              <a:ext uri="{FF2B5EF4-FFF2-40B4-BE49-F238E27FC236}">
                <a16:creationId xmlns:a16="http://schemas.microsoft.com/office/drawing/2014/main" id="{C43ED833-EB05-A694-B922-D49CDBD7F654}"/>
              </a:ext>
            </a:extLst>
          </p:cNvPr>
          <p:cNvSpPr/>
          <p:nvPr/>
        </p:nvSpPr>
        <p:spPr>
          <a:xfrm>
            <a:off x="475488" y="1170432"/>
            <a:ext cx="190195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7">
            <a:extLst>
              <a:ext uri="{FF2B5EF4-FFF2-40B4-BE49-F238E27FC236}">
                <a16:creationId xmlns:a16="http://schemas.microsoft.com/office/drawing/2014/main" id="{FC341953-8B25-CF03-C7EB-11DE8AD8C971}"/>
              </a:ext>
            </a:extLst>
          </p:cNvPr>
          <p:cNvSpPr/>
          <p:nvPr/>
        </p:nvSpPr>
        <p:spPr>
          <a:xfrm>
            <a:off x="585216" y="1261872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</a:t>
            </a:r>
            <a:endParaRPr lang="en-US" sz="750" dirty="0"/>
          </a:p>
        </p:txBody>
      </p:sp>
      <p:sp>
        <p:nvSpPr>
          <p:cNvPr id="114" name="Text 8">
            <a:extLst>
              <a:ext uri="{FF2B5EF4-FFF2-40B4-BE49-F238E27FC236}">
                <a16:creationId xmlns:a16="http://schemas.microsoft.com/office/drawing/2014/main" id="{9888CAFA-6333-EA2C-6A15-BCC2AFB93586}"/>
              </a:ext>
            </a:extLst>
          </p:cNvPr>
          <p:cNvSpPr/>
          <p:nvPr/>
        </p:nvSpPr>
        <p:spPr>
          <a:xfrm>
            <a:off x="585216" y="1463040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₹24,56,000</a:t>
            </a:r>
            <a:endParaRPr lang="en-US" sz="1700" dirty="0"/>
          </a:p>
        </p:txBody>
      </p:sp>
      <p:sp>
        <p:nvSpPr>
          <p:cNvPr id="115" name="Text 9">
            <a:extLst>
              <a:ext uri="{FF2B5EF4-FFF2-40B4-BE49-F238E27FC236}">
                <a16:creationId xmlns:a16="http://schemas.microsoft.com/office/drawing/2014/main" id="{1D2B4756-63C3-791C-F1D2-A90DAF0B10C2}"/>
              </a:ext>
            </a:extLst>
          </p:cNvPr>
          <p:cNvSpPr/>
          <p:nvPr/>
        </p:nvSpPr>
        <p:spPr>
          <a:xfrm>
            <a:off x="585216" y="1828800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+36.4% returns</a:t>
            </a:r>
            <a:endParaRPr lang="en-US" sz="850" dirty="0"/>
          </a:p>
        </p:txBody>
      </p:sp>
      <p:sp>
        <p:nvSpPr>
          <p:cNvPr id="116" name="Shape 10">
            <a:extLst>
              <a:ext uri="{FF2B5EF4-FFF2-40B4-BE49-F238E27FC236}">
                <a16:creationId xmlns:a16="http://schemas.microsoft.com/office/drawing/2014/main" id="{A956C972-3624-72F3-43E8-04FBB76A6145}"/>
              </a:ext>
            </a:extLst>
          </p:cNvPr>
          <p:cNvSpPr/>
          <p:nvPr/>
        </p:nvSpPr>
        <p:spPr>
          <a:xfrm>
            <a:off x="2532888" y="1170432"/>
            <a:ext cx="1901952" cy="9144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7" name="Shape 11">
            <a:extLst>
              <a:ext uri="{FF2B5EF4-FFF2-40B4-BE49-F238E27FC236}">
                <a16:creationId xmlns:a16="http://schemas.microsoft.com/office/drawing/2014/main" id="{9BF186B5-463C-4997-8B58-46DB62AA7464}"/>
              </a:ext>
            </a:extLst>
          </p:cNvPr>
          <p:cNvSpPr/>
          <p:nvPr/>
        </p:nvSpPr>
        <p:spPr>
          <a:xfrm>
            <a:off x="2532888" y="1170432"/>
            <a:ext cx="190195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2">
            <a:extLst>
              <a:ext uri="{FF2B5EF4-FFF2-40B4-BE49-F238E27FC236}">
                <a16:creationId xmlns:a16="http://schemas.microsoft.com/office/drawing/2014/main" id="{46DBBB91-FCE7-8D82-06E7-B1306474859B}"/>
              </a:ext>
            </a:extLst>
          </p:cNvPr>
          <p:cNvSpPr/>
          <p:nvPr/>
        </p:nvSpPr>
        <p:spPr>
          <a:xfrm>
            <a:off x="2642616" y="1261872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SCORE</a:t>
            </a:r>
            <a:endParaRPr lang="en-US" sz="750" dirty="0"/>
          </a:p>
        </p:txBody>
      </p:sp>
      <p:sp>
        <p:nvSpPr>
          <p:cNvPr id="119" name="Text 13">
            <a:extLst>
              <a:ext uri="{FF2B5EF4-FFF2-40B4-BE49-F238E27FC236}">
                <a16:creationId xmlns:a16="http://schemas.microsoft.com/office/drawing/2014/main" id="{21DE537E-0879-DD41-3D77-EA045B99738B}"/>
              </a:ext>
            </a:extLst>
          </p:cNvPr>
          <p:cNvSpPr/>
          <p:nvPr/>
        </p:nvSpPr>
        <p:spPr>
          <a:xfrm>
            <a:off x="2642616" y="1463040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 / 100</a:t>
            </a:r>
            <a:endParaRPr lang="en-US" sz="1700" dirty="0"/>
          </a:p>
        </p:txBody>
      </p:sp>
      <p:sp>
        <p:nvSpPr>
          <p:cNvPr id="120" name="Text 14">
            <a:extLst>
              <a:ext uri="{FF2B5EF4-FFF2-40B4-BE49-F238E27FC236}">
                <a16:creationId xmlns:a16="http://schemas.microsoft.com/office/drawing/2014/main" id="{FA21DF00-8E65-C07D-686C-3EF521EA131D}"/>
              </a:ext>
            </a:extLst>
          </p:cNvPr>
          <p:cNvSpPr/>
          <p:nvPr/>
        </p:nvSpPr>
        <p:spPr>
          <a:xfrm>
            <a:off x="2642616" y="1828800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Good</a:t>
            </a:r>
            <a:endParaRPr lang="en-US" sz="850" dirty="0"/>
          </a:p>
        </p:txBody>
      </p:sp>
      <p:sp>
        <p:nvSpPr>
          <p:cNvPr id="121" name="Shape 15">
            <a:extLst>
              <a:ext uri="{FF2B5EF4-FFF2-40B4-BE49-F238E27FC236}">
                <a16:creationId xmlns:a16="http://schemas.microsoft.com/office/drawing/2014/main" id="{F5FABE7A-E90A-D172-7513-AD262C369CD2}"/>
              </a:ext>
            </a:extLst>
          </p:cNvPr>
          <p:cNvSpPr/>
          <p:nvPr/>
        </p:nvSpPr>
        <p:spPr>
          <a:xfrm>
            <a:off x="4590288" y="1170432"/>
            <a:ext cx="1901952" cy="9144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6">
            <a:extLst>
              <a:ext uri="{FF2B5EF4-FFF2-40B4-BE49-F238E27FC236}">
                <a16:creationId xmlns:a16="http://schemas.microsoft.com/office/drawing/2014/main" id="{C4ECE63F-9B06-A268-3EE9-384594AD5CC0}"/>
              </a:ext>
            </a:extLst>
          </p:cNvPr>
          <p:cNvSpPr/>
          <p:nvPr/>
        </p:nvSpPr>
        <p:spPr>
          <a:xfrm>
            <a:off x="4590288" y="1170432"/>
            <a:ext cx="190195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7">
            <a:extLst>
              <a:ext uri="{FF2B5EF4-FFF2-40B4-BE49-F238E27FC236}">
                <a16:creationId xmlns:a16="http://schemas.microsoft.com/office/drawing/2014/main" id="{AC285A4A-EC3D-B663-305E-F8D7ACC3B169}"/>
              </a:ext>
            </a:extLst>
          </p:cNvPr>
          <p:cNvSpPr/>
          <p:nvPr/>
        </p:nvSpPr>
        <p:spPr>
          <a:xfrm>
            <a:off x="4700016" y="1261872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750" dirty="0"/>
          </a:p>
        </p:txBody>
      </p:sp>
      <p:sp>
        <p:nvSpPr>
          <p:cNvPr id="124" name="Text 18">
            <a:extLst>
              <a:ext uri="{FF2B5EF4-FFF2-40B4-BE49-F238E27FC236}">
                <a16:creationId xmlns:a16="http://schemas.microsoft.com/office/drawing/2014/main" id="{04119C2A-0F59-CF8D-2C14-E70D2068BE78}"/>
              </a:ext>
            </a:extLst>
          </p:cNvPr>
          <p:cNvSpPr/>
          <p:nvPr/>
        </p:nvSpPr>
        <p:spPr>
          <a:xfrm>
            <a:off x="4700016" y="1463040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/ 100</a:t>
            </a:r>
            <a:endParaRPr lang="en-US" sz="1700" dirty="0"/>
          </a:p>
        </p:txBody>
      </p:sp>
      <p:sp>
        <p:nvSpPr>
          <p:cNvPr id="125" name="Text 19">
            <a:extLst>
              <a:ext uri="{FF2B5EF4-FFF2-40B4-BE49-F238E27FC236}">
                <a16:creationId xmlns:a16="http://schemas.microsoft.com/office/drawing/2014/main" id="{AF67D3DE-A6E9-3721-5AE8-270EA15A2D0B}"/>
              </a:ext>
            </a:extLst>
          </p:cNvPr>
          <p:cNvSpPr/>
          <p:nvPr/>
        </p:nvSpPr>
        <p:spPr>
          <a:xfrm>
            <a:off x="4700016" y="1828800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Good</a:t>
            </a:r>
            <a:endParaRPr lang="en-US" sz="850" dirty="0"/>
          </a:p>
        </p:txBody>
      </p:sp>
      <p:sp>
        <p:nvSpPr>
          <p:cNvPr id="126" name="Shape 20">
            <a:extLst>
              <a:ext uri="{FF2B5EF4-FFF2-40B4-BE49-F238E27FC236}">
                <a16:creationId xmlns:a16="http://schemas.microsoft.com/office/drawing/2014/main" id="{96AE3F6D-482F-C902-0C62-EBA24DE15AF1}"/>
              </a:ext>
            </a:extLst>
          </p:cNvPr>
          <p:cNvSpPr/>
          <p:nvPr/>
        </p:nvSpPr>
        <p:spPr>
          <a:xfrm>
            <a:off x="6647688" y="1170432"/>
            <a:ext cx="1901952" cy="9144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7" name="Shape 21">
            <a:extLst>
              <a:ext uri="{FF2B5EF4-FFF2-40B4-BE49-F238E27FC236}">
                <a16:creationId xmlns:a16="http://schemas.microsoft.com/office/drawing/2014/main" id="{140D27CA-39FA-19C3-8675-A5C397DCCE70}"/>
              </a:ext>
            </a:extLst>
          </p:cNvPr>
          <p:cNvSpPr/>
          <p:nvPr/>
        </p:nvSpPr>
        <p:spPr>
          <a:xfrm>
            <a:off x="6647688" y="1170432"/>
            <a:ext cx="190195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22">
            <a:extLst>
              <a:ext uri="{FF2B5EF4-FFF2-40B4-BE49-F238E27FC236}">
                <a16:creationId xmlns:a16="http://schemas.microsoft.com/office/drawing/2014/main" id="{843AEEA3-78D3-2D00-9645-E9B9EF2D0D39}"/>
              </a:ext>
            </a:extLst>
          </p:cNvPr>
          <p:cNvSpPr/>
          <p:nvPr/>
        </p:nvSpPr>
        <p:spPr>
          <a:xfrm>
            <a:off x="6757416" y="1261872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</a:t>
            </a:r>
            <a:endParaRPr lang="en-US" sz="750" dirty="0"/>
          </a:p>
        </p:txBody>
      </p:sp>
      <p:sp>
        <p:nvSpPr>
          <p:cNvPr id="129" name="Text 23">
            <a:extLst>
              <a:ext uri="{FF2B5EF4-FFF2-40B4-BE49-F238E27FC236}">
                <a16:creationId xmlns:a16="http://schemas.microsoft.com/office/drawing/2014/main" id="{745D2E74-EDE0-F97A-6AA9-569562944C56}"/>
              </a:ext>
            </a:extLst>
          </p:cNvPr>
          <p:cNvSpPr/>
          <p:nvPr/>
        </p:nvSpPr>
        <p:spPr>
          <a:xfrm>
            <a:off x="6757416" y="1463040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Assets</a:t>
            </a:r>
            <a:endParaRPr lang="en-US" sz="1700" dirty="0"/>
          </a:p>
        </p:txBody>
      </p:sp>
      <p:sp>
        <p:nvSpPr>
          <p:cNvPr id="130" name="Text 24">
            <a:extLst>
              <a:ext uri="{FF2B5EF4-FFF2-40B4-BE49-F238E27FC236}">
                <a16:creationId xmlns:a16="http://schemas.microsoft.com/office/drawing/2014/main" id="{C92DD267-75F6-A0E0-0140-F058A9BF6869}"/>
              </a:ext>
            </a:extLst>
          </p:cNvPr>
          <p:cNvSpPr/>
          <p:nvPr/>
        </p:nvSpPr>
        <p:spPr>
          <a:xfrm>
            <a:off x="6757416" y="1828800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₹18L invested</a:t>
            </a:r>
            <a:endParaRPr lang="en-US" sz="850" dirty="0"/>
          </a:p>
        </p:txBody>
      </p:sp>
      <p:sp>
        <p:nvSpPr>
          <p:cNvPr id="131" name="Shape 25">
            <a:extLst>
              <a:ext uri="{FF2B5EF4-FFF2-40B4-BE49-F238E27FC236}">
                <a16:creationId xmlns:a16="http://schemas.microsoft.com/office/drawing/2014/main" id="{431CBE17-4ACB-1F7B-5A6B-A30E3B9DCBD2}"/>
              </a:ext>
            </a:extLst>
          </p:cNvPr>
          <p:cNvSpPr/>
          <p:nvPr/>
        </p:nvSpPr>
        <p:spPr>
          <a:xfrm>
            <a:off x="475488" y="2212848"/>
            <a:ext cx="1901952" cy="1097280"/>
          </a:xfrm>
          <a:prstGeom prst="rect">
            <a:avLst/>
          </a:prstGeom>
          <a:solidFill>
            <a:srgbClr val="0D1020"/>
          </a:solidFill>
          <a:ln w="12700">
            <a:solidFill>
              <a:srgbClr val="0D102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2" name="Shape 26">
            <a:extLst>
              <a:ext uri="{FF2B5EF4-FFF2-40B4-BE49-F238E27FC236}">
                <a16:creationId xmlns:a16="http://schemas.microsoft.com/office/drawing/2014/main" id="{3E410684-3F4F-2E7B-CA14-875D21B19E7B}"/>
              </a:ext>
            </a:extLst>
          </p:cNvPr>
          <p:cNvSpPr/>
          <p:nvPr/>
        </p:nvSpPr>
        <p:spPr>
          <a:xfrm>
            <a:off x="585216" y="2331720"/>
            <a:ext cx="7315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27">
            <a:extLst>
              <a:ext uri="{FF2B5EF4-FFF2-40B4-BE49-F238E27FC236}">
                <a16:creationId xmlns:a16="http://schemas.microsoft.com/office/drawing/2014/main" id="{A1AD45F2-1018-0B8D-3538-CC04AB5ED0A0}"/>
              </a:ext>
            </a:extLst>
          </p:cNvPr>
          <p:cNvSpPr/>
          <p:nvPr/>
        </p:nvSpPr>
        <p:spPr>
          <a:xfrm>
            <a:off x="731520" y="2331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</a:t>
            </a:r>
            <a:endParaRPr lang="en-US" sz="1000" dirty="0"/>
          </a:p>
        </p:txBody>
      </p:sp>
      <p:sp>
        <p:nvSpPr>
          <p:cNvPr id="134" name="Text 28">
            <a:extLst>
              <a:ext uri="{FF2B5EF4-FFF2-40B4-BE49-F238E27FC236}">
                <a16:creationId xmlns:a16="http://schemas.microsoft.com/office/drawing/2014/main" id="{8DA2918E-1FDB-24F7-2C68-BEB4A672E732}"/>
              </a:ext>
            </a:extLst>
          </p:cNvPr>
          <p:cNvSpPr/>
          <p:nvPr/>
        </p:nvSpPr>
        <p:spPr>
          <a:xfrm>
            <a:off x="731520" y="263347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55%  ·  Debt 30%  ·  Alt 15%</a:t>
            </a:r>
            <a:endParaRPr lang="en-US" sz="850" dirty="0"/>
          </a:p>
        </p:txBody>
      </p:sp>
      <p:sp>
        <p:nvSpPr>
          <p:cNvPr id="135" name="Shape 29">
            <a:extLst>
              <a:ext uri="{FF2B5EF4-FFF2-40B4-BE49-F238E27FC236}">
                <a16:creationId xmlns:a16="http://schemas.microsoft.com/office/drawing/2014/main" id="{D4C2209C-9951-563E-34B3-E323663DFA79}"/>
              </a:ext>
            </a:extLst>
          </p:cNvPr>
          <p:cNvSpPr/>
          <p:nvPr/>
        </p:nvSpPr>
        <p:spPr>
          <a:xfrm>
            <a:off x="2532888" y="2212848"/>
            <a:ext cx="1901952" cy="1097280"/>
          </a:xfrm>
          <a:prstGeom prst="rect">
            <a:avLst/>
          </a:prstGeom>
          <a:solidFill>
            <a:srgbClr val="0D1020"/>
          </a:solidFill>
          <a:ln w="12700">
            <a:solidFill>
              <a:srgbClr val="0D102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6" name="Shape 30">
            <a:extLst>
              <a:ext uri="{FF2B5EF4-FFF2-40B4-BE49-F238E27FC236}">
                <a16:creationId xmlns:a16="http://schemas.microsoft.com/office/drawing/2014/main" id="{B883FA8B-9477-A980-37B4-B4F6967467E3}"/>
              </a:ext>
            </a:extLst>
          </p:cNvPr>
          <p:cNvSpPr/>
          <p:nvPr/>
        </p:nvSpPr>
        <p:spPr>
          <a:xfrm>
            <a:off x="2642616" y="23317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31">
            <a:extLst>
              <a:ext uri="{FF2B5EF4-FFF2-40B4-BE49-F238E27FC236}">
                <a16:creationId xmlns:a16="http://schemas.microsoft.com/office/drawing/2014/main" id="{B41AC5AB-768D-E343-B148-6486385786AB}"/>
              </a:ext>
            </a:extLst>
          </p:cNvPr>
          <p:cNvSpPr/>
          <p:nvPr/>
        </p:nvSpPr>
        <p:spPr>
          <a:xfrm>
            <a:off x="2788920" y="2331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Breakdown</a:t>
            </a:r>
            <a:endParaRPr lang="en-US" sz="1000" dirty="0"/>
          </a:p>
        </p:txBody>
      </p:sp>
      <p:sp>
        <p:nvSpPr>
          <p:cNvPr id="138" name="Text 32">
            <a:extLst>
              <a:ext uri="{FF2B5EF4-FFF2-40B4-BE49-F238E27FC236}">
                <a16:creationId xmlns:a16="http://schemas.microsoft.com/office/drawing/2014/main" id="{25F49967-659D-ADF5-2E5D-C1D14F69DAD1}"/>
              </a:ext>
            </a:extLst>
          </p:cNvPr>
          <p:cNvSpPr/>
          <p:nvPr/>
        </p:nvSpPr>
        <p:spPr>
          <a:xfrm>
            <a:off x="2788920" y="263347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· FMCG · Banking · Pharma · Auto</a:t>
            </a:r>
            <a:endParaRPr lang="en-US" sz="850" dirty="0"/>
          </a:p>
        </p:txBody>
      </p:sp>
      <p:sp>
        <p:nvSpPr>
          <p:cNvPr id="139" name="Shape 33">
            <a:extLst>
              <a:ext uri="{FF2B5EF4-FFF2-40B4-BE49-F238E27FC236}">
                <a16:creationId xmlns:a16="http://schemas.microsoft.com/office/drawing/2014/main" id="{5BB6174E-867F-C78D-E49F-E2BFC9B088E0}"/>
              </a:ext>
            </a:extLst>
          </p:cNvPr>
          <p:cNvSpPr/>
          <p:nvPr/>
        </p:nvSpPr>
        <p:spPr>
          <a:xfrm>
            <a:off x="4590288" y="2212848"/>
            <a:ext cx="1901952" cy="1097280"/>
          </a:xfrm>
          <a:prstGeom prst="rect">
            <a:avLst/>
          </a:prstGeom>
          <a:solidFill>
            <a:srgbClr val="0D1020"/>
          </a:solidFill>
          <a:ln w="12700">
            <a:solidFill>
              <a:srgbClr val="0D102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0" name="Shape 34">
            <a:extLst>
              <a:ext uri="{FF2B5EF4-FFF2-40B4-BE49-F238E27FC236}">
                <a16:creationId xmlns:a16="http://schemas.microsoft.com/office/drawing/2014/main" id="{9F465512-7966-90B6-5A69-F91BBB454238}"/>
              </a:ext>
            </a:extLst>
          </p:cNvPr>
          <p:cNvSpPr/>
          <p:nvPr/>
        </p:nvSpPr>
        <p:spPr>
          <a:xfrm>
            <a:off x="4700016" y="2331720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35">
            <a:extLst>
              <a:ext uri="{FF2B5EF4-FFF2-40B4-BE49-F238E27FC236}">
                <a16:creationId xmlns:a16="http://schemas.microsoft.com/office/drawing/2014/main" id="{04BCD742-BE97-164A-C45E-38BD6C1F7504}"/>
              </a:ext>
            </a:extLst>
          </p:cNvPr>
          <p:cNvSpPr/>
          <p:nvPr/>
        </p:nvSpPr>
        <p:spPr>
          <a:xfrm>
            <a:off x="4846320" y="2331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Timeline</a:t>
            </a:r>
            <a:endParaRPr lang="en-US" sz="1000" dirty="0"/>
          </a:p>
        </p:txBody>
      </p:sp>
      <p:sp>
        <p:nvSpPr>
          <p:cNvPr id="142" name="Text 36">
            <a:extLst>
              <a:ext uri="{FF2B5EF4-FFF2-40B4-BE49-F238E27FC236}">
                <a16:creationId xmlns:a16="http://schemas.microsoft.com/office/drawing/2014/main" id="{CEA04A3F-30C3-8913-8662-4FA0115C1D46}"/>
              </a:ext>
            </a:extLst>
          </p:cNvPr>
          <p:cNvSpPr/>
          <p:nvPr/>
        </p:nvSpPr>
        <p:spPr>
          <a:xfrm>
            <a:off x="4846320" y="263347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growth trending up</a:t>
            </a:r>
            <a:endParaRPr lang="en-US" sz="850" dirty="0"/>
          </a:p>
        </p:txBody>
      </p:sp>
      <p:sp>
        <p:nvSpPr>
          <p:cNvPr id="143" name="Shape 37">
            <a:extLst>
              <a:ext uri="{FF2B5EF4-FFF2-40B4-BE49-F238E27FC236}">
                <a16:creationId xmlns:a16="http://schemas.microsoft.com/office/drawing/2014/main" id="{197A8E55-82C5-6890-C0B5-FC14128AA279}"/>
              </a:ext>
            </a:extLst>
          </p:cNvPr>
          <p:cNvSpPr/>
          <p:nvPr/>
        </p:nvSpPr>
        <p:spPr>
          <a:xfrm>
            <a:off x="6647688" y="2212848"/>
            <a:ext cx="1901952" cy="1097280"/>
          </a:xfrm>
          <a:prstGeom prst="rect">
            <a:avLst/>
          </a:prstGeom>
          <a:solidFill>
            <a:srgbClr val="0D1020"/>
          </a:solidFill>
          <a:ln w="12700">
            <a:solidFill>
              <a:srgbClr val="0D102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4" name="Shape 38">
            <a:extLst>
              <a:ext uri="{FF2B5EF4-FFF2-40B4-BE49-F238E27FC236}">
                <a16:creationId xmlns:a16="http://schemas.microsoft.com/office/drawing/2014/main" id="{07241838-DFBB-0F66-6162-A02F7EB51F93}"/>
              </a:ext>
            </a:extLst>
          </p:cNvPr>
          <p:cNvSpPr/>
          <p:nvPr/>
        </p:nvSpPr>
        <p:spPr>
          <a:xfrm>
            <a:off x="6757416" y="2331720"/>
            <a:ext cx="73152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39">
            <a:extLst>
              <a:ext uri="{FF2B5EF4-FFF2-40B4-BE49-F238E27FC236}">
                <a16:creationId xmlns:a16="http://schemas.microsoft.com/office/drawing/2014/main" id="{21A7FF53-0456-3188-890C-4C5F5B4499AC}"/>
              </a:ext>
            </a:extLst>
          </p:cNvPr>
          <p:cNvSpPr/>
          <p:nvPr/>
        </p:nvSpPr>
        <p:spPr>
          <a:xfrm>
            <a:off x="6903720" y="2331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Signals</a:t>
            </a:r>
            <a:endParaRPr lang="en-US" sz="1000" dirty="0"/>
          </a:p>
        </p:txBody>
      </p:sp>
      <p:sp>
        <p:nvSpPr>
          <p:cNvPr id="146" name="Text 40">
            <a:extLst>
              <a:ext uri="{FF2B5EF4-FFF2-40B4-BE49-F238E27FC236}">
                <a16:creationId xmlns:a16="http://schemas.microsoft.com/office/drawing/2014/main" id="{771491A2-6191-82C7-ABDF-BA2F1BFABC2C}"/>
              </a:ext>
            </a:extLst>
          </p:cNvPr>
          <p:cNvSpPr/>
          <p:nvPr/>
        </p:nvSpPr>
        <p:spPr>
          <a:xfrm>
            <a:off x="6903720" y="263347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Sell  ·  1 Review  ·  9 Hold</a:t>
            </a:r>
            <a:endParaRPr lang="en-US" sz="850" dirty="0"/>
          </a:p>
        </p:txBody>
      </p:sp>
      <p:sp>
        <p:nvSpPr>
          <p:cNvPr id="147" name="Shape 41">
            <a:extLst>
              <a:ext uri="{FF2B5EF4-FFF2-40B4-BE49-F238E27FC236}">
                <a16:creationId xmlns:a16="http://schemas.microsoft.com/office/drawing/2014/main" id="{1B0D846D-09DC-F8A2-CDD7-F4FF3EEEF197}"/>
              </a:ext>
            </a:extLst>
          </p:cNvPr>
          <p:cNvSpPr/>
          <p:nvPr/>
        </p:nvSpPr>
        <p:spPr>
          <a:xfrm>
            <a:off x="475488" y="3429000"/>
            <a:ext cx="2670048" cy="3474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42">
            <a:extLst>
              <a:ext uri="{FF2B5EF4-FFF2-40B4-BE49-F238E27FC236}">
                <a16:creationId xmlns:a16="http://schemas.microsoft.com/office/drawing/2014/main" id="{8F648294-6CA8-6B3B-291D-17A6F7FD9E9E}"/>
              </a:ext>
            </a:extLst>
          </p:cNvPr>
          <p:cNvSpPr/>
          <p:nvPr/>
        </p:nvSpPr>
        <p:spPr>
          <a:xfrm>
            <a:off x="585216" y="3511296"/>
            <a:ext cx="182880" cy="18288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43">
            <a:extLst>
              <a:ext uri="{FF2B5EF4-FFF2-40B4-BE49-F238E27FC236}">
                <a16:creationId xmlns:a16="http://schemas.microsoft.com/office/drawing/2014/main" id="{CC3F2185-66F6-A805-E683-D186D359EAB9}"/>
              </a:ext>
            </a:extLst>
          </p:cNvPr>
          <p:cNvSpPr/>
          <p:nvPr/>
        </p:nvSpPr>
        <p:spPr>
          <a:xfrm>
            <a:off x="841248" y="34747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Tips &amp; Alerts</a:t>
            </a:r>
            <a:endParaRPr lang="en-US" sz="900" dirty="0"/>
          </a:p>
        </p:txBody>
      </p:sp>
      <p:sp>
        <p:nvSpPr>
          <p:cNvPr id="150" name="Shape 44">
            <a:extLst>
              <a:ext uri="{FF2B5EF4-FFF2-40B4-BE49-F238E27FC236}">
                <a16:creationId xmlns:a16="http://schemas.microsoft.com/office/drawing/2014/main" id="{16C27125-41B8-006E-401C-115228C0D278}"/>
              </a:ext>
            </a:extLst>
          </p:cNvPr>
          <p:cNvSpPr/>
          <p:nvPr/>
        </p:nvSpPr>
        <p:spPr>
          <a:xfrm>
            <a:off x="3282696" y="3429000"/>
            <a:ext cx="2670048" cy="3474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45">
            <a:extLst>
              <a:ext uri="{FF2B5EF4-FFF2-40B4-BE49-F238E27FC236}">
                <a16:creationId xmlns:a16="http://schemas.microsoft.com/office/drawing/2014/main" id="{93E68250-5165-829C-79B6-5AE57268FFFA}"/>
              </a:ext>
            </a:extLst>
          </p:cNvPr>
          <p:cNvSpPr/>
          <p:nvPr/>
        </p:nvSpPr>
        <p:spPr>
          <a:xfrm>
            <a:off x="3392424" y="3511296"/>
            <a:ext cx="182880" cy="18288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46">
            <a:extLst>
              <a:ext uri="{FF2B5EF4-FFF2-40B4-BE49-F238E27FC236}">
                <a16:creationId xmlns:a16="http://schemas.microsoft.com/office/drawing/2014/main" id="{B30A61CD-3022-262C-ACCF-3AEE7603A648}"/>
              </a:ext>
            </a:extLst>
          </p:cNvPr>
          <p:cNvSpPr/>
          <p:nvPr/>
        </p:nvSpPr>
        <p:spPr>
          <a:xfrm>
            <a:off x="3648456" y="34747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</a:t>
            </a:r>
            <a:endParaRPr lang="en-US" sz="900" dirty="0"/>
          </a:p>
        </p:txBody>
      </p:sp>
      <p:sp>
        <p:nvSpPr>
          <p:cNvPr id="153" name="Shape 47">
            <a:extLst>
              <a:ext uri="{FF2B5EF4-FFF2-40B4-BE49-F238E27FC236}">
                <a16:creationId xmlns:a16="http://schemas.microsoft.com/office/drawing/2014/main" id="{D73BCDC3-1166-0958-1E85-05BB895C1111}"/>
              </a:ext>
            </a:extLst>
          </p:cNvPr>
          <p:cNvSpPr/>
          <p:nvPr/>
        </p:nvSpPr>
        <p:spPr>
          <a:xfrm>
            <a:off x="6089904" y="3429000"/>
            <a:ext cx="2670048" cy="3474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48">
            <a:extLst>
              <a:ext uri="{FF2B5EF4-FFF2-40B4-BE49-F238E27FC236}">
                <a16:creationId xmlns:a16="http://schemas.microsoft.com/office/drawing/2014/main" id="{4A35FBF0-C68A-0DC1-C5CC-87E3F9D2783E}"/>
              </a:ext>
            </a:extLst>
          </p:cNvPr>
          <p:cNvSpPr/>
          <p:nvPr/>
        </p:nvSpPr>
        <p:spPr>
          <a:xfrm>
            <a:off x="6199632" y="3511296"/>
            <a:ext cx="182880" cy="18288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49">
            <a:extLst>
              <a:ext uri="{FF2B5EF4-FFF2-40B4-BE49-F238E27FC236}">
                <a16:creationId xmlns:a16="http://schemas.microsoft.com/office/drawing/2014/main" id="{902942C3-514F-D8CD-C34B-7E32EAA1109A}"/>
              </a:ext>
            </a:extLst>
          </p:cNvPr>
          <p:cNvSpPr/>
          <p:nvPr/>
        </p:nvSpPr>
        <p:spPr>
          <a:xfrm>
            <a:off x="6455664" y="34747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Goals</a:t>
            </a:r>
            <a:endParaRPr lang="en-US" sz="900" dirty="0"/>
          </a:p>
        </p:txBody>
      </p:sp>
      <p:sp>
        <p:nvSpPr>
          <p:cNvPr id="156" name="Shape 50">
            <a:extLst>
              <a:ext uri="{FF2B5EF4-FFF2-40B4-BE49-F238E27FC236}">
                <a16:creationId xmlns:a16="http://schemas.microsoft.com/office/drawing/2014/main" id="{BA9799EC-EA7A-B1FE-FEF4-07C56285939D}"/>
              </a:ext>
            </a:extLst>
          </p:cNvPr>
          <p:cNvSpPr/>
          <p:nvPr/>
        </p:nvSpPr>
        <p:spPr>
          <a:xfrm>
            <a:off x="347472" y="3858768"/>
            <a:ext cx="8449056" cy="292608"/>
          </a:xfrm>
          <a:prstGeom prst="rect">
            <a:avLst/>
          </a:prstGeom>
          <a:solidFill>
            <a:srgbClr val="7C3AED">
              <a:alpha val="15000"/>
            </a:srgbClr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51">
            <a:extLst>
              <a:ext uri="{FF2B5EF4-FFF2-40B4-BE49-F238E27FC236}">
                <a16:creationId xmlns:a16="http://schemas.microsoft.com/office/drawing/2014/main" id="{B09AC55A-BD83-A93B-DE59-8758575D8AE5}"/>
              </a:ext>
            </a:extLst>
          </p:cNvPr>
          <p:cNvSpPr/>
          <p:nvPr/>
        </p:nvSpPr>
        <p:spPr>
          <a:xfrm>
            <a:off x="502920" y="38587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stays 100% on your device — zero server, zero tracking, zero compromise on privacy.</a:t>
            </a:r>
            <a:endParaRPr lang="en-US" sz="950" dirty="0"/>
          </a:p>
        </p:txBody>
      </p:sp>
      <p:sp>
        <p:nvSpPr>
          <p:cNvPr id="158" name="Text 52">
            <a:extLst>
              <a:ext uri="{FF2B5EF4-FFF2-40B4-BE49-F238E27FC236}">
                <a16:creationId xmlns:a16="http://schemas.microsoft.com/office/drawing/2014/main" id="{D7C77035-64FA-FBD8-3705-3ABD6A138D0A}"/>
              </a:ext>
            </a:extLst>
          </p:cNvPr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8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159" name="Text 53">
            <a:extLst>
              <a:ext uri="{FF2B5EF4-FFF2-40B4-BE49-F238E27FC236}">
                <a16:creationId xmlns:a16="http://schemas.microsoft.com/office/drawing/2014/main" id="{CB461937-6464-3A81-8751-B9915926F547}"/>
              </a:ext>
            </a:extLst>
          </p:cNvPr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2A206-52D2-F5DD-C327-AC17080A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ACC784-A77B-9A13-A8C5-B8AF828A5E29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275717F-3EB8-54D7-D8E0-335B5C971EC4}"/>
              </a:ext>
            </a:extLst>
          </p:cNvPr>
          <p:cNvSpPr/>
          <p:nvPr/>
        </p:nvSpPr>
        <p:spPr>
          <a:xfrm>
            <a:off x="457200" y="182880"/>
            <a:ext cx="1918411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90DBBF-E50A-7520-6320-A0CB36641A51}"/>
              </a:ext>
            </a:extLst>
          </p:cNvPr>
          <p:cNvSpPr/>
          <p:nvPr/>
        </p:nvSpPr>
        <p:spPr>
          <a:xfrm>
            <a:off x="594360" y="192024"/>
            <a:ext cx="182697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TRACKING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3DAC21F-3D0A-C8AD-3326-D1C5AE452563}"/>
              </a:ext>
            </a:extLst>
          </p:cNvPr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Asset Classes. One View.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1D3FA62-8784-7484-EB72-81E42C19BF5C}"/>
              </a:ext>
            </a:extLst>
          </p:cNvPr>
          <p:cNvSpPr/>
          <p:nvPr/>
        </p:nvSpPr>
        <p:spPr>
          <a:xfrm>
            <a:off x="365760" y="1170432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AA2F319-24FD-E445-82C7-EC3C2D05FEF5}"/>
              </a:ext>
            </a:extLst>
          </p:cNvPr>
          <p:cNvSpPr/>
          <p:nvPr/>
        </p:nvSpPr>
        <p:spPr>
          <a:xfrm>
            <a:off x="438912" y="1234440"/>
            <a:ext cx="457200" cy="274320"/>
          </a:xfrm>
          <a:prstGeom prst="rect">
            <a:avLst/>
          </a:prstGeom>
          <a:solidFill>
            <a:srgbClr val="10B981">
              <a:alpha val="22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9CCE4F-8CDC-568E-9835-05273BD74935}"/>
              </a:ext>
            </a:extLst>
          </p:cNvPr>
          <p:cNvSpPr/>
          <p:nvPr/>
        </p:nvSpPr>
        <p:spPr>
          <a:xfrm>
            <a:off x="438912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</a:t>
            </a:r>
            <a:endParaRPr lang="en-US" sz="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9E72342-6AFC-9175-3D66-B37FBA7070ED}"/>
              </a:ext>
            </a:extLst>
          </p:cNvPr>
          <p:cNvSpPr/>
          <p:nvPr/>
        </p:nvSpPr>
        <p:spPr>
          <a:xfrm>
            <a:off x="969264" y="1243584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/ Mutual Funds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368448F-DD24-A8C1-2696-9BC7D88EEE6D}"/>
              </a:ext>
            </a:extLst>
          </p:cNvPr>
          <p:cNvSpPr/>
          <p:nvPr/>
        </p:nvSpPr>
        <p:spPr>
          <a:xfrm>
            <a:off x="969264" y="1444752"/>
            <a:ext cx="521208" cy="109728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4A39D0E-3D8E-FC86-EB1D-9DA37AF19E85}"/>
              </a:ext>
            </a:extLst>
          </p:cNvPr>
          <p:cNvSpPr/>
          <p:nvPr/>
        </p:nvSpPr>
        <p:spPr>
          <a:xfrm>
            <a:off x="978408" y="1444752"/>
            <a:ext cx="5212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0031BA-D15D-C2E7-F698-86A3419E1F8D}"/>
              </a:ext>
            </a:extLst>
          </p:cNvPr>
          <p:cNvSpPr/>
          <p:nvPr/>
        </p:nvSpPr>
        <p:spPr>
          <a:xfrm>
            <a:off x="2514600" y="1170432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2EF7911-DCDC-4F5A-4927-61C87E99B383}"/>
              </a:ext>
            </a:extLst>
          </p:cNvPr>
          <p:cNvSpPr/>
          <p:nvPr/>
        </p:nvSpPr>
        <p:spPr>
          <a:xfrm>
            <a:off x="2587752" y="1234440"/>
            <a:ext cx="457200" cy="274320"/>
          </a:xfrm>
          <a:prstGeom prst="rect">
            <a:avLst/>
          </a:prstGeom>
          <a:solidFill>
            <a:srgbClr val="10B981">
              <a:alpha val="22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220AD61-B2B5-9585-6780-7B4F1EDE805F}"/>
              </a:ext>
            </a:extLst>
          </p:cNvPr>
          <p:cNvSpPr/>
          <p:nvPr/>
        </p:nvSpPr>
        <p:spPr>
          <a:xfrm>
            <a:off x="2587752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</a:t>
            </a:r>
            <a:endParaRPr lang="en-US" sz="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9FFB7C1-C2F2-0F3C-B6FA-9084C68B4081}"/>
              </a:ext>
            </a:extLst>
          </p:cNvPr>
          <p:cNvSpPr/>
          <p:nvPr/>
        </p:nvSpPr>
        <p:spPr>
          <a:xfrm>
            <a:off x="3118104" y="1243584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/ ETF</a:t>
            </a:r>
            <a:endParaRPr lang="en-US" sz="9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2473873-7385-5F90-2BCD-F27A41497FEF}"/>
              </a:ext>
            </a:extLst>
          </p:cNvPr>
          <p:cNvSpPr/>
          <p:nvPr/>
        </p:nvSpPr>
        <p:spPr>
          <a:xfrm>
            <a:off x="3118104" y="1444752"/>
            <a:ext cx="521208" cy="109728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54BC1DE-5095-3480-E544-9BC2193E891B}"/>
              </a:ext>
            </a:extLst>
          </p:cNvPr>
          <p:cNvSpPr/>
          <p:nvPr/>
        </p:nvSpPr>
        <p:spPr>
          <a:xfrm>
            <a:off x="3127248" y="1444752"/>
            <a:ext cx="5212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6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FB736AB-14EA-A5D9-9843-D7B2FC39F6F9}"/>
              </a:ext>
            </a:extLst>
          </p:cNvPr>
          <p:cNvSpPr/>
          <p:nvPr/>
        </p:nvSpPr>
        <p:spPr>
          <a:xfrm>
            <a:off x="365760" y="1636776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052CB1A-F129-ACC3-3B8D-67BB1B723DEA}"/>
              </a:ext>
            </a:extLst>
          </p:cNvPr>
          <p:cNvSpPr/>
          <p:nvPr/>
        </p:nvSpPr>
        <p:spPr>
          <a:xfrm>
            <a:off x="438912" y="1700784"/>
            <a:ext cx="457200" cy="274320"/>
          </a:xfrm>
          <a:prstGeom prst="rect">
            <a:avLst/>
          </a:prstGeom>
          <a:solidFill>
            <a:srgbClr val="06B6D4">
              <a:alpha val="22000"/>
            </a:srgbClr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9D04FF5-901F-FEFE-5BD9-612AF48C4330}"/>
              </a:ext>
            </a:extLst>
          </p:cNvPr>
          <p:cNvSpPr/>
          <p:nvPr/>
        </p:nvSpPr>
        <p:spPr>
          <a:xfrm>
            <a:off x="438912" y="17007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</a:t>
            </a:r>
            <a:endParaRPr lang="en-US" sz="7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20FDF10-D982-4D6D-A615-683480736E63}"/>
              </a:ext>
            </a:extLst>
          </p:cNvPr>
          <p:cNvSpPr/>
          <p:nvPr/>
        </p:nvSpPr>
        <p:spPr>
          <a:xfrm>
            <a:off x="969264" y="170992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Deposit</a:t>
            </a:r>
            <a:endParaRPr lang="en-US" sz="9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1DBA322-89F2-9194-A63E-9E7B60F05E7A}"/>
              </a:ext>
            </a:extLst>
          </p:cNvPr>
          <p:cNvSpPr/>
          <p:nvPr/>
        </p:nvSpPr>
        <p:spPr>
          <a:xfrm>
            <a:off x="969264" y="1911096"/>
            <a:ext cx="393192" cy="109728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C5CE615-91EB-8116-9A37-3B3F1172A293}"/>
              </a:ext>
            </a:extLst>
          </p:cNvPr>
          <p:cNvSpPr/>
          <p:nvPr/>
        </p:nvSpPr>
        <p:spPr>
          <a:xfrm>
            <a:off x="978408" y="1911096"/>
            <a:ext cx="3931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A0D768E-DF5D-1701-1AB2-8A7920F2EF33}"/>
              </a:ext>
            </a:extLst>
          </p:cNvPr>
          <p:cNvSpPr/>
          <p:nvPr/>
        </p:nvSpPr>
        <p:spPr>
          <a:xfrm>
            <a:off x="2514600" y="1636776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246C097-89AA-29D6-E8B3-F0D560AA1217}"/>
              </a:ext>
            </a:extLst>
          </p:cNvPr>
          <p:cNvSpPr/>
          <p:nvPr/>
        </p:nvSpPr>
        <p:spPr>
          <a:xfrm>
            <a:off x="2587752" y="1700784"/>
            <a:ext cx="457200" cy="274320"/>
          </a:xfrm>
          <a:prstGeom prst="rect">
            <a:avLst/>
          </a:prstGeom>
          <a:solidFill>
            <a:srgbClr val="06B6D4">
              <a:alpha val="22000"/>
            </a:srgbClr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FB0D823-C4D8-040A-930D-321BB3769476}"/>
              </a:ext>
            </a:extLst>
          </p:cNvPr>
          <p:cNvSpPr/>
          <p:nvPr/>
        </p:nvSpPr>
        <p:spPr>
          <a:xfrm>
            <a:off x="2587752" y="17007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7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108E2DC-59F6-6370-FFB9-C953551F0AAE}"/>
              </a:ext>
            </a:extLst>
          </p:cNvPr>
          <p:cNvSpPr/>
          <p:nvPr/>
        </p:nvSpPr>
        <p:spPr>
          <a:xfrm>
            <a:off x="3118104" y="170992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Deposit</a:t>
            </a:r>
            <a:endParaRPr lang="en-US" sz="9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065E530-B504-07D5-E77B-B716798159CA}"/>
              </a:ext>
            </a:extLst>
          </p:cNvPr>
          <p:cNvSpPr/>
          <p:nvPr/>
        </p:nvSpPr>
        <p:spPr>
          <a:xfrm>
            <a:off x="3118104" y="1911096"/>
            <a:ext cx="393192" cy="109728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A8D0A6C-902C-B4F3-72D7-05561E80572C}"/>
              </a:ext>
            </a:extLst>
          </p:cNvPr>
          <p:cNvSpPr/>
          <p:nvPr/>
        </p:nvSpPr>
        <p:spPr>
          <a:xfrm>
            <a:off x="3127248" y="1911096"/>
            <a:ext cx="3931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6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FD57AD5-6AAC-0610-91AA-0FFCDF518FEF}"/>
              </a:ext>
            </a:extLst>
          </p:cNvPr>
          <p:cNvSpPr/>
          <p:nvPr/>
        </p:nvSpPr>
        <p:spPr>
          <a:xfrm>
            <a:off x="365760" y="2103120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C69B757-A5A7-DBA4-09B8-9F9B86BCE7BA}"/>
              </a:ext>
            </a:extLst>
          </p:cNvPr>
          <p:cNvSpPr/>
          <p:nvPr/>
        </p:nvSpPr>
        <p:spPr>
          <a:xfrm>
            <a:off x="438912" y="2167128"/>
            <a:ext cx="457200" cy="274320"/>
          </a:xfrm>
          <a:prstGeom prst="rect">
            <a:avLst/>
          </a:prstGeom>
          <a:solidFill>
            <a:srgbClr val="06B6D4">
              <a:alpha val="22000"/>
            </a:srgbClr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4FD26AC-AF15-5D48-2880-C14EEFB793EC}"/>
              </a:ext>
            </a:extLst>
          </p:cNvPr>
          <p:cNvSpPr/>
          <p:nvPr/>
        </p:nvSpPr>
        <p:spPr>
          <a:xfrm>
            <a:off x="438912" y="2167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PPF</a:t>
            </a:r>
            <a:endParaRPr lang="en-US" sz="7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0A7379E-17E0-4F0A-FA94-0708A5E5CFD6}"/>
              </a:ext>
            </a:extLst>
          </p:cNvPr>
          <p:cNvSpPr/>
          <p:nvPr/>
        </p:nvSpPr>
        <p:spPr>
          <a:xfrm>
            <a:off x="969264" y="217627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Provident Fund</a:t>
            </a:r>
            <a:endParaRPr lang="en-US" sz="9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E8BC7A2-87F2-E893-8DC5-83C2B9178956}"/>
              </a:ext>
            </a:extLst>
          </p:cNvPr>
          <p:cNvSpPr/>
          <p:nvPr/>
        </p:nvSpPr>
        <p:spPr>
          <a:xfrm>
            <a:off x="969264" y="2377440"/>
            <a:ext cx="393192" cy="109728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39D6CC1-013C-3E8A-6EE2-AF9AFD3A09C7}"/>
              </a:ext>
            </a:extLst>
          </p:cNvPr>
          <p:cNvSpPr/>
          <p:nvPr/>
        </p:nvSpPr>
        <p:spPr>
          <a:xfrm>
            <a:off x="978408" y="2377440"/>
            <a:ext cx="3931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6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7C26400-0C07-FF7C-0DC7-BD67C84106F5}"/>
              </a:ext>
            </a:extLst>
          </p:cNvPr>
          <p:cNvSpPr/>
          <p:nvPr/>
        </p:nvSpPr>
        <p:spPr>
          <a:xfrm>
            <a:off x="2514600" y="2103120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72723CB-3B13-73C4-6833-3158A58B5B1D}"/>
              </a:ext>
            </a:extLst>
          </p:cNvPr>
          <p:cNvSpPr/>
          <p:nvPr/>
        </p:nvSpPr>
        <p:spPr>
          <a:xfrm>
            <a:off x="2587752" y="2167128"/>
            <a:ext cx="457200" cy="274320"/>
          </a:xfrm>
          <a:prstGeom prst="rect">
            <a:avLst/>
          </a:prstGeom>
          <a:solidFill>
            <a:srgbClr val="7C3AED">
              <a:alpha val="22000"/>
            </a:srgbClr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00CC304-5359-0EAE-B70C-A2A5F627C260}"/>
              </a:ext>
            </a:extLst>
          </p:cNvPr>
          <p:cNvSpPr/>
          <p:nvPr/>
        </p:nvSpPr>
        <p:spPr>
          <a:xfrm>
            <a:off x="2587752" y="2167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7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55A99AF-831E-8FED-E41D-D62AE589D5B5}"/>
              </a:ext>
            </a:extLst>
          </p:cNvPr>
          <p:cNvSpPr/>
          <p:nvPr/>
        </p:nvSpPr>
        <p:spPr>
          <a:xfrm>
            <a:off x="3118104" y="217627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9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9F2C3F8-64B7-34E5-163D-C202B450156A}"/>
              </a:ext>
            </a:extLst>
          </p:cNvPr>
          <p:cNvSpPr/>
          <p:nvPr/>
        </p:nvSpPr>
        <p:spPr>
          <a:xfrm>
            <a:off x="3118104" y="2377440"/>
            <a:ext cx="521208" cy="109728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2DDC63E-CB9A-5D1E-C59B-EA81415707A8}"/>
              </a:ext>
            </a:extLst>
          </p:cNvPr>
          <p:cNvSpPr/>
          <p:nvPr/>
        </p:nvSpPr>
        <p:spPr>
          <a:xfrm>
            <a:off x="3127248" y="2377440"/>
            <a:ext cx="5212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6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4C25417-CBCC-094D-B22F-E6E881ED138A}"/>
              </a:ext>
            </a:extLst>
          </p:cNvPr>
          <p:cNvSpPr/>
          <p:nvPr/>
        </p:nvSpPr>
        <p:spPr>
          <a:xfrm>
            <a:off x="365760" y="2569464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5DD5F77-C8D7-796E-7A96-D44B1CCDF1DF}"/>
              </a:ext>
            </a:extLst>
          </p:cNvPr>
          <p:cNvSpPr/>
          <p:nvPr/>
        </p:nvSpPr>
        <p:spPr>
          <a:xfrm>
            <a:off x="438912" y="2633472"/>
            <a:ext cx="457200" cy="274320"/>
          </a:xfrm>
          <a:prstGeom prst="rect">
            <a:avLst/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AB72425-C4AC-04F5-535D-D348A62197B2}"/>
              </a:ext>
            </a:extLst>
          </p:cNvPr>
          <p:cNvSpPr/>
          <p:nvPr/>
        </p:nvSpPr>
        <p:spPr>
          <a:xfrm>
            <a:off x="438912" y="26334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</a:t>
            </a:r>
            <a:endParaRPr lang="en-US" sz="7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A7044B0-CC28-4179-75CA-09C3082679BA}"/>
              </a:ext>
            </a:extLst>
          </p:cNvPr>
          <p:cNvSpPr/>
          <p:nvPr/>
        </p:nvSpPr>
        <p:spPr>
          <a:xfrm>
            <a:off x="969264" y="26426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SGB</a:t>
            </a:r>
            <a:endParaRPr lang="en-US" sz="9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30A8379-14DD-7EE6-798E-1D004C87A6DD}"/>
              </a:ext>
            </a:extLst>
          </p:cNvPr>
          <p:cNvSpPr/>
          <p:nvPr/>
        </p:nvSpPr>
        <p:spPr>
          <a:xfrm>
            <a:off x="969264" y="2843784"/>
            <a:ext cx="905256" cy="109728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B82DBDB-A6DC-AF69-E8D3-BEC6952D8102}"/>
              </a:ext>
            </a:extLst>
          </p:cNvPr>
          <p:cNvSpPr/>
          <p:nvPr/>
        </p:nvSpPr>
        <p:spPr>
          <a:xfrm>
            <a:off x="978408" y="2843784"/>
            <a:ext cx="90525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6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4F8B629-8FA7-AD83-1E3F-84EF21A9ED69}"/>
              </a:ext>
            </a:extLst>
          </p:cNvPr>
          <p:cNvSpPr/>
          <p:nvPr/>
        </p:nvSpPr>
        <p:spPr>
          <a:xfrm>
            <a:off x="2514600" y="2569464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F35D6D6-73A0-D0B3-F696-3F27323037CC}"/>
              </a:ext>
            </a:extLst>
          </p:cNvPr>
          <p:cNvSpPr/>
          <p:nvPr/>
        </p:nvSpPr>
        <p:spPr>
          <a:xfrm>
            <a:off x="2587752" y="2633472"/>
            <a:ext cx="457200" cy="274320"/>
          </a:xfrm>
          <a:prstGeom prst="rect">
            <a:avLst/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278D5090-F60F-8AC0-56FD-327FE1D664E8}"/>
              </a:ext>
            </a:extLst>
          </p:cNvPr>
          <p:cNvSpPr/>
          <p:nvPr/>
        </p:nvSpPr>
        <p:spPr>
          <a:xfrm>
            <a:off x="2587752" y="26334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</a:t>
            </a:r>
            <a:endParaRPr lang="en-US" sz="75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13DD1E9-0FBF-E86E-70F6-E362A6EABA94}"/>
              </a:ext>
            </a:extLst>
          </p:cNvPr>
          <p:cNvSpPr/>
          <p:nvPr/>
        </p:nvSpPr>
        <p:spPr>
          <a:xfrm>
            <a:off x="3118104" y="26426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9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687F566-1614-8131-E38A-C75E5663D57D}"/>
              </a:ext>
            </a:extLst>
          </p:cNvPr>
          <p:cNvSpPr/>
          <p:nvPr/>
        </p:nvSpPr>
        <p:spPr>
          <a:xfrm>
            <a:off x="3118104" y="2843784"/>
            <a:ext cx="905256" cy="109728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FAD49AE4-2033-2032-3AD9-9D6B39A51013}"/>
              </a:ext>
            </a:extLst>
          </p:cNvPr>
          <p:cNvSpPr/>
          <p:nvPr/>
        </p:nvSpPr>
        <p:spPr>
          <a:xfrm>
            <a:off x="3127248" y="2843784"/>
            <a:ext cx="90525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6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58858528-3D86-03E6-EF7A-EF8BB7FFD96A}"/>
              </a:ext>
            </a:extLst>
          </p:cNvPr>
          <p:cNvSpPr/>
          <p:nvPr/>
        </p:nvSpPr>
        <p:spPr>
          <a:xfrm>
            <a:off x="365760" y="3035808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639552E-F746-0E19-7A8D-F818FFA3C986}"/>
              </a:ext>
            </a:extLst>
          </p:cNvPr>
          <p:cNvSpPr/>
          <p:nvPr/>
        </p:nvSpPr>
        <p:spPr>
          <a:xfrm>
            <a:off x="438912" y="3099816"/>
            <a:ext cx="457200" cy="274320"/>
          </a:xfrm>
          <a:prstGeom prst="rect">
            <a:avLst/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864C98B6-520D-824E-2409-1592442B739B}"/>
              </a:ext>
            </a:extLst>
          </p:cNvPr>
          <p:cNvSpPr/>
          <p:nvPr/>
        </p:nvSpPr>
        <p:spPr>
          <a:xfrm>
            <a:off x="438912" y="3099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75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550BFC40-20CE-4599-BAE9-1715A76CB5D2}"/>
              </a:ext>
            </a:extLst>
          </p:cNvPr>
          <p:cNvSpPr/>
          <p:nvPr/>
        </p:nvSpPr>
        <p:spPr>
          <a:xfrm>
            <a:off x="969264" y="31089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/ Land</a:t>
            </a:r>
            <a:endParaRPr lang="en-US" sz="9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22389D81-4E06-14F4-E095-C68C83C7667F}"/>
              </a:ext>
            </a:extLst>
          </p:cNvPr>
          <p:cNvSpPr/>
          <p:nvPr/>
        </p:nvSpPr>
        <p:spPr>
          <a:xfrm>
            <a:off x="969264" y="3310128"/>
            <a:ext cx="905256" cy="109728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7C31F3F-D1B3-333C-8090-9AA555783F0E}"/>
              </a:ext>
            </a:extLst>
          </p:cNvPr>
          <p:cNvSpPr/>
          <p:nvPr/>
        </p:nvSpPr>
        <p:spPr>
          <a:xfrm>
            <a:off x="978408" y="3310128"/>
            <a:ext cx="90525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6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1E462F1-EEDB-027A-651D-43E8EF1F5B9F}"/>
              </a:ext>
            </a:extLst>
          </p:cNvPr>
          <p:cNvSpPr/>
          <p:nvPr/>
        </p:nvSpPr>
        <p:spPr>
          <a:xfrm>
            <a:off x="2514600" y="3035808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6B1D972-CFDD-B38E-05B8-9065D59037D7}"/>
              </a:ext>
            </a:extLst>
          </p:cNvPr>
          <p:cNvSpPr/>
          <p:nvPr/>
        </p:nvSpPr>
        <p:spPr>
          <a:xfrm>
            <a:off x="2587752" y="3099816"/>
            <a:ext cx="457200" cy="274320"/>
          </a:xfrm>
          <a:prstGeom prst="rect">
            <a:avLst/>
          </a:prstGeom>
          <a:solidFill>
            <a:srgbClr val="10B981">
              <a:alpha val="22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AB72F650-1468-C8E7-0D49-E89D9D9FF56C}"/>
              </a:ext>
            </a:extLst>
          </p:cNvPr>
          <p:cNvSpPr/>
          <p:nvPr/>
        </p:nvSpPr>
        <p:spPr>
          <a:xfrm>
            <a:off x="2587752" y="3099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ELSS</a:t>
            </a:r>
            <a:endParaRPr lang="en-US" sz="75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553BCE5-A560-1D1B-F7DE-B9B971F01CD8}"/>
              </a:ext>
            </a:extLst>
          </p:cNvPr>
          <p:cNvSpPr/>
          <p:nvPr/>
        </p:nvSpPr>
        <p:spPr>
          <a:xfrm>
            <a:off x="3118104" y="31089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ELSS Tax Saver</a:t>
            </a:r>
            <a:endParaRPr lang="en-US" sz="9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34C8F4DF-C644-0E04-FF5E-7BA553889F7E}"/>
              </a:ext>
            </a:extLst>
          </p:cNvPr>
          <p:cNvSpPr/>
          <p:nvPr/>
        </p:nvSpPr>
        <p:spPr>
          <a:xfrm>
            <a:off x="3118104" y="3310128"/>
            <a:ext cx="521208" cy="109728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3039928B-D066-7146-DF61-8EE29FDAB0F8}"/>
              </a:ext>
            </a:extLst>
          </p:cNvPr>
          <p:cNvSpPr/>
          <p:nvPr/>
        </p:nvSpPr>
        <p:spPr>
          <a:xfrm>
            <a:off x="3127248" y="3310128"/>
            <a:ext cx="5212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6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C83A2BF8-CB81-F744-BA58-F2FE82038961}"/>
              </a:ext>
            </a:extLst>
          </p:cNvPr>
          <p:cNvSpPr/>
          <p:nvPr/>
        </p:nvSpPr>
        <p:spPr>
          <a:xfrm>
            <a:off x="365760" y="3502152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4E1D8273-6EC2-782D-94D9-3EC84240F84F}"/>
              </a:ext>
            </a:extLst>
          </p:cNvPr>
          <p:cNvSpPr/>
          <p:nvPr/>
        </p:nvSpPr>
        <p:spPr>
          <a:xfrm>
            <a:off x="438912" y="3566160"/>
            <a:ext cx="457200" cy="274320"/>
          </a:xfrm>
          <a:prstGeom prst="rect">
            <a:avLst/>
          </a:prstGeom>
          <a:solidFill>
            <a:srgbClr val="06B6D4">
              <a:alpha val="22000"/>
            </a:srgbClr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CB5A9CDD-5158-0470-41BC-0F2D689E9BC7}"/>
              </a:ext>
            </a:extLst>
          </p:cNvPr>
          <p:cNvSpPr/>
          <p:nvPr/>
        </p:nvSpPr>
        <p:spPr>
          <a:xfrm>
            <a:off x="438912" y="3566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BND</a:t>
            </a:r>
            <a:endParaRPr lang="en-US" sz="75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119282FA-DE53-1618-93D1-C3937BE70A50}"/>
              </a:ext>
            </a:extLst>
          </p:cNvPr>
          <p:cNvSpPr/>
          <p:nvPr/>
        </p:nvSpPr>
        <p:spPr>
          <a:xfrm>
            <a:off x="969264" y="3575304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</a:t>
            </a:r>
            <a:endParaRPr lang="en-US" sz="9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7E5D7DC2-A222-F70C-6F66-B40598A5F4AD}"/>
              </a:ext>
            </a:extLst>
          </p:cNvPr>
          <p:cNvSpPr/>
          <p:nvPr/>
        </p:nvSpPr>
        <p:spPr>
          <a:xfrm>
            <a:off x="969264" y="3776472"/>
            <a:ext cx="393192" cy="109728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E9EB9E4E-5568-5CB2-81B4-553CD9CA3649}"/>
              </a:ext>
            </a:extLst>
          </p:cNvPr>
          <p:cNvSpPr/>
          <p:nvPr/>
        </p:nvSpPr>
        <p:spPr>
          <a:xfrm>
            <a:off x="978408" y="3776472"/>
            <a:ext cx="3931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60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B15DD507-94DC-599A-0BF6-5BE619A80347}"/>
              </a:ext>
            </a:extLst>
          </p:cNvPr>
          <p:cNvSpPr/>
          <p:nvPr/>
        </p:nvSpPr>
        <p:spPr>
          <a:xfrm>
            <a:off x="2514600" y="3502152"/>
            <a:ext cx="1993392" cy="40233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82BD7687-1B2C-48C1-7746-B044B450E13E}"/>
              </a:ext>
            </a:extLst>
          </p:cNvPr>
          <p:cNvSpPr/>
          <p:nvPr/>
        </p:nvSpPr>
        <p:spPr>
          <a:xfrm>
            <a:off x="2587752" y="3566160"/>
            <a:ext cx="457200" cy="274320"/>
          </a:xfrm>
          <a:prstGeom prst="rect">
            <a:avLst/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A3DEFA19-7558-1D48-B6D3-9395417BEE98}"/>
              </a:ext>
            </a:extLst>
          </p:cNvPr>
          <p:cNvSpPr/>
          <p:nvPr/>
        </p:nvSpPr>
        <p:spPr>
          <a:xfrm>
            <a:off x="2587752" y="3566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</a:t>
            </a:r>
            <a:endParaRPr lang="en-US" sz="75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68CBF643-B62B-B22C-99D3-9729A3786CC1}"/>
              </a:ext>
            </a:extLst>
          </p:cNvPr>
          <p:cNvSpPr/>
          <p:nvPr/>
        </p:nvSpPr>
        <p:spPr>
          <a:xfrm>
            <a:off x="3118104" y="3575304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5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7184A951-4BFE-409A-4388-4F74EF4C2D01}"/>
              </a:ext>
            </a:extLst>
          </p:cNvPr>
          <p:cNvSpPr/>
          <p:nvPr/>
        </p:nvSpPr>
        <p:spPr>
          <a:xfrm>
            <a:off x="3118104" y="3776472"/>
            <a:ext cx="905256" cy="109728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613A8B5F-4774-5BA3-20A8-EBBC380F3769}"/>
              </a:ext>
            </a:extLst>
          </p:cNvPr>
          <p:cNvSpPr/>
          <p:nvPr/>
        </p:nvSpPr>
        <p:spPr>
          <a:xfrm>
            <a:off x="3127248" y="3776472"/>
            <a:ext cx="90525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6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0A224ABA-A6C8-C96D-A5D4-C323577E1BA1}"/>
              </a:ext>
            </a:extLst>
          </p:cNvPr>
          <p:cNvSpPr/>
          <p:nvPr/>
        </p:nvSpPr>
        <p:spPr>
          <a:xfrm>
            <a:off x="4663440" y="1115568"/>
            <a:ext cx="4114800" cy="3675888"/>
          </a:xfrm>
          <a:prstGeom prst="rect">
            <a:avLst/>
          </a:prstGeom>
          <a:solidFill>
            <a:srgbClr val="141830"/>
          </a:solidFill>
          <a:ln w="15240">
            <a:solidFill>
              <a:srgbClr val="7C3AED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10050902-19EB-ED56-179B-521289119AD9}"/>
              </a:ext>
            </a:extLst>
          </p:cNvPr>
          <p:cNvSpPr/>
          <p:nvPr/>
        </p:nvSpPr>
        <p:spPr>
          <a:xfrm>
            <a:off x="4663440" y="1115568"/>
            <a:ext cx="411480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A8EBA72B-34AD-11D0-974F-D124B392F989}"/>
              </a:ext>
            </a:extLst>
          </p:cNvPr>
          <p:cNvSpPr/>
          <p:nvPr/>
        </p:nvSpPr>
        <p:spPr>
          <a:xfrm>
            <a:off x="4754880" y="1115568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Investment Card</a:t>
            </a:r>
            <a:endParaRPr lang="en-US" sz="1200" dirty="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B3A486A7-1A43-534B-040C-DF0041C0FAA9}"/>
              </a:ext>
            </a:extLst>
          </p:cNvPr>
          <p:cNvSpPr/>
          <p:nvPr/>
        </p:nvSpPr>
        <p:spPr>
          <a:xfrm>
            <a:off x="4736592" y="1700784"/>
            <a:ext cx="3959352" cy="347472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55CA6240-77CA-395D-11D6-2FF72DF34B69}"/>
              </a:ext>
            </a:extLst>
          </p:cNvPr>
          <p:cNvSpPr/>
          <p:nvPr/>
        </p:nvSpPr>
        <p:spPr>
          <a:xfrm>
            <a:off x="4828032" y="17373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9855BFC8-D767-9926-9FD5-E817343CF749}"/>
              </a:ext>
            </a:extLst>
          </p:cNvPr>
          <p:cNvSpPr/>
          <p:nvPr/>
        </p:nvSpPr>
        <p:spPr>
          <a:xfrm>
            <a:off x="6382512" y="1737360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Ltd</a:t>
            </a:r>
            <a:endParaRPr lang="en-US" sz="95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FFBE0963-48FC-2702-C6C3-3E4BE79EA6A1}"/>
              </a:ext>
            </a:extLst>
          </p:cNvPr>
          <p:cNvSpPr/>
          <p:nvPr/>
        </p:nvSpPr>
        <p:spPr>
          <a:xfrm>
            <a:off x="4828032" y="20848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EC5C3141-DFE0-0099-7564-192C883F9826}"/>
              </a:ext>
            </a:extLst>
          </p:cNvPr>
          <p:cNvSpPr/>
          <p:nvPr/>
        </p:nvSpPr>
        <p:spPr>
          <a:xfrm>
            <a:off x="6382512" y="208483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 ·  RELIANCE  ·  Zerodha</a:t>
            </a:r>
            <a:endParaRPr lang="en-US" sz="950" dirty="0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05BB6A20-B22D-65A0-815A-3927315F27AB}"/>
              </a:ext>
            </a:extLst>
          </p:cNvPr>
          <p:cNvSpPr/>
          <p:nvPr/>
        </p:nvSpPr>
        <p:spPr>
          <a:xfrm>
            <a:off x="4736592" y="2395728"/>
            <a:ext cx="3959352" cy="347472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6BC1B251-5596-6157-7F46-564FDFB0CF16}"/>
              </a:ext>
            </a:extLst>
          </p:cNvPr>
          <p:cNvSpPr/>
          <p:nvPr/>
        </p:nvSpPr>
        <p:spPr>
          <a:xfrm>
            <a:off x="4828032" y="24323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</a:t>
            </a:r>
            <a:endParaRPr lang="en-US" sz="900" dirty="0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5D2A7B95-6E0C-B5B2-FE9B-C78820240A2B}"/>
              </a:ext>
            </a:extLst>
          </p:cNvPr>
          <p:cNvSpPr/>
          <p:nvPr/>
        </p:nvSpPr>
        <p:spPr>
          <a:xfrm>
            <a:off x="6382512" y="243230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₹5,00,000</a:t>
            </a:r>
            <a:endParaRPr lang="en-US" sz="950" dirty="0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3BB5F6BA-F52F-715C-ACDC-C5E61B12EF3B}"/>
              </a:ext>
            </a:extLst>
          </p:cNvPr>
          <p:cNvSpPr/>
          <p:nvPr/>
        </p:nvSpPr>
        <p:spPr>
          <a:xfrm>
            <a:off x="4828032" y="27797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</a:t>
            </a:r>
            <a:endParaRPr lang="en-US" sz="900" dirty="0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A360FEC2-C980-47A9-14EE-0DF9C4A0FB36}"/>
              </a:ext>
            </a:extLst>
          </p:cNvPr>
          <p:cNvSpPr/>
          <p:nvPr/>
        </p:nvSpPr>
        <p:spPr>
          <a:xfrm>
            <a:off x="6382512" y="277977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₹6,84,750</a:t>
            </a:r>
            <a:endParaRPr lang="en-US" sz="950" dirty="0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2C749A69-68EA-FD6A-8813-44AA921AC76E}"/>
              </a:ext>
            </a:extLst>
          </p:cNvPr>
          <p:cNvSpPr/>
          <p:nvPr/>
        </p:nvSpPr>
        <p:spPr>
          <a:xfrm>
            <a:off x="4736592" y="3090672"/>
            <a:ext cx="3959352" cy="347472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1735F4F9-5F2B-DCEE-7E71-39773596A6D7}"/>
              </a:ext>
            </a:extLst>
          </p:cNvPr>
          <p:cNvSpPr/>
          <p:nvPr/>
        </p:nvSpPr>
        <p:spPr>
          <a:xfrm>
            <a:off x="4828032" y="31272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900" dirty="0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21FAD436-B7BA-19B6-399C-79B9D5E703ED}"/>
              </a:ext>
            </a:extLst>
          </p:cNvPr>
          <p:cNvSpPr/>
          <p:nvPr/>
        </p:nvSpPr>
        <p:spPr>
          <a:xfrm>
            <a:off x="6382512" y="312724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+₹1,84,750</a:t>
            </a:r>
            <a:endParaRPr lang="en-US" sz="950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5D142D12-1175-0CB0-E43A-A412DFD4916D}"/>
              </a:ext>
            </a:extLst>
          </p:cNvPr>
          <p:cNvSpPr/>
          <p:nvPr/>
        </p:nvSpPr>
        <p:spPr>
          <a:xfrm>
            <a:off x="4828032" y="3474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%</a:t>
            </a:r>
            <a:endParaRPr lang="en-US" sz="900" dirty="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B91648CE-8B04-711C-9DCE-A8B38AE3BCB9}"/>
              </a:ext>
            </a:extLst>
          </p:cNvPr>
          <p:cNvSpPr/>
          <p:nvPr/>
        </p:nvSpPr>
        <p:spPr>
          <a:xfrm>
            <a:off x="6382512" y="3474720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+36.9%</a:t>
            </a:r>
            <a:endParaRPr lang="en-US" sz="950" dirty="0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DC125D2F-2B7B-B5CC-764F-D57AB7E951D5}"/>
              </a:ext>
            </a:extLst>
          </p:cNvPr>
          <p:cNvSpPr/>
          <p:nvPr/>
        </p:nvSpPr>
        <p:spPr>
          <a:xfrm>
            <a:off x="4736592" y="3785616"/>
            <a:ext cx="3959352" cy="347472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E15619D6-7B7E-E779-1682-2A52BA8B3F40}"/>
              </a:ext>
            </a:extLst>
          </p:cNvPr>
          <p:cNvSpPr/>
          <p:nvPr/>
        </p:nvSpPr>
        <p:spPr>
          <a:xfrm>
            <a:off x="4828032" y="38221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Status</a:t>
            </a:r>
            <a:endParaRPr lang="en-US" sz="900" dirty="0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96E9EA7B-17F5-2039-878E-4110D28EC455}"/>
              </a:ext>
            </a:extLst>
          </p:cNvPr>
          <p:cNvSpPr/>
          <p:nvPr/>
        </p:nvSpPr>
        <p:spPr>
          <a:xfrm>
            <a:off x="6382512" y="382219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LTCG  (Held &gt; 1 year)</a:t>
            </a:r>
            <a:endParaRPr lang="en-US" sz="950" dirty="0"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73BBB2EA-177C-204E-2548-A6DAA1CD8E8D}"/>
              </a:ext>
            </a:extLst>
          </p:cNvPr>
          <p:cNvSpPr/>
          <p:nvPr/>
        </p:nvSpPr>
        <p:spPr>
          <a:xfrm>
            <a:off x="4828032" y="41696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900" dirty="0"/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6D29F849-36EE-5B45-3F71-62B98AB3AF69}"/>
              </a:ext>
            </a:extLst>
          </p:cNvPr>
          <p:cNvSpPr/>
          <p:nvPr/>
        </p:nvSpPr>
        <p:spPr>
          <a:xfrm>
            <a:off x="6382512" y="416966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950" dirty="0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601FFB73-8F95-44BD-9BE9-2E6C7153AD97}"/>
              </a:ext>
            </a:extLst>
          </p:cNvPr>
          <p:cNvSpPr/>
          <p:nvPr/>
        </p:nvSpPr>
        <p:spPr>
          <a:xfrm>
            <a:off x="4736592" y="4617720"/>
            <a:ext cx="3959352" cy="237744"/>
          </a:xfrm>
          <a:prstGeom prst="rect">
            <a:avLst/>
          </a:prstGeom>
          <a:solidFill>
            <a:srgbClr val="06B6D4">
              <a:alpha val="12000"/>
            </a:srgbClr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84CAB8C3-13BE-B7C2-810E-C81C1C4E32A1}"/>
              </a:ext>
            </a:extLst>
          </p:cNvPr>
          <p:cNvSpPr/>
          <p:nvPr/>
        </p:nvSpPr>
        <p:spPr>
          <a:xfrm>
            <a:off x="4773168" y="461772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Search via MFAPI  ·  NSE Auto-mapping  ·  Step-up SIP  ·  Platform tagging</a:t>
            </a:r>
            <a:endParaRPr lang="en-US" sz="750" dirty="0"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C7E7EECF-9683-A88B-0251-12488095EF1D}"/>
              </a:ext>
            </a:extLst>
          </p:cNvPr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F900D796-5C58-1575-0770-144DC5A34A70}"/>
              </a:ext>
            </a:extLst>
          </p:cNvPr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2221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1245413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92024"/>
            <a:ext cx="115397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Pulse — Live from 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743200" cy="8046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20700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4447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24,198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76272" y="153619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+1.24%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115568"/>
            <a:ext cx="2743200" cy="8046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115568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56432" y="120700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56432" y="14447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79,641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02352" y="153619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+0.98%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115568"/>
            <a:ext cx="2743200" cy="8046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115568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82512" y="120700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NIFTY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82512" y="14447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51,245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28432" y="153619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-0.31%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084832"/>
            <a:ext cx="8412480" cy="56692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084832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1579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 Prices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26080" y="2157984"/>
            <a:ext cx="5623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holding shows real-time NSE price, day P&amp;L, and 52-week position. Updated on demand.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734056"/>
            <a:ext cx="8412480" cy="56692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2734056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2807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Gainers &amp; Losers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26080" y="2807208"/>
            <a:ext cx="5623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Auto-ranked from your own holdings. Know your best and worst performers at a glance.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383280"/>
            <a:ext cx="8412480" cy="56692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383280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456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52-Week Alerts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26080" y="3456432"/>
            <a:ext cx="5623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flagging when a stock approaches its all-time high or multi-year low.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032504"/>
            <a:ext cx="8412480" cy="56692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4032504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" y="41056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Market Heatmap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926080" y="4105656"/>
            <a:ext cx="5623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TradingView NSE sector heatmap embedded — IT, Banking, FMCG, Pharma, Auto &amp; more.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700016"/>
            <a:ext cx="8412480" cy="201168"/>
          </a:xfrm>
          <a:prstGeom prst="rect">
            <a:avLst/>
          </a:prstGeom>
          <a:solidFill>
            <a:srgbClr val="10B981">
              <a:alpha val="12000"/>
            </a:srgbClr>
          </a:solidFill>
          <a:ln w="889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47000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Yahoo Finance API  ·  TradingView Widget  ·  Updates with one tap  ·  No API key needed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1329538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92024"/>
            <a:ext cx="123809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ValeurBot — Your Financial Co-Pilot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937760" cy="367588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9377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ValeurBot  —  AI Financial Assistant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45920" y="1719072"/>
            <a:ext cx="3383280" cy="365760"/>
          </a:xfrm>
          <a:prstGeom prst="rect">
            <a:avLst/>
          </a:prstGeom>
          <a:solidFill>
            <a:srgbClr val="2D1B69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73936" y="1773936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my overall portfolio doing?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0352" y="2212848"/>
            <a:ext cx="3383280" cy="1097280"/>
          </a:xfrm>
          <a:prstGeom prst="rect">
            <a:avLst/>
          </a:prstGeom>
          <a:solidFill>
            <a:srgbClr val="0D0F22"/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267712"/>
            <a:ext cx="312724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Snapshot: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Worth: ₹24,56,000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Invested:  ₹18,00,000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  +₹6,56,000 (+36.4%)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Holdings:  12 assets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45920" y="3438144"/>
            <a:ext cx="3383280" cy="365760"/>
          </a:xfrm>
          <a:prstGeom prst="rect">
            <a:avLst/>
          </a:prstGeom>
          <a:solidFill>
            <a:srgbClr val="2D1B69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73936" y="349300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exit signals right now?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0352" y="3931920"/>
            <a:ext cx="3383280" cy="731520"/>
          </a:xfrm>
          <a:prstGeom prst="rect">
            <a:avLst/>
          </a:prstGeom>
          <a:solidFill>
            <a:srgbClr val="0D0F22"/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986784"/>
            <a:ext cx="3127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Signals Found: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TCS — Hit 25% target. Book profit.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Zomato — Breached -15% stop-loss.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32120" y="1115568"/>
            <a:ext cx="3246120" cy="367588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87568" y="12070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87568" y="1609344"/>
            <a:ext cx="2286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87568" y="1792224"/>
            <a:ext cx="548640" cy="256032"/>
          </a:xfrm>
          <a:prstGeom prst="rect">
            <a:avLst/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87568" y="17922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09360" y="1792224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query types understood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87568" y="2176272"/>
            <a:ext cx="2926080" cy="548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87568" y="2286000"/>
            <a:ext cx="548640" cy="256032"/>
          </a:xfrm>
          <a:prstGeom prst="rect">
            <a:avLst/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87568" y="22860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309360" y="2286000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Portfolio, tax, goals, insurance — queryable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87568" y="2670048"/>
            <a:ext cx="2926080" cy="548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687568" y="2779776"/>
            <a:ext cx="548640" cy="256032"/>
          </a:xfrm>
          <a:prstGeom prst="rect">
            <a:avLst/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87568" y="27797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09360" y="277977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Gemini AI for advanced answers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87568" y="3163824"/>
            <a:ext cx="2926080" cy="548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687568" y="3273552"/>
            <a:ext cx="548640" cy="256032"/>
          </a:xfrm>
          <a:prstGeom prst="rect">
            <a:avLst/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87568" y="32735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309360" y="327355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questions via voice input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87568" y="3657600"/>
            <a:ext cx="2926080" cy="548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687568" y="3767328"/>
            <a:ext cx="548640" cy="256032"/>
          </a:xfrm>
          <a:prstGeom prst="rect">
            <a:avLst/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87568" y="37673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309360" y="376732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Quick-tap chips for common queries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87568" y="4151376"/>
            <a:ext cx="2926080" cy="548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687568" y="4261104"/>
            <a:ext cx="548640" cy="256032"/>
          </a:xfrm>
          <a:prstGeom prst="rect">
            <a:avLst/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87568" y="4261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309360" y="4261104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bubble + full-page chat mode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242316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9202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 &amp;  EXIT INTELLIGENCE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Tax Calculator  +  Exit Signals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297680" cy="36576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29768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Intelligence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719072"/>
            <a:ext cx="4151376" cy="347472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Class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0" y="1737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Year (STCG)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54680" y="17373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Year (LTCG)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" y="2066544"/>
            <a:ext cx="4151376" cy="438912"/>
          </a:xfrm>
          <a:prstGeom prst="rect">
            <a:avLst/>
          </a:prstGeom>
          <a:solidFill>
            <a:srgbClr val="0D0F22"/>
          </a:solidFill>
          <a:ln w="12700">
            <a:solidFill>
              <a:srgbClr val="0D0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03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/ SIP / ELSS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21031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STCG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54680" y="21031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 LTCG*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" y="2505456"/>
            <a:ext cx="4151376" cy="43891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5420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Land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25420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Rate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54680" y="254203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 LTCG*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" y="2944368"/>
            <a:ext cx="4151376" cy="438912"/>
          </a:xfrm>
          <a:prstGeom prst="rect">
            <a:avLst/>
          </a:prstGeom>
          <a:solidFill>
            <a:srgbClr val="0D0F22"/>
          </a:solidFill>
          <a:ln w="12700">
            <a:solidFill>
              <a:srgbClr val="0D0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9809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/ Recurring Deposit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20240" y="298094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Rate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54680" y="298094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Rate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" y="3383280"/>
            <a:ext cx="4151376" cy="43891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41985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341985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54680" y="3419856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" y="3822192"/>
            <a:ext cx="4151376" cy="438912"/>
          </a:xfrm>
          <a:prstGeom prst="rect">
            <a:avLst/>
          </a:prstGeom>
          <a:solidFill>
            <a:srgbClr val="0D0F22"/>
          </a:solidFill>
          <a:ln w="12700">
            <a:solidFill>
              <a:srgbClr val="0D0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8587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20240" y="38587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Flat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54680" y="385876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Flat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6177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₹1.25L annual LTCG exemption applies. Auto-classified per holding period.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64608" y="1170432"/>
            <a:ext cx="3931920" cy="36576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64608" y="1170432"/>
            <a:ext cx="39319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01768" y="11704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Signals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37760" y="1737360"/>
            <a:ext cx="3767328" cy="457200"/>
          </a:xfrm>
          <a:prstGeom prst="rect">
            <a:avLst/>
          </a:prstGeom>
          <a:solidFill>
            <a:srgbClr val="0D0F22"/>
          </a:solidFill>
          <a:ln w="12700">
            <a:solidFill>
              <a:srgbClr val="0D0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992624" y="1810512"/>
            <a:ext cx="420624" cy="237744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92624" y="1810512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0" y="18013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0" y="19933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Return% meets your set target. Book profit.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937760" y="2249424"/>
            <a:ext cx="3767328" cy="4572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992624" y="2322576"/>
            <a:ext cx="420624" cy="237744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92624" y="2322576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0" y="23134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Loss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0" y="250545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Return% hits your stop-loss floor. Cut losses.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37760" y="2761488"/>
            <a:ext cx="3767328" cy="457200"/>
          </a:xfrm>
          <a:prstGeom prst="rect">
            <a:avLst/>
          </a:prstGeom>
          <a:solidFill>
            <a:srgbClr val="0D0F22"/>
          </a:solidFill>
          <a:ln w="12700">
            <a:solidFill>
              <a:srgbClr val="0D0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992624" y="2834640"/>
            <a:ext cx="420624" cy="237744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92624" y="283464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86400" y="28254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0" y="30175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/ RD maturity date has passed.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937760" y="3273552"/>
            <a:ext cx="3767328" cy="4572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992624" y="3346704"/>
            <a:ext cx="420624" cy="237744"/>
          </a:xfrm>
          <a:prstGeom prst="rect">
            <a:avLst/>
          </a:prstGeom>
          <a:solidFill>
            <a:srgbClr val="F97316">
              <a:alpha val="20000"/>
            </a:srgbClr>
          </a:solidFill>
          <a:ln w="101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92624" y="3346704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86400" y="33375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52-Week Low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0" y="3529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within 5% of 52-week low.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937760" y="3785616"/>
            <a:ext cx="3767328" cy="457200"/>
          </a:xfrm>
          <a:prstGeom prst="rect">
            <a:avLst/>
          </a:prstGeom>
          <a:solidFill>
            <a:srgbClr val="0D0F22"/>
          </a:solidFill>
          <a:ln w="12700">
            <a:solidFill>
              <a:srgbClr val="0D0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992624" y="3858768"/>
            <a:ext cx="420624" cy="237744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992624" y="3858768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486400" y="38496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486400" y="404164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holding &gt; 30% of total portfolio.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937760" y="4297680"/>
            <a:ext cx="3767328" cy="4572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992624" y="4370832"/>
            <a:ext cx="420624" cy="237744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992624" y="4370832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486400" y="4361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Loss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486400" y="455371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down more than 20% from cost.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1497787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92024"/>
            <a:ext cx="140634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Your Financial Health — Instantly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4206240" cy="331012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298448"/>
            <a:ext cx="2103120" cy="2103120"/>
          </a:xfrm>
          <a:prstGeom prst="line">
            <a:avLst/>
          </a:prstGeom>
          <a:solidFill>
            <a:srgbClr val="0A0C1E"/>
          </a:solidFill>
          <a:ln w="101600">
            <a:solidFill>
              <a:srgbClr val="10B981"/>
            </a:solidFill>
            <a:prstDash val="solid"/>
          </a:ln>
          <a:effectLst>
            <a:outerShdw blurRad="254000" dist="635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344168"/>
            <a:ext cx="2011680" cy="2011680"/>
          </a:xfrm>
          <a:prstGeom prst="line">
            <a:avLst/>
          </a:prstGeom>
          <a:solidFill>
            <a:srgbClr val="0A0C1E"/>
          </a:solidFill>
          <a:ln w="25400">
            <a:solidFill>
              <a:srgbClr val="34D3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53619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SCORE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5295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 —  Grade B+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1261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 (6m)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60520" y="1280160"/>
            <a:ext cx="329184" cy="219456"/>
          </a:xfrm>
          <a:prstGeom prst="rect">
            <a:avLst/>
          </a:prstGeom>
          <a:solidFill>
            <a:srgbClr val="10B981">
              <a:alpha val="22000"/>
            </a:srgbClr>
          </a:solidFill>
          <a:ln w="76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60520" y="1280160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017520" y="1600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Rate ≥30%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60520" y="1618488"/>
            <a:ext cx="329184" cy="219456"/>
          </a:xfrm>
          <a:prstGeom prst="rect">
            <a:avLst/>
          </a:prstGeom>
          <a:solidFill>
            <a:srgbClr val="10B981">
              <a:alpha val="22000"/>
            </a:srgbClr>
          </a:solidFill>
          <a:ln w="76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60520" y="161848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017520" y="1938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(4+)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60520" y="1956816"/>
            <a:ext cx="329184" cy="219456"/>
          </a:xfrm>
          <a:prstGeom prst="rect">
            <a:avLst/>
          </a:prstGeom>
          <a:solidFill>
            <a:srgbClr val="10B981">
              <a:alpha val="22000"/>
            </a:srgbClr>
          </a:solidFill>
          <a:ln w="76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60520" y="1956816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017520" y="2276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Performance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60520" y="2295144"/>
            <a:ext cx="329184" cy="219456"/>
          </a:xfrm>
          <a:prstGeom prst="rect">
            <a:avLst/>
          </a:prstGeom>
          <a:solidFill>
            <a:srgbClr val="10B981">
              <a:alpha val="22000"/>
            </a:srgbClr>
          </a:solidFill>
          <a:ln w="76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60520" y="2295144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17520" y="26151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Progress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60520" y="2633472"/>
            <a:ext cx="329184" cy="219456"/>
          </a:xfrm>
          <a:prstGeom prst="rect">
            <a:avLst/>
          </a:prstGeom>
          <a:solidFill>
            <a:srgbClr val="10B981">
              <a:alpha val="22000"/>
            </a:srgbClr>
          </a:solidFill>
          <a:ln w="76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60520" y="2633472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017520" y="29535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Factor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60520" y="2971800"/>
            <a:ext cx="329184" cy="219456"/>
          </a:xfrm>
          <a:prstGeom prst="rect">
            <a:avLst/>
          </a:prstGeom>
          <a:solidFill>
            <a:srgbClr val="10B981">
              <a:alpha val="22000"/>
            </a:srgbClr>
          </a:solidFill>
          <a:ln w="76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60520" y="2971800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017520" y="32918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+ Expense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60520" y="3310128"/>
            <a:ext cx="329184" cy="219456"/>
          </a:xfrm>
          <a:prstGeom prst="rect">
            <a:avLst/>
          </a:prstGeom>
          <a:solidFill>
            <a:srgbClr val="10B981">
              <a:alpha val="22000"/>
            </a:srgbClr>
          </a:solidFill>
          <a:ln w="76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60520" y="331012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681728" y="1115568"/>
            <a:ext cx="4114800" cy="3310128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230368" y="1298448"/>
            <a:ext cx="2103120" cy="2103120"/>
          </a:xfrm>
          <a:prstGeom prst="line">
            <a:avLst/>
          </a:prstGeom>
          <a:solidFill>
            <a:srgbClr val="0A0C1E"/>
          </a:solidFill>
          <a:ln w="101600">
            <a:solidFill>
              <a:srgbClr val="F59E0B"/>
            </a:solidFill>
            <a:prstDash val="solid"/>
          </a:ln>
          <a:effectLst>
            <a:outerShdw blurRad="254000" dist="635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276088" y="1344168"/>
            <a:ext cx="2011680" cy="2011680"/>
          </a:xfrm>
          <a:prstGeom prst="line">
            <a:avLst/>
          </a:prstGeom>
          <a:solidFill>
            <a:srgbClr val="0A0C1E"/>
          </a:solidFill>
          <a:ln w="25400">
            <a:solidFill>
              <a:srgbClr val="FCD34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30368" y="153619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5800" dirty="0"/>
          </a:p>
        </p:txBody>
      </p:sp>
      <p:sp>
        <p:nvSpPr>
          <p:cNvPr id="38" name="Text 36"/>
          <p:cNvSpPr/>
          <p:nvPr/>
        </p:nvSpPr>
        <p:spPr>
          <a:xfrm>
            <a:off x="5230368" y="2377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4880" y="3291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SCORE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35295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 —  Grade 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88352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Life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412480" y="1280160"/>
            <a:ext cx="420624" cy="219456"/>
          </a:xfrm>
          <a:prstGeom prst="rect">
            <a:avLst/>
          </a:prstGeom>
          <a:solidFill>
            <a:srgbClr val="F59E0B">
              <a:alpha val="22000"/>
            </a:srgbClr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412480" y="1280160"/>
            <a:ext cx="420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388352" y="16002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412480" y="1618488"/>
            <a:ext cx="420624" cy="219456"/>
          </a:xfrm>
          <a:prstGeom prst="rect">
            <a:avLst/>
          </a:prstGeom>
          <a:solidFill>
            <a:srgbClr val="F59E0B">
              <a:alpha val="22000"/>
            </a:srgbClr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412480" y="1618488"/>
            <a:ext cx="420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388352" y="1938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Cover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412480" y="1956816"/>
            <a:ext cx="420624" cy="219456"/>
          </a:xfrm>
          <a:prstGeom prst="rect">
            <a:avLst/>
          </a:prstGeom>
          <a:solidFill>
            <a:srgbClr val="F59E0B">
              <a:alpha val="22000"/>
            </a:srgbClr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412480" y="1956816"/>
            <a:ext cx="420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388352" y="22768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Illness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412480" y="2295144"/>
            <a:ext cx="420624" cy="219456"/>
          </a:xfrm>
          <a:prstGeom prst="rect">
            <a:avLst/>
          </a:prstGeom>
          <a:solidFill>
            <a:srgbClr val="F59E0B">
              <a:alpha val="22000"/>
            </a:srgbClr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412480" y="2295144"/>
            <a:ext cx="420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388352" y="26151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412480" y="2633472"/>
            <a:ext cx="420624" cy="219456"/>
          </a:xfrm>
          <a:prstGeom prst="rect">
            <a:avLst/>
          </a:prstGeom>
          <a:solidFill>
            <a:srgbClr val="F59E0B">
              <a:alpha val="22000"/>
            </a:srgbClr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412480" y="2633472"/>
            <a:ext cx="420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388352" y="29535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Insurance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412480" y="2971800"/>
            <a:ext cx="420624" cy="219456"/>
          </a:xfrm>
          <a:prstGeom prst="rect">
            <a:avLst/>
          </a:prstGeom>
          <a:solidFill>
            <a:srgbClr val="F59E0B">
              <a:alpha val="22000"/>
            </a:srgbClr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412480" y="2971800"/>
            <a:ext cx="420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388352" y="3291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(Child/Travel)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412480" y="3310128"/>
            <a:ext cx="420624" cy="219456"/>
          </a:xfrm>
          <a:prstGeom prst="rect">
            <a:avLst/>
          </a:prstGeom>
          <a:solidFill>
            <a:srgbClr val="F59E0B">
              <a:alpha val="22000"/>
            </a:srgbClr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412480" y="3310128"/>
            <a:ext cx="420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47472" y="4462272"/>
            <a:ext cx="8449056" cy="292608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02920" y="4544568"/>
            <a:ext cx="128016" cy="128016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85800" y="45079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 (85+)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651760" y="4544568"/>
            <a:ext cx="128016" cy="128016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834640" y="45079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 (70+)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800600" y="4544568"/>
            <a:ext cx="128016" cy="128016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983480" y="45079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 (50+)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949440" y="4544568"/>
            <a:ext cx="128016" cy="128016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132320" y="45079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Work  (&lt;50)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2002536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92024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 &amp;  SECURITY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 Never Leaves Your Device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3200400" cy="36576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615184" cy="2615184"/>
          </a:xfrm>
          <a:prstGeom prst="lin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1248" y="1618488"/>
            <a:ext cx="2212848" cy="2212848"/>
          </a:xfrm>
          <a:prstGeom prst="line">
            <a:avLst/>
          </a:prstGeom>
          <a:solidFill>
            <a:srgbClr val="6C3FC5">
              <a:alpha val="18000"/>
            </a:srgbClr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30752" y="1115568"/>
            <a:ext cx="5065776" cy="36576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86200" y="1188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Architecture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86200" y="1572768"/>
            <a:ext cx="4114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86200" y="1719072"/>
            <a:ext cx="237744" cy="237744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86200" y="170078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172821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 communication — no requests, no uploads, ever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1993392"/>
            <a:ext cx="4434840" cy="548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86200" y="2029968"/>
            <a:ext cx="237744" cy="237744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86200" y="201168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203911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signup, no email, no phone number, no account required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06240" y="2304288"/>
            <a:ext cx="4434840" cy="548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86200" y="2340864"/>
            <a:ext cx="237744" cy="237744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86200" y="232257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0" y="235000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analytics, no ad tracking, no usage monitoring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06240" y="2615184"/>
            <a:ext cx="4434840" cy="548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86200" y="2651760"/>
            <a:ext cx="237744" cy="237744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86200" y="263347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0" y="2660904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4-digit PIN lock with progressive cooldown on failed attempts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2926080"/>
            <a:ext cx="4434840" cy="548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86200" y="2962656"/>
            <a:ext cx="237744" cy="237744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86200" y="294436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0" y="29718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question backup for PIN recovery without server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06240" y="3236976"/>
            <a:ext cx="4434840" cy="548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86200" y="3273552"/>
            <a:ext cx="237744" cy="237744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86200" y="325526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0" y="328269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Quad-backup: IndexedDB + localStorage + sessionStorage + Cookie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06240" y="3547872"/>
            <a:ext cx="4434840" cy="548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886200" y="3584448"/>
            <a:ext cx="237744" cy="237744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86200" y="356616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06240" y="359359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Import JSON — your own manual backup, always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06240" y="3858768"/>
            <a:ext cx="4434840" cy="548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86200" y="3895344"/>
            <a:ext cx="237744" cy="237744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886200" y="387705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06240" y="390448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wipe with double-confirmation prompt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206240" y="4169664"/>
            <a:ext cx="4434840" cy="548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886200" y="4206240"/>
            <a:ext cx="237744" cy="237744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86200" y="418795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206240" y="4215384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install as native app on Android, iOS, or desktop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206240" y="4480560"/>
            <a:ext cx="4434840" cy="548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886200" y="4517136"/>
            <a:ext cx="237744" cy="237744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886200" y="449884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206240" y="4526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after first load — no internet required to use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>
            <a:extLst>
              <a:ext uri="{FF2B5EF4-FFF2-40B4-BE49-F238E27FC236}">
                <a16:creationId xmlns:a16="http://schemas.microsoft.com/office/drawing/2014/main" id="{F593745C-8EEF-5AD4-1284-A53A9B4F68B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1">
            <a:extLst>
              <a:ext uri="{FF2B5EF4-FFF2-40B4-BE49-F238E27FC236}">
                <a16:creationId xmlns:a16="http://schemas.microsoft.com/office/drawing/2014/main" id="{E84C1F0F-4E07-AE3A-41B3-AF21B1B71D03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2">
            <a:extLst>
              <a:ext uri="{FF2B5EF4-FFF2-40B4-BE49-F238E27FC236}">
                <a16:creationId xmlns:a16="http://schemas.microsoft.com/office/drawing/2014/main" id="{376AE58E-C94E-A80B-5B80-0434F9878B05}"/>
              </a:ext>
            </a:extLst>
          </p:cNvPr>
          <p:cNvSpPr/>
          <p:nvPr/>
        </p:nvSpPr>
        <p:spPr>
          <a:xfrm>
            <a:off x="365760" y="128016"/>
            <a:ext cx="2002536" cy="237744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3">
            <a:extLst>
              <a:ext uri="{FF2B5EF4-FFF2-40B4-BE49-F238E27FC236}">
                <a16:creationId xmlns:a16="http://schemas.microsoft.com/office/drawing/2014/main" id="{8282C52D-2365-8F6B-C526-BB4079B53313}"/>
              </a:ext>
            </a:extLst>
          </p:cNvPr>
          <p:cNvSpPr/>
          <p:nvPr/>
        </p:nvSpPr>
        <p:spPr>
          <a:xfrm>
            <a:off x="502920" y="137160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MODE  &amp;  MORE</a:t>
            </a:r>
            <a:endParaRPr lang="en-US" sz="800" dirty="0"/>
          </a:p>
        </p:txBody>
      </p:sp>
      <p:sp>
        <p:nvSpPr>
          <p:cNvPr id="88" name="Text 4">
            <a:extLst>
              <a:ext uri="{FF2B5EF4-FFF2-40B4-BE49-F238E27FC236}">
                <a16:creationId xmlns:a16="http://schemas.microsoft.com/office/drawing/2014/main" id="{EB21783A-0CAE-8B60-ED5B-D427A2BEA50A}"/>
              </a:ext>
            </a:extLst>
          </p:cNvPr>
          <p:cNvSpPr/>
          <p:nvPr/>
        </p:nvSpPr>
        <p:spPr>
          <a:xfrm>
            <a:off x="365760" y="457200"/>
            <a:ext cx="75529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</a:rPr>
              <a:t>Family Finances - One Dashboard</a:t>
            </a:r>
          </a:p>
        </p:txBody>
      </p:sp>
      <p:pic>
        <p:nvPicPr>
          <p:cNvPr id="89" name="Image 0" descr="preencoded.png">
            <a:extLst>
              <a:ext uri="{FF2B5EF4-FFF2-40B4-BE49-F238E27FC236}">
                <a16:creationId xmlns:a16="http://schemas.microsoft.com/office/drawing/2014/main" id="{6277634B-237E-E9B2-D073-8CA41C762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"/>
            <a:ext cx="1920240" cy="528816"/>
          </a:xfrm>
          <a:prstGeom prst="rect">
            <a:avLst/>
          </a:prstGeom>
        </p:spPr>
      </p:pic>
      <p:sp>
        <p:nvSpPr>
          <p:cNvPr id="90" name="Shape 5">
            <a:extLst>
              <a:ext uri="{FF2B5EF4-FFF2-40B4-BE49-F238E27FC236}">
                <a16:creationId xmlns:a16="http://schemas.microsoft.com/office/drawing/2014/main" id="{132B22CF-D4E8-AD1C-197B-E445F5A32BC9}"/>
              </a:ext>
            </a:extLst>
          </p:cNvPr>
          <p:cNvSpPr/>
          <p:nvPr/>
        </p:nvSpPr>
        <p:spPr>
          <a:xfrm>
            <a:off x="0" y="950976"/>
            <a:ext cx="9144000" cy="36576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6">
            <a:extLst>
              <a:ext uri="{FF2B5EF4-FFF2-40B4-BE49-F238E27FC236}">
                <a16:creationId xmlns:a16="http://schemas.microsoft.com/office/drawing/2014/main" id="{EE1FA1AE-5FB3-7965-74E7-C4EB0E4F61D7}"/>
              </a:ext>
            </a:extLst>
          </p:cNvPr>
          <p:cNvSpPr/>
          <p:nvPr/>
        </p:nvSpPr>
        <p:spPr>
          <a:xfrm>
            <a:off x="347472" y="1060704"/>
            <a:ext cx="4160520" cy="1828800"/>
          </a:xfrm>
          <a:prstGeom prst="rect">
            <a:avLst/>
          </a:prstGeom>
          <a:solidFill>
            <a:srgbClr val="080B1A"/>
          </a:solidFill>
          <a:ln w="12700">
            <a:solidFill>
              <a:srgbClr val="080B1A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E318EE8B-302D-A216-65A4-A16AC4A8023E}"/>
              </a:ext>
            </a:extLst>
          </p:cNvPr>
          <p:cNvSpPr/>
          <p:nvPr/>
        </p:nvSpPr>
        <p:spPr>
          <a:xfrm>
            <a:off x="347472" y="1060704"/>
            <a:ext cx="4160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736DE470-34DB-1B80-7272-DC00DAFEDF6D}"/>
              </a:ext>
            </a:extLst>
          </p:cNvPr>
          <p:cNvSpPr/>
          <p:nvPr/>
        </p:nvSpPr>
        <p:spPr>
          <a:xfrm>
            <a:off x="475488" y="1170432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</a:t>
            </a:r>
            <a:endParaRPr lang="en-US" sz="1100" dirty="0"/>
          </a:p>
        </p:txBody>
      </p:sp>
      <p:sp>
        <p:nvSpPr>
          <p:cNvPr id="94" name="Shape 9">
            <a:extLst>
              <a:ext uri="{FF2B5EF4-FFF2-40B4-BE49-F238E27FC236}">
                <a16:creationId xmlns:a16="http://schemas.microsoft.com/office/drawing/2014/main" id="{D39047BB-9A18-DA33-2E5C-2E9DB0D1F010}"/>
              </a:ext>
            </a:extLst>
          </p:cNvPr>
          <p:cNvSpPr/>
          <p:nvPr/>
        </p:nvSpPr>
        <p:spPr>
          <a:xfrm>
            <a:off x="457200" y="1152144"/>
            <a:ext cx="603504" cy="603504"/>
          </a:xfrm>
          <a:prstGeom prst="lin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805DA716-A7A2-A84F-0063-F75D73D48908}"/>
              </a:ext>
            </a:extLst>
          </p:cNvPr>
          <p:cNvSpPr/>
          <p:nvPr/>
        </p:nvSpPr>
        <p:spPr>
          <a:xfrm>
            <a:off x="457200" y="115214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</a:t>
            </a:r>
            <a:endParaRPr lang="en-US" sz="1100" dirty="0"/>
          </a:p>
        </p:txBody>
      </p:sp>
      <p:sp>
        <p:nvSpPr>
          <p:cNvPr id="96" name="Text 11">
            <a:extLst>
              <a:ext uri="{FF2B5EF4-FFF2-40B4-BE49-F238E27FC236}">
                <a16:creationId xmlns:a16="http://schemas.microsoft.com/office/drawing/2014/main" id="{E26C6B99-0860-F817-BE7C-C434D5424F37}"/>
              </a:ext>
            </a:extLst>
          </p:cNvPr>
          <p:cNvSpPr/>
          <p:nvPr/>
        </p:nvSpPr>
        <p:spPr>
          <a:xfrm>
            <a:off x="1188720" y="1170432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family members with one tap</a:t>
            </a:r>
            <a:endParaRPr lang="en-US" sz="1200" dirty="0"/>
          </a:p>
        </p:txBody>
      </p:sp>
      <p:sp>
        <p:nvSpPr>
          <p:cNvPr id="97" name="Text 12">
            <a:extLst>
              <a:ext uri="{FF2B5EF4-FFF2-40B4-BE49-F238E27FC236}">
                <a16:creationId xmlns:a16="http://schemas.microsoft.com/office/drawing/2014/main" id="{25D0C511-9C33-0860-B075-071A39BB1030}"/>
              </a:ext>
            </a:extLst>
          </p:cNvPr>
          <p:cNvSpPr/>
          <p:nvPr/>
        </p:nvSpPr>
        <p:spPr>
          <a:xfrm>
            <a:off x="1188720" y="1517904"/>
            <a:ext cx="3182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spouse's SIPs, parent's FDs, and your stocks — all in one dashboard. Combined or individual net worth views. Each investment tagged with its owner.</a:t>
            </a:r>
            <a:endParaRPr lang="en-US" sz="950" dirty="0"/>
          </a:p>
        </p:txBody>
      </p:sp>
      <p:sp>
        <p:nvSpPr>
          <p:cNvPr id="98" name="Text 13">
            <a:extLst>
              <a:ext uri="{FF2B5EF4-FFF2-40B4-BE49-F238E27FC236}">
                <a16:creationId xmlns:a16="http://schemas.microsoft.com/office/drawing/2014/main" id="{E35F11FC-6BF0-5DB0-12BC-A8501AFA6FAD}"/>
              </a:ext>
            </a:extLst>
          </p:cNvPr>
          <p:cNvSpPr/>
          <p:nvPr/>
        </p:nvSpPr>
        <p:spPr>
          <a:xfrm>
            <a:off x="475488" y="26883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filter across all pages  ·  Combined net worth  ·  Per-member views</a:t>
            </a:r>
            <a:endParaRPr lang="en-US" sz="800" dirty="0"/>
          </a:p>
        </p:txBody>
      </p:sp>
      <p:sp>
        <p:nvSpPr>
          <p:cNvPr id="99" name="Shape 14">
            <a:extLst>
              <a:ext uri="{FF2B5EF4-FFF2-40B4-BE49-F238E27FC236}">
                <a16:creationId xmlns:a16="http://schemas.microsoft.com/office/drawing/2014/main" id="{C99889F2-F00B-9C24-9DA7-0647C1AE1169}"/>
              </a:ext>
            </a:extLst>
          </p:cNvPr>
          <p:cNvSpPr/>
          <p:nvPr/>
        </p:nvSpPr>
        <p:spPr>
          <a:xfrm>
            <a:off x="4681728" y="1060704"/>
            <a:ext cx="987552" cy="18288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F6C24FF0-84E6-A2DF-F659-29993D33BEE5}"/>
              </a:ext>
            </a:extLst>
          </p:cNvPr>
          <p:cNvSpPr/>
          <p:nvPr/>
        </p:nvSpPr>
        <p:spPr>
          <a:xfrm>
            <a:off x="4681728" y="1060704"/>
            <a:ext cx="987552" cy="64008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16">
            <a:extLst>
              <a:ext uri="{FF2B5EF4-FFF2-40B4-BE49-F238E27FC236}">
                <a16:creationId xmlns:a16="http://schemas.microsoft.com/office/drawing/2014/main" id="{E77C98A8-6611-D589-1B99-DAD2694F2540}"/>
              </a:ext>
            </a:extLst>
          </p:cNvPr>
          <p:cNvSpPr/>
          <p:nvPr/>
        </p:nvSpPr>
        <p:spPr>
          <a:xfrm>
            <a:off x="4681728" y="1353312"/>
            <a:ext cx="987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3F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102" name="Text 17">
            <a:extLst>
              <a:ext uri="{FF2B5EF4-FFF2-40B4-BE49-F238E27FC236}">
                <a16:creationId xmlns:a16="http://schemas.microsoft.com/office/drawing/2014/main" id="{F3073DF3-8D6F-A219-07B2-319AD78C79B2}"/>
              </a:ext>
            </a:extLst>
          </p:cNvPr>
          <p:cNvSpPr/>
          <p:nvPr/>
        </p:nvSpPr>
        <p:spPr>
          <a:xfrm>
            <a:off x="4736592" y="2066544"/>
            <a:ext cx="877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Types</a:t>
            </a:r>
            <a:endParaRPr lang="en-US" sz="800" dirty="0"/>
          </a:p>
        </p:txBody>
      </p:sp>
      <p:sp>
        <p:nvSpPr>
          <p:cNvPr id="103" name="Shape 18">
            <a:extLst>
              <a:ext uri="{FF2B5EF4-FFF2-40B4-BE49-F238E27FC236}">
                <a16:creationId xmlns:a16="http://schemas.microsoft.com/office/drawing/2014/main" id="{EE1D5417-595E-E05D-7D5D-7B0F72213F1E}"/>
              </a:ext>
            </a:extLst>
          </p:cNvPr>
          <p:cNvSpPr/>
          <p:nvPr/>
        </p:nvSpPr>
        <p:spPr>
          <a:xfrm>
            <a:off x="5760720" y="1060704"/>
            <a:ext cx="987552" cy="18288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19">
            <a:extLst>
              <a:ext uri="{FF2B5EF4-FFF2-40B4-BE49-F238E27FC236}">
                <a16:creationId xmlns:a16="http://schemas.microsoft.com/office/drawing/2014/main" id="{7C88BFE2-9C92-7B9E-9A67-EFC9847D1D7F}"/>
              </a:ext>
            </a:extLst>
          </p:cNvPr>
          <p:cNvSpPr/>
          <p:nvPr/>
        </p:nvSpPr>
        <p:spPr>
          <a:xfrm>
            <a:off x="5760720" y="1060704"/>
            <a:ext cx="98755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20">
            <a:extLst>
              <a:ext uri="{FF2B5EF4-FFF2-40B4-BE49-F238E27FC236}">
                <a16:creationId xmlns:a16="http://schemas.microsoft.com/office/drawing/2014/main" id="{17DC6870-237D-A9CC-2304-4010E6080ACD}"/>
              </a:ext>
            </a:extLst>
          </p:cNvPr>
          <p:cNvSpPr/>
          <p:nvPr/>
        </p:nvSpPr>
        <p:spPr>
          <a:xfrm>
            <a:off x="5760720" y="1353312"/>
            <a:ext cx="987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000" dirty="0"/>
          </a:p>
        </p:txBody>
      </p:sp>
      <p:sp>
        <p:nvSpPr>
          <p:cNvPr id="106" name="Text 21">
            <a:extLst>
              <a:ext uri="{FF2B5EF4-FFF2-40B4-BE49-F238E27FC236}">
                <a16:creationId xmlns:a16="http://schemas.microsoft.com/office/drawing/2014/main" id="{1BACE4D8-9033-D94A-3419-09C661538B4D}"/>
              </a:ext>
            </a:extLst>
          </p:cNvPr>
          <p:cNvSpPr/>
          <p:nvPr/>
        </p:nvSpPr>
        <p:spPr>
          <a:xfrm>
            <a:off x="5815584" y="2066544"/>
            <a:ext cx="877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Query Types</a:t>
            </a:r>
            <a:endParaRPr lang="en-US" sz="800" dirty="0"/>
          </a:p>
        </p:txBody>
      </p:sp>
      <p:sp>
        <p:nvSpPr>
          <p:cNvPr id="107" name="Shape 22">
            <a:extLst>
              <a:ext uri="{FF2B5EF4-FFF2-40B4-BE49-F238E27FC236}">
                <a16:creationId xmlns:a16="http://schemas.microsoft.com/office/drawing/2014/main" id="{A8A7242A-3935-AE32-DF68-13C89DB61D63}"/>
              </a:ext>
            </a:extLst>
          </p:cNvPr>
          <p:cNvSpPr/>
          <p:nvPr/>
        </p:nvSpPr>
        <p:spPr>
          <a:xfrm>
            <a:off x="6839712" y="1060704"/>
            <a:ext cx="987552" cy="18288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" name="Shape 23">
            <a:extLst>
              <a:ext uri="{FF2B5EF4-FFF2-40B4-BE49-F238E27FC236}">
                <a16:creationId xmlns:a16="http://schemas.microsoft.com/office/drawing/2014/main" id="{4C0A9EE9-5E63-BA5D-1E21-7E3C5FA44BCE}"/>
              </a:ext>
            </a:extLst>
          </p:cNvPr>
          <p:cNvSpPr/>
          <p:nvPr/>
        </p:nvSpPr>
        <p:spPr>
          <a:xfrm>
            <a:off x="6839712" y="1060704"/>
            <a:ext cx="98755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24">
            <a:extLst>
              <a:ext uri="{FF2B5EF4-FFF2-40B4-BE49-F238E27FC236}">
                <a16:creationId xmlns:a16="http://schemas.microsoft.com/office/drawing/2014/main" id="{A1A31B5B-F640-F11C-851A-8A47B391C9CB}"/>
              </a:ext>
            </a:extLst>
          </p:cNvPr>
          <p:cNvSpPr/>
          <p:nvPr/>
        </p:nvSpPr>
        <p:spPr>
          <a:xfrm>
            <a:off x="6839712" y="1353312"/>
            <a:ext cx="987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000" dirty="0"/>
          </a:p>
        </p:txBody>
      </p:sp>
      <p:sp>
        <p:nvSpPr>
          <p:cNvPr id="110" name="Text 25">
            <a:extLst>
              <a:ext uri="{FF2B5EF4-FFF2-40B4-BE49-F238E27FC236}">
                <a16:creationId xmlns:a16="http://schemas.microsoft.com/office/drawing/2014/main" id="{7DC258C0-C1B5-49CA-36E6-04AAB5664832}"/>
              </a:ext>
            </a:extLst>
          </p:cNvPr>
          <p:cNvSpPr/>
          <p:nvPr/>
        </p:nvSpPr>
        <p:spPr>
          <a:xfrm>
            <a:off x="6894576" y="2066544"/>
            <a:ext cx="877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Categories</a:t>
            </a:r>
            <a:endParaRPr lang="en-US" sz="800" dirty="0"/>
          </a:p>
        </p:txBody>
      </p:sp>
      <p:sp>
        <p:nvSpPr>
          <p:cNvPr id="111" name="Shape 26">
            <a:extLst>
              <a:ext uri="{FF2B5EF4-FFF2-40B4-BE49-F238E27FC236}">
                <a16:creationId xmlns:a16="http://schemas.microsoft.com/office/drawing/2014/main" id="{8A454910-A0F2-E23E-F3AA-B9A12365E7C7}"/>
              </a:ext>
            </a:extLst>
          </p:cNvPr>
          <p:cNvSpPr/>
          <p:nvPr/>
        </p:nvSpPr>
        <p:spPr>
          <a:xfrm>
            <a:off x="7918704" y="1060704"/>
            <a:ext cx="987552" cy="1828800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Shape 27">
            <a:extLst>
              <a:ext uri="{FF2B5EF4-FFF2-40B4-BE49-F238E27FC236}">
                <a16:creationId xmlns:a16="http://schemas.microsoft.com/office/drawing/2014/main" id="{55B463AE-20B9-D702-18EE-3DC159079018}"/>
              </a:ext>
            </a:extLst>
          </p:cNvPr>
          <p:cNvSpPr/>
          <p:nvPr/>
        </p:nvSpPr>
        <p:spPr>
          <a:xfrm>
            <a:off x="7918704" y="1060704"/>
            <a:ext cx="98755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28">
            <a:extLst>
              <a:ext uri="{FF2B5EF4-FFF2-40B4-BE49-F238E27FC236}">
                <a16:creationId xmlns:a16="http://schemas.microsoft.com/office/drawing/2014/main" id="{6052A2CD-490F-5689-73E7-16118BBC6749}"/>
              </a:ext>
            </a:extLst>
          </p:cNvPr>
          <p:cNvSpPr/>
          <p:nvPr/>
        </p:nvSpPr>
        <p:spPr>
          <a:xfrm>
            <a:off x="7918704" y="1353312"/>
            <a:ext cx="987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</a:t>
            </a:r>
            <a:endParaRPr lang="en-US" sz="2000" dirty="0"/>
          </a:p>
        </p:txBody>
      </p:sp>
      <p:sp>
        <p:nvSpPr>
          <p:cNvPr id="114" name="Text 29">
            <a:extLst>
              <a:ext uri="{FF2B5EF4-FFF2-40B4-BE49-F238E27FC236}">
                <a16:creationId xmlns:a16="http://schemas.microsoft.com/office/drawing/2014/main" id="{65C994F8-735C-8BDD-8470-CD7E8BC1895D}"/>
              </a:ext>
            </a:extLst>
          </p:cNvPr>
          <p:cNvSpPr/>
          <p:nvPr/>
        </p:nvSpPr>
        <p:spPr>
          <a:xfrm>
            <a:off x="7973568" y="2066544"/>
            <a:ext cx="877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App</a:t>
            </a:r>
            <a:endParaRPr lang="en-US" sz="800" dirty="0"/>
          </a:p>
        </p:txBody>
      </p:sp>
      <p:sp>
        <p:nvSpPr>
          <p:cNvPr id="115" name="Shape 30">
            <a:extLst>
              <a:ext uri="{FF2B5EF4-FFF2-40B4-BE49-F238E27FC236}">
                <a16:creationId xmlns:a16="http://schemas.microsoft.com/office/drawing/2014/main" id="{76E4EAB4-9772-E7F1-C9DD-023A87709A26}"/>
              </a:ext>
            </a:extLst>
          </p:cNvPr>
          <p:cNvSpPr/>
          <p:nvPr/>
        </p:nvSpPr>
        <p:spPr>
          <a:xfrm>
            <a:off x="347472" y="2944368"/>
            <a:ext cx="2103120" cy="8046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Shape 31">
            <a:extLst>
              <a:ext uri="{FF2B5EF4-FFF2-40B4-BE49-F238E27FC236}">
                <a16:creationId xmlns:a16="http://schemas.microsoft.com/office/drawing/2014/main" id="{A46EB881-E6C5-9E4F-9F33-C2FA96A61CA7}"/>
              </a:ext>
            </a:extLst>
          </p:cNvPr>
          <p:cNvSpPr/>
          <p:nvPr/>
        </p:nvSpPr>
        <p:spPr>
          <a:xfrm>
            <a:off x="347472" y="2944368"/>
            <a:ext cx="21031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32">
            <a:extLst>
              <a:ext uri="{FF2B5EF4-FFF2-40B4-BE49-F238E27FC236}">
                <a16:creationId xmlns:a16="http://schemas.microsoft.com/office/drawing/2014/main" id="{5666A3F4-113A-B6DE-36F5-2757F6FF5E98}"/>
              </a:ext>
            </a:extLst>
          </p:cNvPr>
          <p:cNvSpPr/>
          <p:nvPr/>
        </p:nvSpPr>
        <p:spPr>
          <a:xfrm>
            <a:off x="457200" y="3108960"/>
            <a:ext cx="420624" cy="237744"/>
          </a:xfrm>
          <a:prstGeom prst="rect">
            <a:avLst/>
          </a:prstGeom>
          <a:solidFill>
            <a:srgbClr val="7C3AED">
              <a:alpha val="22000"/>
            </a:srgbClr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33">
            <a:extLst>
              <a:ext uri="{FF2B5EF4-FFF2-40B4-BE49-F238E27FC236}">
                <a16:creationId xmlns:a16="http://schemas.microsoft.com/office/drawing/2014/main" id="{CEA3D322-254D-96D7-E8A8-82D01581EF14}"/>
              </a:ext>
            </a:extLst>
          </p:cNvPr>
          <p:cNvSpPr/>
          <p:nvPr/>
        </p:nvSpPr>
        <p:spPr>
          <a:xfrm>
            <a:off x="457200" y="310896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750" dirty="0"/>
          </a:p>
        </p:txBody>
      </p:sp>
      <p:sp>
        <p:nvSpPr>
          <p:cNvPr id="119" name="Text 34">
            <a:extLst>
              <a:ext uri="{FF2B5EF4-FFF2-40B4-BE49-F238E27FC236}">
                <a16:creationId xmlns:a16="http://schemas.microsoft.com/office/drawing/2014/main" id="{B2D25ED6-69F5-C891-CC21-978676FBF81C}"/>
              </a:ext>
            </a:extLst>
          </p:cNvPr>
          <p:cNvSpPr/>
          <p:nvPr/>
        </p:nvSpPr>
        <p:spPr>
          <a:xfrm>
            <a:off x="950976" y="309067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</a:t>
            </a:r>
            <a:endParaRPr lang="en-US" sz="950" dirty="0"/>
          </a:p>
        </p:txBody>
      </p:sp>
      <p:sp>
        <p:nvSpPr>
          <p:cNvPr id="120" name="Text 35">
            <a:extLst>
              <a:ext uri="{FF2B5EF4-FFF2-40B4-BE49-F238E27FC236}">
                <a16:creationId xmlns:a16="http://schemas.microsoft.com/office/drawing/2014/main" id="{08F5E896-EE71-312F-79ED-492D4A236655}"/>
              </a:ext>
            </a:extLst>
          </p:cNvPr>
          <p:cNvSpPr/>
          <p:nvPr/>
        </p:nvSpPr>
        <p:spPr>
          <a:xfrm>
            <a:off x="950976" y="3346704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categories · budget vs actual</a:t>
            </a:r>
            <a:endParaRPr lang="en-US" sz="800" dirty="0"/>
          </a:p>
        </p:txBody>
      </p:sp>
      <p:sp>
        <p:nvSpPr>
          <p:cNvPr id="121" name="Shape 36">
            <a:extLst>
              <a:ext uri="{FF2B5EF4-FFF2-40B4-BE49-F238E27FC236}">
                <a16:creationId xmlns:a16="http://schemas.microsoft.com/office/drawing/2014/main" id="{2DF323EA-7893-5F1D-9FBE-59785D67C787}"/>
              </a:ext>
            </a:extLst>
          </p:cNvPr>
          <p:cNvSpPr/>
          <p:nvPr/>
        </p:nvSpPr>
        <p:spPr>
          <a:xfrm>
            <a:off x="2540555" y="2944368"/>
            <a:ext cx="2103120" cy="8046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37">
            <a:extLst>
              <a:ext uri="{FF2B5EF4-FFF2-40B4-BE49-F238E27FC236}">
                <a16:creationId xmlns:a16="http://schemas.microsoft.com/office/drawing/2014/main" id="{BE7D6A55-C36D-7160-9E32-D1A357E78CD4}"/>
              </a:ext>
            </a:extLst>
          </p:cNvPr>
          <p:cNvSpPr/>
          <p:nvPr/>
        </p:nvSpPr>
        <p:spPr>
          <a:xfrm>
            <a:off x="2540555" y="2944368"/>
            <a:ext cx="21031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38">
            <a:extLst>
              <a:ext uri="{FF2B5EF4-FFF2-40B4-BE49-F238E27FC236}">
                <a16:creationId xmlns:a16="http://schemas.microsoft.com/office/drawing/2014/main" id="{67FEEC84-3D37-F4C6-8471-5E4C0849D7F6}"/>
              </a:ext>
            </a:extLst>
          </p:cNvPr>
          <p:cNvSpPr/>
          <p:nvPr/>
        </p:nvSpPr>
        <p:spPr>
          <a:xfrm>
            <a:off x="2650283" y="3108960"/>
            <a:ext cx="420624" cy="237744"/>
          </a:xfrm>
          <a:prstGeom prst="rect">
            <a:avLst/>
          </a:prstGeom>
          <a:solidFill>
            <a:srgbClr val="10B981">
              <a:alpha val="22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39">
            <a:extLst>
              <a:ext uri="{FF2B5EF4-FFF2-40B4-BE49-F238E27FC236}">
                <a16:creationId xmlns:a16="http://schemas.microsoft.com/office/drawing/2014/main" id="{E513F5DE-C1CB-4D1B-3794-70C7B55132D6}"/>
              </a:ext>
            </a:extLst>
          </p:cNvPr>
          <p:cNvSpPr/>
          <p:nvPr/>
        </p:nvSpPr>
        <p:spPr>
          <a:xfrm>
            <a:off x="2650283" y="310896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</a:t>
            </a:r>
            <a:endParaRPr lang="en-US" sz="750" dirty="0"/>
          </a:p>
        </p:txBody>
      </p:sp>
      <p:sp>
        <p:nvSpPr>
          <p:cNvPr id="125" name="Text 40">
            <a:extLst>
              <a:ext uri="{FF2B5EF4-FFF2-40B4-BE49-F238E27FC236}">
                <a16:creationId xmlns:a16="http://schemas.microsoft.com/office/drawing/2014/main" id="{D1E6206C-799F-E675-5FBF-7FBE20416CDB}"/>
              </a:ext>
            </a:extLst>
          </p:cNvPr>
          <p:cNvSpPr/>
          <p:nvPr/>
        </p:nvSpPr>
        <p:spPr>
          <a:xfrm>
            <a:off x="3144059" y="309067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Management</a:t>
            </a:r>
            <a:endParaRPr lang="en-US" sz="950" dirty="0"/>
          </a:p>
        </p:txBody>
      </p:sp>
      <p:sp>
        <p:nvSpPr>
          <p:cNvPr id="126" name="Text 41">
            <a:extLst>
              <a:ext uri="{FF2B5EF4-FFF2-40B4-BE49-F238E27FC236}">
                <a16:creationId xmlns:a16="http://schemas.microsoft.com/office/drawing/2014/main" id="{5FE5EAA2-4C8C-510E-D62A-0E47593CF1F5}"/>
              </a:ext>
            </a:extLst>
          </p:cNvPr>
          <p:cNvSpPr/>
          <p:nvPr/>
        </p:nvSpPr>
        <p:spPr>
          <a:xfrm>
            <a:off x="3144059" y="3346704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· freelance · rental · biz</a:t>
            </a:r>
            <a:endParaRPr lang="en-US" sz="800" dirty="0"/>
          </a:p>
        </p:txBody>
      </p:sp>
      <p:sp>
        <p:nvSpPr>
          <p:cNvPr id="127" name="Shape 42">
            <a:extLst>
              <a:ext uri="{FF2B5EF4-FFF2-40B4-BE49-F238E27FC236}">
                <a16:creationId xmlns:a16="http://schemas.microsoft.com/office/drawing/2014/main" id="{E9AC5373-1CF8-7E6E-F19F-6C017AFF67BF}"/>
              </a:ext>
            </a:extLst>
          </p:cNvPr>
          <p:cNvSpPr/>
          <p:nvPr/>
        </p:nvSpPr>
        <p:spPr>
          <a:xfrm>
            <a:off x="4739817" y="2944368"/>
            <a:ext cx="2103120" cy="8046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8" name="Shape 43">
            <a:extLst>
              <a:ext uri="{FF2B5EF4-FFF2-40B4-BE49-F238E27FC236}">
                <a16:creationId xmlns:a16="http://schemas.microsoft.com/office/drawing/2014/main" id="{D05D464B-64CC-2266-9F5F-B5C8534DC32C}"/>
              </a:ext>
            </a:extLst>
          </p:cNvPr>
          <p:cNvSpPr/>
          <p:nvPr/>
        </p:nvSpPr>
        <p:spPr>
          <a:xfrm>
            <a:off x="4739817" y="2944368"/>
            <a:ext cx="21031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44">
            <a:extLst>
              <a:ext uri="{FF2B5EF4-FFF2-40B4-BE49-F238E27FC236}">
                <a16:creationId xmlns:a16="http://schemas.microsoft.com/office/drawing/2014/main" id="{9CCA9A80-9F78-CAE5-18CF-DADA11827DD4}"/>
              </a:ext>
            </a:extLst>
          </p:cNvPr>
          <p:cNvSpPr/>
          <p:nvPr/>
        </p:nvSpPr>
        <p:spPr>
          <a:xfrm>
            <a:off x="4849545" y="3108960"/>
            <a:ext cx="420624" cy="237744"/>
          </a:xfrm>
          <a:prstGeom prst="rect">
            <a:avLst/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45">
            <a:extLst>
              <a:ext uri="{FF2B5EF4-FFF2-40B4-BE49-F238E27FC236}">
                <a16:creationId xmlns:a16="http://schemas.microsoft.com/office/drawing/2014/main" id="{822F5F0A-18A4-C77E-C090-D19161B605B0}"/>
              </a:ext>
            </a:extLst>
          </p:cNvPr>
          <p:cNvSpPr/>
          <p:nvPr/>
        </p:nvSpPr>
        <p:spPr>
          <a:xfrm>
            <a:off x="4849545" y="310896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</a:t>
            </a:r>
            <a:endParaRPr lang="en-US" sz="750" dirty="0"/>
          </a:p>
        </p:txBody>
      </p:sp>
      <p:sp>
        <p:nvSpPr>
          <p:cNvPr id="131" name="Text 46">
            <a:extLst>
              <a:ext uri="{FF2B5EF4-FFF2-40B4-BE49-F238E27FC236}">
                <a16:creationId xmlns:a16="http://schemas.microsoft.com/office/drawing/2014/main" id="{CF059CC1-0990-5299-CA65-FACE858E4811}"/>
              </a:ext>
            </a:extLst>
          </p:cNvPr>
          <p:cNvSpPr/>
          <p:nvPr/>
        </p:nvSpPr>
        <p:spPr>
          <a:xfrm>
            <a:off x="5343321" y="309067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Reminders</a:t>
            </a:r>
            <a:endParaRPr lang="en-US" sz="950" dirty="0"/>
          </a:p>
        </p:txBody>
      </p:sp>
      <p:sp>
        <p:nvSpPr>
          <p:cNvPr id="132" name="Text 47">
            <a:extLst>
              <a:ext uri="{FF2B5EF4-FFF2-40B4-BE49-F238E27FC236}">
                <a16:creationId xmlns:a16="http://schemas.microsoft.com/office/drawing/2014/main" id="{866A0DAE-4E64-FF21-BAE0-F90A8325B826}"/>
              </a:ext>
            </a:extLst>
          </p:cNvPr>
          <p:cNvSpPr/>
          <p:nvPr/>
        </p:nvSpPr>
        <p:spPr>
          <a:xfrm>
            <a:off x="5343321" y="3346704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· EMI · insurance premiums</a:t>
            </a:r>
            <a:endParaRPr lang="en-US" sz="800" dirty="0"/>
          </a:p>
        </p:txBody>
      </p:sp>
      <p:sp>
        <p:nvSpPr>
          <p:cNvPr id="133" name="Shape 48">
            <a:extLst>
              <a:ext uri="{FF2B5EF4-FFF2-40B4-BE49-F238E27FC236}">
                <a16:creationId xmlns:a16="http://schemas.microsoft.com/office/drawing/2014/main" id="{426C8AF5-77D4-C304-11C3-2D460B993313}"/>
              </a:ext>
            </a:extLst>
          </p:cNvPr>
          <p:cNvSpPr/>
          <p:nvPr/>
        </p:nvSpPr>
        <p:spPr>
          <a:xfrm>
            <a:off x="6926723" y="2944368"/>
            <a:ext cx="2103120" cy="8046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4" name="Shape 49">
            <a:extLst>
              <a:ext uri="{FF2B5EF4-FFF2-40B4-BE49-F238E27FC236}">
                <a16:creationId xmlns:a16="http://schemas.microsoft.com/office/drawing/2014/main" id="{B77A0200-0160-2B7F-BBDF-ACA4CCF724DE}"/>
              </a:ext>
            </a:extLst>
          </p:cNvPr>
          <p:cNvSpPr/>
          <p:nvPr/>
        </p:nvSpPr>
        <p:spPr>
          <a:xfrm>
            <a:off x="6926723" y="2944368"/>
            <a:ext cx="210312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50">
            <a:extLst>
              <a:ext uri="{FF2B5EF4-FFF2-40B4-BE49-F238E27FC236}">
                <a16:creationId xmlns:a16="http://schemas.microsoft.com/office/drawing/2014/main" id="{D09D23FB-C5E1-D5F9-1972-F7509632D54E}"/>
              </a:ext>
            </a:extLst>
          </p:cNvPr>
          <p:cNvSpPr/>
          <p:nvPr/>
        </p:nvSpPr>
        <p:spPr>
          <a:xfrm>
            <a:off x="7036451" y="3108960"/>
            <a:ext cx="420624" cy="237744"/>
          </a:xfrm>
          <a:prstGeom prst="rect">
            <a:avLst/>
          </a:prstGeom>
          <a:solidFill>
            <a:srgbClr val="06B6D4">
              <a:alpha val="22000"/>
            </a:srgbClr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51">
            <a:extLst>
              <a:ext uri="{FF2B5EF4-FFF2-40B4-BE49-F238E27FC236}">
                <a16:creationId xmlns:a16="http://schemas.microsoft.com/office/drawing/2014/main" id="{C1742593-BF9B-ED3D-C839-074AA76DC0CD}"/>
              </a:ext>
            </a:extLst>
          </p:cNvPr>
          <p:cNvSpPr/>
          <p:nvPr/>
        </p:nvSpPr>
        <p:spPr>
          <a:xfrm>
            <a:off x="7036451" y="310896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</a:t>
            </a:r>
            <a:endParaRPr lang="en-US" sz="750" dirty="0"/>
          </a:p>
        </p:txBody>
      </p:sp>
      <p:sp>
        <p:nvSpPr>
          <p:cNvPr id="137" name="Text 52">
            <a:extLst>
              <a:ext uri="{FF2B5EF4-FFF2-40B4-BE49-F238E27FC236}">
                <a16:creationId xmlns:a16="http://schemas.microsoft.com/office/drawing/2014/main" id="{D8E9E068-6D7A-F421-6AB5-5A112E0C8267}"/>
              </a:ext>
            </a:extLst>
          </p:cNvPr>
          <p:cNvSpPr/>
          <p:nvPr/>
        </p:nvSpPr>
        <p:spPr>
          <a:xfrm>
            <a:off x="7530227" y="309067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Goals</a:t>
            </a:r>
            <a:endParaRPr lang="en-US" sz="950" dirty="0"/>
          </a:p>
        </p:txBody>
      </p:sp>
      <p:sp>
        <p:nvSpPr>
          <p:cNvPr id="138" name="Text 53">
            <a:extLst>
              <a:ext uri="{FF2B5EF4-FFF2-40B4-BE49-F238E27FC236}">
                <a16:creationId xmlns:a16="http://schemas.microsoft.com/office/drawing/2014/main" id="{08D9FC83-9084-C1B5-DC89-AE079A9179F4}"/>
              </a:ext>
            </a:extLst>
          </p:cNvPr>
          <p:cNvSpPr/>
          <p:nvPr/>
        </p:nvSpPr>
        <p:spPr>
          <a:xfrm>
            <a:off x="7530227" y="3346704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+ progress + deadline</a:t>
            </a:r>
            <a:endParaRPr lang="en-US" sz="800" dirty="0"/>
          </a:p>
        </p:txBody>
      </p:sp>
      <p:sp>
        <p:nvSpPr>
          <p:cNvPr id="139" name="Shape 54">
            <a:extLst>
              <a:ext uri="{FF2B5EF4-FFF2-40B4-BE49-F238E27FC236}">
                <a16:creationId xmlns:a16="http://schemas.microsoft.com/office/drawing/2014/main" id="{48CEC382-EBA8-F280-13BC-697AB50B7C9C}"/>
              </a:ext>
            </a:extLst>
          </p:cNvPr>
          <p:cNvSpPr/>
          <p:nvPr/>
        </p:nvSpPr>
        <p:spPr>
          <a:xfrm>
            <a:off x="347472" y="3858768"/>
            <a:ext cx="2103120" cy="8046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0" name="Shape 55">
            <a:extLst>
              <a:ext uri="{FF2B5EF4-FFF2-40B4-BE49-F238E27FC236}">
                <a16:creationId xmlns:a16="http://schemas.microsoft.com/office/drawing/2014/main" id="{937CB4F4-CF2B-75B6-6C5C-3DE82EEA5149}"/>
              </a:ext>
            </a:extLst>
          </p:cNvPr>
          <p:cNvSpPr/>
          <p:nvPr/>
        </p:nvSpPr>
        <p:spPr>
          <a:xfrm>
            <a:off x="347472" y="3858768"/>
            <a:ext cx="21031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56">
            <a:extLst>
              <a:ext uri="{FF2B5EF4-FFF2-40B4-BE49-F238E27FC236}">
                <a16:creationId xmlns:a16="http://schemas.microsoft.com/office/drawing/2014/main" id="{42196E3D-6C8F-E637-D694-FBF85EE19C94}"/>
              </a:ext>
            </a:extLst>
          </p:cNvPr>
          <p:cNvSpPr/>
          <p:nvPr/>
        </p:nvSpPr>
        <p:spPr>
          <a:xfrm>
            <a:off x="457200" y="4023360"/>
            <a:ext cx="420624" cy="237744"/>
          </a:xfrm>
          <a:prstGeom prst="rect">
            <a:avLst/>
          </a:prstGeom>
          <a:solidFill>
            <a:srgbClr val="F97316">
              <a:alpha val="22000"/>
            </a:srgbClr>
          </a:solidFill>
          <a:ln w="101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57">
            <a:extLst>
              <a:ext uri="{FF2B5EF4-FFF2-40B4-BE49-F238E27FC236}">
                <a16:creationId xmlns:a16="http://schemas.microsoft.com/office/drawing/2014/main" id="{94F0DED9-6ED1-40C1-C515-E2FCFE6876F0}"/>
              </a:ext>
            </a:extLst>
          </p:cNvPr>
          <p:cNvSpPr/>
          <p:nvPr/>
        </p:nvSpPr>
        <p:spPr>
          <a:xfrm>
            <a:off x="457200" y="402336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</a:t>
            </a:r>
            <a:endParaRPr lang="en-US" sz="750" dirty="0"/>
          </a:p>
        </p:txBody>
      </p:sp>
      <p:sp>
        <p:nvSpPr>
          <p:cNvPr id="143" name="Text 58">
            <a:extLst>
              <a:ext uri="{FF2B5EF4-FFF2-40B4-BE49-F238E27FC236}">
                <a16:creationId xmlns:a16="http://schemas.microsoft.com/office/drawing/2014/main" id="{1930A4AB-E139-35CD-A28C-3787048D51C8}"/>
              </a:ext>
            </a:extLst>
          </p:cNvPr>
          <p:cNvSpPr/>
          <p:nvPr/>
        </p:nvSpPr>
        <p:spPr>
          <a:xfrm>
            <a:off x="950976" y="400507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Tracker</a:t>
            </a:r>
            <a:endParaRPr lang="en-US" sz="950" dirty="0"/>
          </a:p>
        </p:txBody>
      </p:sp>
      <p:sp>
        <p:nvSpPr>
          <p:cNvPr id="144" name="Text 59">
            <a:extLst>
              <a:ext uri="{FF2B5EF4-FFF2-40B4-BE49-F238E27FC236}">
                <a16:creationId xmlns:a16="http://schemas.microsoft.com/office/drawing/2014/main" id="{60457970-C62E-3553-0BAD-3DDA3CC267CB}"/>
              </a:ext>
            </a:extLst>
          </p:cNvPr>
          <p:cNvSpPr/>
          <p:nvPr/>
        </p:nvSpPr>
        <p:spPr>
          <a:xfrm>
            <a:off x="950976" y="4261104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FY-wise DPS &amp; total dividends</a:t>
            </a:r>
            <a:endParaRPr lang="en-US" sz="800" dirty="0"/>
          </a:p>
        </p:txBody>
      </p:sp>
      <p:sp>
        <p:nvSpPr>
          <p:cNvPr id="145" name="Shape 60">
            <a:extLst>
              <a:ext uri="{FF2B5EF4-FFF2-40B4-BE49-F238E27FC236}">
                <a16:creationId xmlns:a16="http://schemas.microsoft.com/office/drawing/2014/main" id="{18E10419-8CA1-DE77-C459-EAE1C7EA7167}"/>
              </a:ext>
            </a:extLst>
          </p:cNvPr>
          <p:cNvSpPr/>
          <p:nvPr/>
        </p:nvSpPr>
        <p:spPr>
          <a:xfrm>
            <a:off x="2540555" y="3858768"/>
            <a:ext cx="2103120" cy="8046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6" name="Shape 61">
            <a:extLst>
              <a:ext uri="{FF2B5EF4-FFF2-40B4-BE49-F238E27FC236}">
                <a16:creationId xmlns:a16="http://schemas.microsoft.com/office/drawing/2014/main" id="{84D6AA9F-E129-9FCE-9D23-1F87D690F813}"/>
              </a:ext>
            </a:extLst>
          </p:cNvPr>
          <p:cNvSpPr/>
          <p:nvPr/>
        </p:nvSpPr>
        <p:spPr>
          <a:xfrm>
            <a:off x="2540555" y="3858768"/>
            <a:ext cx="210312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62">
            <a:extLst>
              <a:ext uri="{FF2B5EF4-FFF2-40B4-BE49-F238E27FC236}">
                <a16:creationId xmlns:a16="http://schemas.microsoft.com/office/drawing/2014/main" id="{26E01F01-A3FA-D52D-DE4A-6863EB27A804}"/>
              </a:ext>
            </a:extLst>
          </p:cNvPr>
          <p:cNvSpPr/>
          <p:nvPr/>
        </p:nvSpPr>
        <p:spPr>
          <a:xfrm>
            <a:off x="2650283" y="4023360"/>
            <a:ext cx="420624" cy="237744"/>
          </a:xfrm>
          <a:prstGeom prst="rect">
            <a:avLst/>
          </a:prstGeom>
          <a:solidFill>
            <a:srgbClr val="A78BFA">
              <a:alpha val="22000"/>
            </a:srgbClr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63">
            <a:extLst>
              <a:ext uri="{FF2B5EF4-FFF2-40B4-BE49-F238E27FC236}">
                <a16:creationId xmlns:a16="http://schemas.microsoft.com/office/drawing/2014/main" id="{641C4027-818C-9493-A9A4-2304FF91FAB9}"/>
              </a:ext>
            </a:extLst>
          </p:cNvPr>
          <p:cNvSpPr/>
          <p:nvPr/>
        </p:nvSpPr>
        <p:spPr>
          <a:xfrm>
            <a:off x="2650283" y="402336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750" dirty="0"/>
          </a:p>
        </p:txBody>
      </p:sp>
      <p:sp>
        <p:nvSpPr>
          <p:cNvPr id="149" name="Text 64">
            <a:extLst>
              <a:ext uri="{FF2B5EF4-FFF2-40B4-BE49-F238E27FC236}">
                <a16:creationId xmlns:a16="http://schemas.microsoft.com/office/drawing/2014/main" id="{A3D964DE-CCE0-814E-8AC4-52DA7C7D1DCC}"/>
              </a:ext>
            </a:extLst>
          </p:cNvPr>
          <p:cNvSpPr/>
          <p:nvPr/>
        </p:nvSpPr>
        <p:spPr>
          <a:xfrm>
            <a:off x="3144059" y="400507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</a:t>
            </a:r>
            <a:endParaRPr lang="en-US" sz="950" dirty="0"/>
          </a:p>
        </p:txBody>
      </p:sp>
      <p:sp>
        <p:nvSpPr>
          <p:cNvPr id="150" name="Text 65">
            <a:extLst>
              <a:ext uri="{FF2B5EF4-FFF2-40B4-BE49-F238E27FC236}">
                <a16:creationId xmlns:a16="http://schemas.microsoft.com/office/drawing/2014/main" id="{426F19C7-A063-B2EA-ADFA-3C0F1054D829}"/>
              </a:ext>
            </a:extLst>
          </p:cNvPr>
          <p:cNvSpPr/>
          <p:nvPr/>
        </p:nvSpPr>
        <p:spPr>
          <a:xfrm>
            <a:off x="3144059" y="4261104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SIP · lump sum · years</a:t>
            </a:r>
            <a:endParaRPr lang="en-US" sz="800" dirty="0"/>
          </a:p>
        </p:txBody>
      </p:sp>
      <p:sp>
        <p:nvSpPr>
          <p:cNvPr id="151" name="Shape 66">
            <a:extLst>
              <a:ext uri="{FF2B5EF4-FFF2-40B4-BE49-F238E27FC236}">
                <a16:creationId xmlns:a16="http://schemas.microsoft.com/office/drawing/2014/main" id="{36979075-D14F-BB23-F099-4D6F534561C2}"/>
              </a:ext>
            </a:extLst>
          </p:cNvPr>
          <p:cNvSpPr/>
          <p:nvPr/>
        </p:nvSpPr>
        <p:spPr>
          <a:xfrm>
            <a:off x="4739817" y="3858768"/>
            <a:ext cx="2103120" cy="8046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Shape 67">
            <a:extLst>
              <a:ext uri="{FF2B5EF4-FFF2-40B4-BE49-F238E27FC236}">
                <a16:creationId xmlns:a16="http://schemas.microsoft.com/office/drawing/2014/main" id="{F8E3CD92-75F2-821B-71BE-3E480177D44A}"/>
              </a:ext>
            </a:extLst>
          </p:cNvPr>
          <p:cNvSpPr/>
          <p:nvPr/>
        </p:nvSpPr>
        <p:spPr>
          <a:xfrm>
            <a:off x="4739817" y="3858768"/>
            <a:ext cx="210312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68">
            <a:extLst>
              <a:ext uri="{FF2B5EF4-FFF2-40B4-BE49-F238E27FC236}">
                <a16:creationId xmlns:a16="http://schemas.microsoft.com/office/drawing/2014/main" id="{1EE653DC-A653-CF7B-1222-DF7F01346CB8}"/>
              </a:ext>
            </a:extLst>
          </p:cNvPr>
          <p:cNvSpPr/>
          <p:nvPr/>
        </p:nvSpPr>
        <p:spPr>
          <a:xfrm>
            <a:off x="4849545" y="4023360"/>
            <a:ext cx="420624" cy="237744"/>
          </a:xfrm>
          <a:prstGeom prst="rect">
            <a:avLst/>
          </a:prstGeom>
          <a:solidFill>
            <a:srgbClr val="94A3B8">
              <a:alpha val="22000"/>
            </a:srgbClr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69">
            <a:extLst>
              <a:ext uri="{FF2B5EF4-FFF2-40B4-BE49-F238E27FC236}">
                <a16:creationId xmlns:a16="http://schemas.microsoft.com/office/drawing/2014/main" id="{7F3E9FA6-2D24-2EC4-E324-5C9C46FE44A4}"/>
              </a:ext>
            </a:extLst>
          </p:cNvPr>
          <p:cNvSpPr/>
          <p:nvPr/>
        </p:nvSpPr>
        <p:spPr>
          <a:xfrm>
            <a:off x="4849545" y="402336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750" dirty="0"/>
          </a:p>
        </p:txBody>
      </p:sp>
      <p:sp>
        <p:nvSpPr>
          <p:cNvPr id="155" name="Text 70">
            <a:extLst>
              <a:ext uri="{FF2B5EF4-FFF2-40B4-BE49-F238E27FC236}">
                <a16:creationId xmlns:a16="http://schemas.microsoft.com/office/drawing/2014/main" id="{A2FE55E4-AE44-A535-EE64-AE3F19058EAE}"/>
              </a:ext>
            </a:extLst>
          </p:cNvPr>
          <p:cNvSpPr/>
          <p:nvPr/>
        </p:nvSpPr>
        <p:spPr>
          <a:xfrm>
            <a:off x="5343321" y="400507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</a:t>
            </a:r>
            <a:endParaRPr lang="en-US" sz="950" dirty="0"/>
          </a:p>
        </p:txBody>
      </p:sp>
      <p:sp>
        <p:nvSpPr>
          <p:cNvPr id="156" name="Text 71">
            <a:extLst>
              <a:ext uri="{FF2B5EF4-FFF2-40B4-BE49-F238E27FC236}">
                <a16:creationId xmlns:a16="http://schemas.microsoft.com/office/drawing/2014/main" id="{481ECA39-ED8B-6429-7C9C-E5A4D1AA27FF}"/>
              </a:ext>
            </a:extLst>
          </p:cNvPr>
          <p:cNvSpPr/>
          <p:nvPr/>
        </p:nvSpPr>
        <p:spPr>
          <a:xfrm>
            <a:off x="5343321" y="4261104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audit trail</a:t>
            </a:r>
            <a:endParaRPr lang="en-US" sz="800" dirty="0"/>
          </a:p>
        </p:txBody>
      </p:sp>
      <p:sp>
        <p:nvSpPr>
          <p:cNvPr id="157" name="Shape 72">
            <a:extLst>
              <a:ext uri="{FF2B5EF4-FFF2-40B4-BE49-F238E27FC236}">
                <a16:creationId xmlns:a16="http://schemas.microsoft.com/office/drawing/2014/main" id="{6EAD1C37-356D-56BD-B4F3-B96C24EF350B}"/>
              </a:ext>
            </a:extLst>
          </p:cNvPr>
          <p:cNvSpPr/>
          <p:nvPr/>
        </p:nvSpPr>
        <p:spPr>
          <a:xfrm>
            <a:off x="6926723" y="3858768"/>
            <a:ext cx="2103120" cy="8046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8" name="Shape 73">
            <a:extLst>
              <a:ext uri="{FF2B5EF4-FFF2-40B4-BE49-F238E27FC236}">
                <a16:creationId xmlns:a16="http://schemas.microsoft.com/office/drawing/2014/main" id="{2B796495-AB2D-58CB-C519-1F307B9BCBC7}"/>
              </a:ext>
            </a:extLst>
          </p:cNvPr>
          <p:cNvSpPr/>
          <p:nvPr/>
        </p:nvSpPr>
        <p:spPr>
          <a:xfrm>
            <a:off x="6926723" y="3858768"/>
            <a:ext cx="21031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74">
            <a:extLst>
              <a:ext uri="{FF2B5EF4-FFF2-40B4-BE49-F238E27FC236}">
                <a16:creationId xmlns:a16="http://schemas.microsoft.com/office/drawing/2014/main" id="{C1935A0E-656B-6C5F-775D-88FA9412D3C8}"/>
              </a:ext>
            </a:extLst>
          </p:cNvPr>
          <p:cNvSpPr/>
          <p:nvPr/>
        </p:nvSpPr>
        <p:spPr>
          <a:xfrm>
            <a:off x="7036451" y="4023360"/>
            <a:ext cx="420624" cy="237744"/>
          </a:xfrm>
          <a:prstGeom prst="rect">
            <a:avLst/>
          </a:prstGeom>
          <a:solidFill>
            <a:srgbClr val="2563EB">
              <a:alpha val="22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75">
            <a:extLst>
              <a:ext uri="{FF2B5EF4-FFF2-40B4-BE49-F238E27FC236}">
                <a16:creationId xmlns:a16="http://schemas.microsoft.com/office/drawing/2014/main" id="{910039EA-39F0-0D67-9F40-A41E163AB55B}"/>
              </a:ext>
            </a:extLst>
          </p:cNvPr>
          <p:cNvSpPr/>
          <p:nvPr/>
        </p:nvSpPr>
        <p:spPr>
          <a:xfrm>
            <a:off x="7036451" y="402336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</a:t>
            </a:r>
            <a:endParaRPr lang="en-US" sz="750" dirty="0"/>
          </a:p>
        </p:txBody>
      </p:sp>
      <p:sp>
        <p:nvSpPr>
          <p:cNvPr id="161" name="Text 76">
            <a:extLst>
              <a:ext uri="{FF2B5EF4-FFF2-40B4-BE49-F238E27FC236}">
                <a16:creationId xmlns:a16="http://schemas.microsoft.com/office/drawing/2014/main" id="{44569E22-11A4-0761-53FC-AC32CE870B58}"/>
              </a:ext>
            </a:extLst>
          </p:cNvPr>
          <p:cNvSpPr/>
          <p:nvPr/>
        </p:nvSpPr>
        <p:spPr>
          <a:xfrm>
            <a:off x="7530227" y="400507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</a:t>
            </a:r>
            <a:endParaRPr lang="en-US" sz="950" dirty="0"/>
          </a:p>
        </p:txBody>
      </p:sp>
      <p:sp>
        <p:nvSpPr>
          <p:cNvPr id="162" name="Text 77">
            <a:extLst>
              <a:ext uri="{FF2B5EF4-FFF2-40B4-BE49-F238E27FC236}">
                <a16:creationId xmlns:a16="http://schemas.microsoft.com/office/drawing/2014/main" id="{4D606F99-D78B-6B45-6C17-A852BAA5371F}"/>
              </a:ext>
            </a:extLst>
          </p:cNvPr>
          <p:cNvSpPr/>
          <p:nvPr/>
        </p:nvSpPr>
        <p:spPr>
          <a:xfrm>
            <a:off x="7530227" y="4261104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toggle for any preference</a:t>
            </a:r>
            <a:endParaRPr lang="en-US" sz="800" dirty="0"/>
          </a:p>
        </p:txBody>
      </p:sp>
      <p:sp>
        <p:nvSpPr>
          <p:cNvPr id="163" name="Text 78">
            <a:extLst>
              <a:ext uri="{FF2B5EF4-FFF2-40B4-BE49-F238E27FC236}">
                <a16:creationId xmlns:a16="http://schemas.microsoft.com/office/drawing/2014/main" id="{6647DDAA-55D9-8798-C3D1-F0BE8DB19219}"/>
              </a:ext>
            </a:extLst>
          </p:cNvPr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8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164" name="Text 79">
            <a:extLst>
              <a:ext uri="{FF2B5EF4-FFF2-40B4-BE49-F238E27FC236}">
                <a16:creationId xmlns:a16="http://schemas.microsoft.com/office/drawing/2014/main" id="{D16AA81D-983F-E474-7D6B-ECF261E6EB82}"/>
              </a:ext>
            </a:extLst>
          </p:cNvPr>
          <p:cNvSpPr/>
          <p:nvPr/>
        </p:nvSpPr>
        <p:spPr>
          <a:xfrm>
            <a:off x="8353187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BAA23-55D2-CA44-100C-A890DB688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3112D7-A82F-0AD9-9AE8-0CAEB3286BD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5EABC8F-4327-4D18-744D-9499003085EC}"/>
              </a:ext>
            </a:extLst>
          </p:cNvPr>
          <p:cNvSpPr/>
          <p:nvPr/>
        </p:nvSpPr>
        <p:spPr>
          <a:xfrm>
            <a:off x="457200" y="182880"/>
            <a:ext cx="1161288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BB71FD-1981-1673-3805-54B6AA191E15}"/>
              </a:ext>
            </a:extLst>
          </p:cNvPr>
          <p:cNvSpPr/>
          <p:nvPr/>
        </p:nvSpPr>
        <p:spPr>
          <a:xfrm>
            <a:off x="594360" y="192024"/>
            <a:ext cx="1069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F8B5DB-560B-C18D-B091-2FD6F3EFCFFD}"/>
              </a:ext>
            </a:extLst>
          </p:cNvPr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Different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509CB7A-3D76-FCFA-7E67-54CC99DDA901}"/>
              </a:ext>
            </a:extLst>
          </p:cNvPr>
          <p:cNvSpPr/>
          <p:nvPr/>
        </p:nvSpPr>
        <p:spPr>
          <a:xfrm>
            <a:off x="6656832" y="475488"/>
            <a:ext cx="1005840" cy="71323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47190D-5BCA-6887-0719-7397BFB83EAE}"/>
              </a:ext>
            </a:extLst>
          </p:cNvPr>
          <p:cNvSpPr/>
          <p:nvPr/>
        </p:nvSpPr>
        <p:spPr>
          <a:xfrm>
            <a:off x="6656832" y="5303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~5K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568D2C-171B-9971-FDD8-63DD1881927B}"/>
              </a:ext>
            </a:extLst>
          </p:cNvPr>
          <p:cNvSpPr/>
          <p:nvPr/>
        </p:nvSpPr>
        <p:spPr>
          <a:xfrm>
            <a:off x="6656832" y="8961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per file</a:t>
            </a:r>
            <a:endParaRPr lang="en-US" sz="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20DFBEE-D35E-7EE7-372F-4514C149D99C}"/>
              </a:ext>
            </a:extLst>
          </p:cNvPr>
          <p:cNvSpPr/>
          <p:nvPr/>
        </p:nvSpPr>
        <p:spPr>
          <a:xfrm>
            <a:off x="7754112" y="475488"/>
            <a:ext cx="1005840" cy="71323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BAF6BD5-1950-68B9-A430-E78D9ED2A2FD}"/>
              </a:ext>
            </a:extLst>
          </p:cNvPr>
          <p:cNvSpPr/>
          <p:nvPr/>
        </p:nvSpPr>
        <p:spPr>
          <a:xfrm>
            <a:off x="7754112" y="5303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68BC697-03F3-7A6D-37B0-6CB35E8D4646}"/>
              </a:ext>
            </a:extLst>
          </p:cNvPr>
          <p:cNvSpPr/>
          <p:nvPr/>
        </p:nvSpPr>
        <p:spPr>
          <a:xfrm>
            <a:off x="7754112" y="8961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packages</a:t>
            </a:r>
            <a:endParaRPr lang="en-US" sz="7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E9D91FE-EC3C-56E8-5009-8AA7DF7569EC}"/>
              </a:ext>
            </a:extLst>
          </p:cNvPr>
          <p:cNvSpPr/>
          <p:nvPr/>
        </p:nvSpPr>
        <p:spPr>
          <a:xfrm>
            <a:off x="6656832" y="1280160"/>
            <a:ext cx="1005840" cy="71323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84760F-7E5A-568C-21F2-E3E72C97BE5D}"/>
              </a:ext>
            </a:extLst>
          </p:cNvPr>
          <p:cNvSpPr/>
          <p:nvPr/>
        </p:nvSpPr>
        <p:spPr>
          <a:xfrm>
            <a:off x="6656832" y="133502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4D154DB-12B6-C717-C03D-45EC2E9788C7}"/>
              </a:ext>
            </a:extLst>
          </p:cNvPr>
          <p:cNvSpPr/>
          <p:nvPr/>
        </p:nvSpPr>
        <p:spPr>
          <a:xfrm>
            <a:off x="6656832" y="17007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file / app</a:t>
            </a:r>
            <a:endParaRPr lang="en-US" sz="7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F9E62C1-A174-88EE-D16E-D6D6F9F0AD98}"/>
              </a:ext>
            </a:extLst>
          </p:cNvPr>
          <p:cNvSpPr/>
          <p:nvPr/>
        </p:nvSpPr>
        <p:spPr>
          <a:xfrm>
            <a:off x="7754112" y="1280160"/>
            <a:ext cx="1005840" cy="71323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C5A7673-A874-4489-F1C2-2CE135DDBBE7}"/>
              </a:ext>
            </a:extLst>
          </p:cNvPr>
          <p:cNvSpPr/>
          <p:nvPr/>
        </p:nvSpPr>
        <p:spPr>
          <a:xfrm>
            <a:off x="7754112" y="133502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B22CAA0-76B0-8A93-2A5C-0DB68BBFCF58}"/>
              </a:ext>
            </a:extLst>
          </p:cNvPr>
          <p:cNvSpPr/>
          <p:nvPr/>
        </p:nvSpPr>
        <p:spPr>
          <a:xfrm>
            <a:off x="7754112" y="17007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7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3BA1434-24F5-6F8E-BFF1-0E21FB9EA9EF}"/>
              </a:ext>
            </a:extLst>
          </p:cNvPr>
          <p:cNvSpPr/>
          <p:nvPr/>
        </p:nvSpPr>
        <p:spPr>
          <a:xfrm>
            <a:off x="347472" y="1170432"/>
            <a:ext cx="5943600" cy="804672"/>
          </a:xfrm>
          <a:prstGeom prst="rect">
            <a:avLst/>
          </a:prstGeom>
          <a:solidFill>
            <a:srgbClr val="0D1020"/>
          </a:solidFill>
          <a:ln w="12700">
            <a:solidFill>
              <a:srgbClr val="0D102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6482138-230C-4571-9875-00990FA7128B}"/>
              </a:ext>
            </a:extLst>
          </p:cNvPr>
          <p:cNvSpPr/>
          <p:nvPr/>
        </p:nvSpPr>
        <p:spPr>
          <a:xfrm>
            <a:off x="502920" y="12252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/  PWA</a:t>
            </a:r>
            <a:endParaRPr lang="en-US" sz="9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87F5CB8-A1C5-B93F-2950-1899954C0C15}"/>
              </a:ext>
            </a:extLst>
          </p:cNvPr>
          <p:cNvSpPr/>
          <p:nvPr/>
        </p:nvSpPr>
        <p:spPr>
          <a:xfrm>
            <a:off x="502920" y="1481328"/>
            <a:ext cx="1792224" cy="365760"/>
          </a:xfrm>
          <a:prstGeom prst="rect">
            <a:avLst/>
          </a:prstGeom>
          <a:solidFill>
            <a:srgbClr val="141830"/>
          </a:solidFill>
          <a:ln w="15240">
            <a:solidFill>
              <a:srgbClr val="06B6D4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2BE6818-9F34-7BF9-B768-97840737E17F}"/>
              </a:ext>
            </a:extLst>
          </p:cNvPr>
          <p:cNvSpPr/>
          <p:nvPr/>
        </p:nvSpPr>
        <p:spPr>
          <a:xfrm>
            <a:off x="502920" y="148132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6BD494C-E067-FF22-C14D-7527FA599405}"/>
              </a:ext>
            </a:extLst>
          </p:cNvPr>
          <p:cNvSpPr/>
          <p:nvPr/>
        </p:nvSpPr>
        <p:spPr>
          <a:xfrm>
            <a:off x="2423160" y="1481328"/>
            <a:ext cx="1792224" cy="365760"/>
          </a:xfrm>
          <a:prstGeom prst="rect">
            <a:avLst/>
          </a:prstGeom>
          <a:solidFill>
            <a:srgbClr val="141830"/>
          </a:solidFill>
          <a:ln w="15240">
            <a:solidFill>
              <a:srgbClr val="06B6D4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5BA6255-8863-7610-2A19-51F716370B10}"/>
              </a:ext>
            </a:extLst>
          </p:cNvPr>
          <p:cNvSpPr/>
          <p:nvPr/>
        </p:nvSpPr>
        <p:spPr>
          <a:xfrm>
            <a:off x="2423160" y="148132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mobile.html</a:t>
            </a:r>
            <a:endParaRPr lang="en-US" sz="9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A8AAE88-46EB-37CD-653B-B8DB9B39F512}"/>
              </a:ext>
            </a:extLst>
          </p:cNvPr>
          <p:cNvSpPr/>
          <p:nvPr/>
        </p:nvSpPr>
        <p:spPr>
          <a:xfrm>
            <a:off x="4343400" y="1481328"/>
            <a:ext cx="1792224" cy="365760"/>
          </a:xfrm>
          <a:prstGeom prst="rect">
            <a:avLst/>
          </a:prstGeom>
          <a:solidFill>
            <a:srgbClr val="141830"/>
          </a:solidFill>
          <a:ln w="15240">
            <a:solidFill>
              <a:srgbClr val="06B6D4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7B3DB24-F6CB-469B-9066-9F7464365E7B}"/>
              </a:ext>
            </a:extLst>
          </p:cNvPr>
          <p:cNvSpPr/>
          <p:nvPr/>
        </p:nvSpPr>
        <p:spPr>
          <a:xfrm>
            <a:off x="4343400" y="148132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sw.js (offline cache)</a:t>
            </a:r>
            <a:endParaRPr lang="en-US" sz="9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31BE673-4DAF-8A26-28D6-6B7296A3681E}"/>
              </a:ext>
            </a:extLst>
          </p:cNvPr>
          <p:cNvSpPr/>
          <p:nvPr/>
        </p:nvSpPr>
        <p:spPr>
          <a:xfrm>
            <a:off x="3255264" y="1993392"/>
            <a:ext cx="36576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820885A-9262-051B-0BFE-CD97D7DE401A}"/>
              </a:ext>
            </a:extLst>
          </p:cNvPr>
          <p:cNvSpPr/>
          <p:nvPr/>
        </p:nvSpPr>
        <p:spPr>
          <a:xfrm>
            <a:off x="3108960" y="2322576"/>
            <a:ext cx="329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317D24A-C71A-A145-383C-0BE483813EE3}"/>
              </a:ext>
            </a:extLst>
          </p:cNvPr>
          <p:cNvSpPr/>
          <p:nvPr/>
        </p:nvSpPr>
        <p:spPr>
          <a:xfrm>
            <a:off x="347472" y="2560320"/>
            <a:ext cx="5943600" cy="749808"/>
          </a:xfrm>
          <a:prstGeom prst="rect">
            <a:avLst/>
          </a:prstGeom>
          <a:solidFill>
            <a:srgbClr val="2D1B69"/>
          </a:solidFill>
          <a:ln w="15240">
            <a:solidFill>
              <a:srgbClr val="7C3AED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FC82136-37AB-F125-5370-68B48D2DE00B}"/>
              </a:ext>
            </a:extLst>
          </p:cNvPr>
          <p:cNvSpPr/>
          <p:nvPr/>
        </p:nvSpPr>
        <p:spPr>
          <a:xfrm>
            <a:off x="50292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STATE OBJECT  (S)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5D8E421-2302-7C5B-16BC-D74963B689FC}"/>
              </a:ext>
            </a:extLst>
          </p:cNvPr>
          <p:cNvSpPr/>
          <p:nvPr/>
        </p:nvSpPr>
        <p:spPr>
          <a:xfrm>
            <a:off x="502920" y="2871216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 ·  expenses  ·  income  ·  insurance  ·  goals  ·  dividends  ·  reminders  ·  snapshots  ·  family</a:t>
            </a:r>
            <a:endParaRPr lang="en-US" sz="8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92D6ED7-4A6F-3B0A-520A-B634F5B571F7}"/>
              </a:ext>
            </a:extLst>
          </p:cNvPr>
          <p:cNvSpPr/>
          <p:nvPr/>
        </p:nvSpPr>
        <p:spPr>
          <a:xfrm>
            <a:off x="1234440" y="3364992"/>
            <a:ext cx="36576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F646E9E-892E-3253-C5A8-8CE8E244F25E}"/>
              </a:ext>
            </a:extLst>
          </p:cNvPr>
          <p:cNvSpPr/>
          <p:nvPr/>
        </p:nvSpPr>
        <p:spPr>
          <a:xfrm>
            <a:off x="1078992" y="3611880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9235AD9-EEDF-1571-0F8B-DDE698832F85}"/>
              </a:ext>
            </a:extLst>
          </p:cNvPr>
          <p:cNvSpPr/>
          <p:nvPr/>
        </p:nvSpPr>
        <p:spPr>
          <a:xfrm>
            <a:off x="640080" y="3803904"/>
            <a:ext cx="1810512" cy="67665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83F31B7-573D-CAE0-A229-AA7F7968B882}"/>
              </a:ext>
            </a:extLst>
          </p:cNvPr>
          <p:cNvSpPr/>
          <p:nvPr/>
        </p:nvSpPr>
        <p:spPr>
          <a:xfrm>
            <a:off x="640080" y="3803904"/>
            <a:ext cx="181051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A2C9244-4BAD-D83D-DC5F-5157D83DB0A0}"/>
              </a:ext>
            </a:extLst>
          </p:cNvPr>
          <p:cNvSpPr/>
          <p:nvPr/>
        </p:nvSpPr>
        <p:spPr>
          <a:xfrm>
            <a:off x="731520" y="38953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12727B8-8F23-590E-F83F-93191D498B17}"/>
              </a:ext>
            </a:extLst>
          </p:cNvPr>
          <p:cNvSpPr/>
          <p:nvPr/>
        </p:nvSpPr>
        <p:spPr>
          <a:xfrm>
            <a:off x="731520" y="4151376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Store</a:t>
            </a:r>
            <a:endParaRPr lang="en-US" sz="85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D583EE54-5C16-EFED-DC1F-031D0BBFFCD1}"/>
              </a:ext>
            </a:extLst>
          </p:cNvPr>
          <p:cNvSpPr/>
          <p:nvPr/>
        </p:nvSpPr>
        <p:spPr>
          <a:xfrm>
            <a:off x="3227832" y="3364992"/>
            <a:ext cx="36576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D08A4E0-A2C6-EB19-BB17-2D9F09412185}"/>
              </a:ext>
            </a:extLst>
          </p:cNvPr>
          <p:cNvSpPr/>
          <p:nvPr/>
        </p:nvSpPr>
        <p:spPr>
          <a:xfrm>
            <a:off x="3072384" y="3611880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AC4D851-C06F-C1AE-C834-09B8F6785B4C}"/>
              </a:ext>
            </a:extLst>
          </p:cNvPr>
          <p:cNvSpPr/>
          <p:nvPr/>
        </p:nvSpPr>
        <p:spPr>
          <a:xfrm>
            <a:off x="2633472" y="3803904"/>
            <a:ext cx="1810512" cy="67665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58D0E76-D1BA-333C-4E1D-CAE9A3E72181}"/>
              </a:ext>
            </a:extLst>
          </p:cNvPr>
          <p:cNvSpPr/>
          <p:nvPr/>
        </p:nvSpPr>
        <p:spPr>
          <a:xfrm>
            <a:off x="2633472" y="3803904"/>
            <a:ext cx="181051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275097E-12B2-04AF-C20C-BED77C213C0A}"/>
              </a:ext>
            </a:extLst>
          </p:cNvPr>
          <p:cNvSpPr/>
          <p:nvPr/>
        </p:nvSpPr>
        <p:spPr>
          <a:xfrm>
            <a:off x="2724912" y="38953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B3D21C6-D35E-62E4-6DAC-37373476E895}"/>
              </a:ext>
            </a:extLst>
          </p:cNvPr>
          <p:cNvSpPr/>
          <p:nvPr/>
        </p:nvSpPr>
        <p:spPr>
          <a:xfrm>
            <a:off x="2724912" y="4151376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Store</a:t>
            </a:r>
            <a:endParaRPr lang="en-US" sz="85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AB7358B8-2AF8-0060-8990-758A9ED97930}"/>
              </a:ext>
            </a:extLst>
          </p:cNvPr>
          <p:cNvSpPr/>
          <p:nvPr/>
        </p:nvSpPr>
        <p:spPr>
          <a:xfrm>
            <a:off x="5221224" y="3364992"/>
            <a:ext cx="36576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CB12D88-EFA1-618F-E2A4-8EB817938313}"/>
              </a:ext>
            </a:extLst>
          </p:cNvPr>
          <p:cNvSpPr/>
          <p:nvPr/>
        </p:nvSpPr>
        <p:spPr>
          <a:xfrm>
            <a:off x="5065776" y="3611880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0FCC8AE3-3DA2-8AD2-1A23-E1C8830C994B}"/>
              </a:ext>
            </a:extLst>
          </p:cNvPr>
          <p:cNvSpPr/>
          <p:nvPr/>
        </p:nvSpPr>
        <p:spPr>
          <a:xfrm>
            <a:off x="4626864" y="3803904"/>
            <a:ext cx="1810512" cy="67665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43D5AD03-1D6B-19C2-15FB-76D0C99C6849}"/>
              </a:ext>
            </a:extLst>
          </p:cNvPr>
          <p:cNvSpPr/>
          <p:nvPr/>
        </p:nvSpPr>
        <p:spPr>
          <a:xfrm>
            <a:off x="4626864" y="3803904"/>
            <a:ext cx="181051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ACEEC9A-70E6-4442-D66F-E375BFC7A4EE}"/>
              </a:ext>
            </a:extLst>
          </p:cNvPr>
          <p:cNvSpPr/>
          <p:nvPr/>
        </p:nvSpPr>
        <p:spPr>
          <a:xfrm>
            <a:off x="4718304" y="38953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</a:t>
            </a:r>
            <a:endParaRPr lang="en-US" sz="11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A13BD56-ECC2-F8BC-A5EB-46C3F6653AAE}"/>
              </a:ext>
            </a:extLst>
          </p:cNvPr>
          <p:cNvSpPr/>
          <p:nvPr/>
        </p:nvSpPr>
        <p:spPr>
          <a:xfrm>
            <a:off x="4718304" y="4151376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Failsafe Store</a:t>
            </a:r>
            <a:endParaRPr lang="en-US" sz="8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D72A6758-8549-660B-5BE4-7AC324D56D32}"/>
              </a:ext>
            </a:extLst>
          </p:cNvPr>
          <p:cNvSpPr/>
          <p:nvPr/>
        </p:nvSpPr>
        <p:spPr>
          <a:xfrm>
            <a:off x="347472" y="45720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i="1" kern="0" spc="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— read only, zero user data transmitted</a:t>
            </a:r>
            <a:endParaRPr lang="en-US" sz="7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56D0F98D-AA29-6822-B757-901277EA6594}"/>
              </a:ext>
            </a:extLst>
          </p:cNvPr>
          <p:cNvSpPr/>
          <p:nvPr/>
        </p:nvSpPr>
        <p:spPr>
          <a:xfrm>
            <a:off x="347472" y="4791456"/>
            <a:ext cx="1353312" cy="237744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B6BF5858-BB10-D917-81AB-886EDCC389FE}"/>
              </a:ext>
            </a:extLst>
          </p:cNvPr>
          <p:cNvSpPr/>
          <p:nvPr/>
        </p:nvSpPr>
        <p:spPr>
          <a:xfrm>
            <a:off x="347472" y="4791456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B071D11-AE7C-E1B7-B5E6-2DC1EA413C62}"/>
              </a:ext>
            </a:extLst>
          </p:cNvPr>
          <p:cNvSpPr/>
          <p:nvPr/>
        </p:nvSpPr>
        <p:spPr>
          <a:xfrm>
            <a:off x="1810512" y="4791456"/>
            <a:ext cx="1353312" cy="237744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BA44291D-4FAA-17BD-C47C-645916E6B21F}"/>
              </a:ext>
            </a:extLst>
          </p:cNvPr>
          <p:cNvSpPr/>
          <p:nvPr/>
        </p:nvSpPr>
        <p:spPr>
          <a:xfrm>
            <a:off x="1810512" y="4791456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</a:t>
            </a:r>
            <a:endParaRPr lang="en-US" sz="8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DF9A76C1-038B-5FED-391C-F5BD48A0199B}"/>
              </a:ext>
            </a:extLst>
          </p:cNvPr>
          <p:cNvSpPr/>
          <p:nvPr/>
        </p:nvSpPr>
        <p:spPr>
          <a:xfrm>
            <a:off x="3273552" y="4791456"/>
            <a:ext cx="1353312" cy="237744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2FCD3FBD-A897-3B73-5D6E-ADBC2F971AA3}"/>
              </a:ext>
            </a:extLst>
          </p:cNvPr>
          <p:cNvSpPr/>
          <p:nvPr/>
        </p:nvSpPr>
        <p:spPr>
          <a:xfrm>
            <a:off x="3273552" y="4791456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</a:t>
            </a:r>
            <a:endParaRPr lang="en-US" sz="8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17F83F84-089F-7D5D-DF8C-0EE999F8BD18}"/>
              </a:ext>
            </a:extLst>
          </p:cNvPr>
          <p:cNvSpPr/>
          <p:nvPr/>
        </p:nvSpPr>
        <p:spPr>
          <a:xfrm>
            <a:off x="4736592" y="4791456"/>
            <a:ext cx="1353312" cy="237744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95DC09CD-9E8C-9AD3-17D5-360340CB570F}"/>
              </a:ext>
            </a:extLst>
          </p:cNvPr>
          <p:cNvSpPr/>
          <p:nvPr/>
        </p:nvSpPr>
        <p:spPr>
          <a:xfrm>
            <a:off x="4736592" y="4791456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(opt.)</a:t>
            </a:r>
            <a:endParaRPr lang="en-US" sz="8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16FA389-35FE-A22F-EA34-AB755D64FB81}"/>
              </a:ext>
            </a:extLst>
          </p:cNvPr>
          <p:cNvSpPr/>
          <p:nvPr/>
        </p:nvSpPr>
        <p:spPr>
          <a:xfrm>
            <a:off x="6510528" y="1170432"/>
            <a:ext cx="2286000" cy="354787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CA7EB89C-B009-31BA-EB94-B04A1F4E13F8}"/>
              </a:ext>
            </a:extLst>
          </p:cNvPr>
          <p:cNvSpPr/>
          <p:nvPr/>
        </p:nvSpPr>
        <p:spPr>
          <a:xfrm>
            <a:off x="6656832" y="12618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Decisions</a:t>
            </a:r>
            <a:endParaRPr lang="en-US" sz="12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A7FD3CFA-CA85-CE34-E872-C6D172BD8D06}"/>
              </a:ext>
            </a:extLst>
          </p:cNvPr>
          <p:cNvSpPr/>
          <p:nvPr/>
        </p:nvSpPr>
        <p:spPr>
          <a:xfrm>
            <a:off x="6656832" y="1609344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70CD5F2-E2C0-4865-9D29-271776CD34A7}"/>
              </a:ext>
            </a:extLst>
          </p:cNvPr>
          <p:cNvSpPr/>
          <p:nvPr/>
        </p:nvSpPr>
        <p:spPr>
          <a:xfrm>
            <a:off x="6656832" y="1792224"/>
            <a:ext cx="164592" cy="164592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0CAB2C96-A820-1557-060B-17A708A9C7B3}"/>
              </a:ext>
            </a:extLst>
          </p:cNvPr>
          <p:cNvSpPr/>
          <p:nvPr/>
        </p:nvSpPr>
        <p:spPr>
          <a:xfrm>
            <a:off x="6656832" y="175564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98AD10B-8BB1-A959-45A7-B9A2AB549657}"/>
              </a:ext>
            </a:extLst>
          </p:cNvPr>
          <p:cNvSpPr/>
          <p:nvPr/>
        </p:nvSpPr>
        <p:spPr>
          <a:xfrm>
            <a:off x="6876288" y="175564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per platform — no build tools</a:t>
            </a:r>
            <a:endParaRPr lang="en-US" sz="90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EFE1E9BF-D7EC-1053-2388-A6BA223272D4}"/>
              </a:ext>
            </a:extLst>
          </p:cNvPr>
          <p:cNvSpPr/>
          <p:nvPr/>
        </p:nvSpPr>
        <p:spPr>
          <a:xfrm>
            <a:off x="6656832" y="2194560"/>
            <a:ext cx="164592" cy="164592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EDC81873-3BFA-B54D-4BE9-3275605AB8A4}"/>
              </a:ext>
            </a:extLst>
          </p:cNvPr>
          <p:cNvSpPr/>
          <p:nvPr/>
        </p:nvSpPr>
        <p:spPr>
          <a:xfrm>
            <a:off x="6656832" y="2157984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DCEB46BE-7EA1-E0F8-3304-A0E3141F8D63}"/>
              </a:ext>
            </a:extLst>
          </p:cNvPr>
          <p:cNvSpPr/>
          <p:nvPr/>
        </p:nvSpPr>
        <p:spPr>
          <a:xfrm>
            <a:off x="6876288" y="215798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Vanilla JS — zero dependencies</a:t>
            </a:r>
            <a:endParaRPr lang="en-US" sz="9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4724D451-9D2E-A3A4-9F07-7EE2CDD63525}"/>
              </a:ext>
            </a:extLst>
          </p:cNvPr>
          <p:cNvSpPr/>
          <p:nvPr/>
        </p:nvSpPr>
        <p:spPr>
          <a:xfrm>
            <a:off x="6656832" y="2596896"/>
            <a:ext cx="164592" cy="164592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67A0085F-AD57-C6C8-BC33-25844F9A13EF}"/>
              </a:ext>
            </a:extLst>
          </p:cNvPr>
          <p:cNvSpPr/>
          <p:nvPr/>
        </p:nvSpPr>
        <p:spPr>
          <a:xfrm>
            <a:off x="6656832" y="256032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ACD3A9B7-71B2-C2ED-893D-BEA589277703}"/>
              </a:ext>
            </a:extLst>
          </p:cNvPr>
          <p:cNvSpPr/>
          <p:nvPr/>
        </p:nvSpPr>
        <p:spPr>
          <a:xfrm>
            <a:off x="6876288" y="256032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file://, localhost &amp; https://</a:t>
            </a:r>
            <a:endParaRPr lang="en-US" sz="90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D70C26DE-E25E-161C-E429-7012A9C52AC0}"/>
              </a:ext>
            </a:extLst>
          </p:cNvPr>
          <p:cNvSpPr/>
          <p:nvPr/>
        </p:nvSpPr>
        <p:spPr>
          <a:xfrm>
            <a:off x="6656832" y="2999232"/>
            <a:ext cx="164592" cy="164592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7C211E91-2AD1-6806-6647-F0643BFF44AB}"/>
              </a:ext>
            </a:extLst>
          </p:cNvPr>
          <p:cNvSpPr/>
          <p:nvPr/>
        </p:nvSpPr>
        <p:spPr>
          <a:xfrm>
            <a:off x="6656832" y="2962656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B0905834-699E-2E3A-8D00-0F5086FDBEC0}"/>
              </a:ext>
            </a:extLst>
          </p:cNvPr>
          <p:cNvSpPr/>
          <p:nvPr/>
        </p:nvSpPr>
        <p:spPr>
          <a:xfrm>
            <a:off x="6876288" y="2962656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npm, no webpack, no React</a:t>
            </a:r>
            <a:endParaRPr lang="en-US" sz="9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8BE1798F-FEBA-2938-AD9A-19A00F4DBD82}"/>
              </a:ext>
            </a:extLst>
          </p:cNvPr>
          <p:cNvSpPr/>
          <p:nvPr/>
        </p:nvSpPr>
        <p:spPr>
          <a:xfrm>
            <a:off x="6656832" y="3401568"/>
            <a:ext cx="164592" cy="164592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A9B304E9-DB5E-0C40-50F5-EE94D4B04D31}"/>
              </a:ext>
            </a:extLst>
          </p:cNvPr>
          <p:cNvSpPr/>
          <p:nvPr/>
        </p:nvSpPr>
        <p:spPr>
          <a:xfrm>
            <a:off x="6656832" y="3364992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8A0AC724-456A-BBCA-72BF-B6364F572A9C}"/>
              </a:ext>
            </a:extLst>
          </p:cNvPr>
          <p:cNvSpPr/>
          <p:nvPr/>
        </p:nvSpPr>
        <p:spPr>
          <a:xfrm>
            <a:off x="6876288" y="336499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Quad-storage failsafe for data safety</a:t>
            </a:r>
            <a:endParaRPr lang="en-US" sz="90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6718B9F4-D9A8-24F6-2217-FAF99A062858}"/>
              </a:ext>
            </a:extLst>
          </p:cNvPr>
          <p:cNvSpPr/>
          <p:nvPr/>
        </p:nvSpPr>
        <p:spPr>
          <a:xfrm>
            <a:off x="6656832" y="3803904"/>
            <a:ext cx="164592" cy="164592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AFB37786-B063-3B71-6FCA-AE9EE184CD7F}"/>
              </a:ext>
            </a:extLst>
          </p:cNvPr>
          <p:cNvSpPr/>
          <p:nvPr/>
        </p:nvSpPr>
        <p:spPr>
          <a:xfrm>
            <a:off x="6656832" y="376732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D9FC84C7-BCD7-543F-B661-24A4EEF93B0C}"/>
              </a:ext>
            </a:extLst>
          </p:cNvPr>
          <p:cNvSpPr/>
          <p:nvPr/>
        </p:nvSpPr>
        <p:spPr>
          <a:xfrm>
            <a:off x="6876288" y="376732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for full offline support</a:t>
            </a:r>
            <a:endParaRPr lang="en-US" sz="900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7F232614-1E43-31F3-6AF6-86B93FB94535}"/>
              </a:ext>
            </a:extLst>
          </p:cNvPr>
          <p:cNvSpPr/>
          <p:nvPr/>
        </p:nvSpPr>
        <p:spPr>
          <a:xfrm>
            <a:off x="6656832" y="4206240"/>
            <a:ext cx="164592" cy="164592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511B002A-D0AA-32B6-51BF-870CCB8FE264}"/>
              </a:ext>
            </a:extLst>
          </p:cNvPr>
          <p:cNvSpPr/>
          <p:nvPr/>
        </p:nvSpPr>
        <p:spPr>
          <a:xfrm>
            <a:off x="6656832" y="4169664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E6A1AA24-C231-8F4C-8810-4B9B12E85210}"/>
              </a:ext>
            </a:extLst>
          </p:cNvPr>
          <p:cNvSpPr/>
          <p:nvPr/>
        </p:nvSpPr>
        <p:spPr>
          <a:xfrm>
            <a:off x="6876288" y="416966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Mobile-specific UI in mobile.html</a:t>
            </a:r>
            <a:endParaRPr lang="en-US" sz="90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A1311713-F51C-90EA-C268-B680C2F60FA1}"/>
              </a:ext>
            </a:extLst>
          </p:cNvPr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DBAB55E0-785D-9C4F-C17A-E248A99FFE71}"/>
              </a:ext>
            </a:extLst>
          </p:cNvPr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59325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2086661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92024"/>
            <a:ext cx="199522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ValeurFin Wins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92608" y="1170432"/>
            <a:ext cx="6986016" cy="402336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47288" y="1170432"/>
            <a:ext cx="109728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47288" y="11704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26864" y="11704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22976" y="11704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INDmoney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19088" y="11704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6986016" cy="271577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" y="1650492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— no server upload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93008" y="1659636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93008" y="1645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26864" y="16459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22976" y="16459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19088" y="16459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2608" y="1880921"/>
            <a:ext cx="6986016" cy="271577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1922069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Asset Types Tracked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93008" y="1931213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93008" y="1917497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6864" y="1917497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22976" y="1917497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19088" y="1917497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2608" y="2152498"/>
            <a:ext cx="6986016" cy="271577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9768" y="2193646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Stock Prices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93008" y="2202790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93008" y="218907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26864" y="218907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22976" y="218907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19088" y="218907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2608" y="2424074"/>
            <a:ext cx="6986016" cy="271577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9768" y="2465222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Assistant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93008" y="2474366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93008" y="246065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26864" y="246065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22976" y="246065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19088" y="246065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92608" y="2695651"/>
            <a:ext cx="6986016" cy="271577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29768" y="2736799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Calculator (LTCG/STCG)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93008" y="2745943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93008" y="2732227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26864" y="2732227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22976" y="2732227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19088" y="2732227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92608" y="2967228"/>
            <a:ext cx="6986016" cy="271577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9768" y="3008376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Signals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93008" y="3017520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93008" y="30038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26864" y="30038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522976" y="30038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419088" y="30038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92608" y="3238805"/>
            <a:ext cx="6986016" cy="271577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29768" y="3279953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Scoring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493008" y="3289097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493008" y="3275381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626864" y="3275381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522976" y="3275381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419088" y="3275381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92608" y="3510382"/>
            <a:ext cx="6986016" cy="271577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29768" y="3551530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Score (0-100)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493008" y="3560674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493008" y="354695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626864" y="354695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522976" y="354695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419088" y="354695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92608" y="3781958"/>
            <a:ext cx="6986016" cy="271577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29768" y="3823106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Mode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493008" y="3832250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493008" y="381853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626864" y="381853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522976" y="381853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419088" y="381853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92608" y="4053535"/>
            <a:ext cx="6986016" cy="271577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29768" y="4094683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100% Offline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493008" y="4103827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493008" y="4090111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626864" y="4090111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522976" y="4090111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419088" y="4090111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92608" y="4325112"/>
            <a:ext cx="6986016" cy="271577"/>
          </a:xfrm>
          <a:prstGeom prst="rect">
            <a:avLst/>
          </a:prstGeom>
          <a:solidFill>
            <a:srgbClr val="0A0C1E"/>
          </a:solidFill>
          <a:ln w="12700">
            <a:solidFill>
              <a:srgbClr val="0A0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29768" y="4366260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493008" y="4375404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493008" y="43616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626864" y="4361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522976" y="4361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419088" y="4361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92608" y="4596689"/>
            <a:ext cx="6986016" cy="271577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29768" y="4637837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 Required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493008" y="4646981"/>
            <a:ext cx="1005840" cy="16916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493008" y="4633265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626864" y="4633265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5522976" y="4633265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419088" y="4633265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92608" y="4864608"/>
            <a:ext cx="6986016" cy="182880"/>
          </a:xfrm>
          <a:prstGeom prst="rect">
            <a:avLst/>
          </a:prstGeom>
          <a:solidFill>
            <a:srgbClr val="10B981">
              <a:alpha val="12000"/>
            </a:srgbClr>
          </a:solidFill>
          <a:ln w="889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57200" y="4864608"/>
            <a:ext cx="6729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 is the ONLY tool combining privacy + AI + tax intelligence + tracking — completely free.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7424928" y="1170432"/>
            <a:ext cx="1399032" cy="3877056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7498080" y="1243584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ValeurFin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7498080" y="1481328"/>
            <a:ext cx="1252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7589520" y="1737360"/>
            <a:ext cx="106984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7498080" y="1883664"/>
            <a:ext cx="125272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7498080" y="1956816"/>
            <a:ext cx="1252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12/12</a:t>
            </a:r>
            <a:endParaRPr lang="en-US" sz="1800" dirty="0"/>
          </a:p>
        </p:txBody>
      </p:sp>
      <p:sp>
        <p:nvSpPr>
          <p:cNvPr id="105" name="Text 103"/>
          <p:cNvSpPr/>
          <p:nvPr/>
        </p:nvSpPr>
        <p:spPr>
          <a:xfrm>
            <a:off x="7498080" y="2414016"/>
            <a:ext cx="1252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win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7498080" y="2761488"/>
            <a:ext cx="1252728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498080" y="2834640"/>
            <a:ext cx="1252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</a:t>
            </a:r>
            <a:endParaRPr lang="en-US" sz="2400" dirty="0"/>
          </a:p>
        </p:txBody>
      </p:sp>
      <p:sp>
        <p:nvSpPr>
          <p:cNvPr id="108" name="Text 106"/>
          <p:cNvSpPr/>
          <p:nvPr/>
        </p:nvSpPr>
        <p:spPr>
          <a:xfrm>
            <a:off x="7498080" y="3291840"/>
            <a:ext cx="1252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fintech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7498080" y="3639312"/>
            <a:ext cx="125272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7498080" y="3712464"/>
            <a:ext cx="1252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400" dirty="0"/>
          </a:p>
        </p:txBody>
      </p:sp>
      <p:sp>
        <p:nvSpPr>
          <p:cNvPr id="111" name="Text 109"/>
          <p:cNvSpPr/>
          <p:nvPr/>
        </p:nvSpPr>
        <p:spPr>
          <a:xfrm>
            <a:off x="7498080" y="4169664"/>
            <a:ext cx="1252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free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7498080" y="4517136"/>
            <a:ext cx="1252728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498080" y="4590288"/>
            <a:ext cx="1252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2400" dirty="0"/>
          </a:p>
        </p:txBody>
      </p:sp>
      <p:sp>
        <p:nvSpPr>
          <p:cNvPr id="114" name="Text 112"/>
          <p:cNvSpPr/>
          <p:nvPr/>
        </p:nvSpPr>
        <p:spPr>
          <a:xfrm>
            <a:off x="7498080" y="5047488"/>
            <a:ext cx="1252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financial AI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365760" y="48737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</a:t>
            </a: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&amp; Proprietary   ·   2026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868680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lin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line">
            <a:avLst/>
          </a:prstGeom>
          <a:solidFill>
            <a:srgbClr val="2563EB">
              <a:alpha val="7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0" y="3657600"/>
            <a:ext cx="2743200" cy="2743200"/>
          </a:xfrm>
          <a:prstGeom prst="line">
            <a:avLst/>
          </a:prstGeom>
          <a:solidFill>
            <a:srgbClr val="F59E0B">
              <a:alpha val="4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926080" y="2377440"/>
            <a:ext cx="32918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487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Privacy-First Wealth Dashboard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2944368"/>
            <a:ext cx="7315200" cy="1463040"/>
          </a:xfrm>
          <a:prstGeom prst="rect">
            <a:avLst/>
          </a:prstGeom>
          <a:solidFill>
            <a:srgbClr val="141830"/>
          </a:solidFill>
          <a:ln w="15240">
            <a:solidFill>
              <a:srgbClr val="7C3AED"/>
            </a:solidFill>
            <a:prstDash val="solid"/>
          </a:ln>
          <a:effectLst>
            <a:outerShdw blurRad="1778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30906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103120" y="309067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valeurfin-app.github.io/valeurfin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97280" y="34930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103120" y="349300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valeurfin.masteryourfinances@gmail.com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97280" y="38953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103120" y="389534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Tiwari  —  Founder, ValeurFin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0" y="4526280"/>
            <a:ext cx="9144000" cy="594360"/>
          </a:xfrm>
          <a:prstGeom prst="rect">
            <a:avLst/>
          </a:prstGeom>
          <a:solidFill>
            <a:srgbClr val="0E1128"/>
          </a:solidFill>
          <a:ln w="12700">
            <a:solidFill>
              <a:srgbClr val="0E1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0" y="4526280"/>
            <a:ext cx="914400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4400" y="45902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"Your money. Your device. Your story."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" y="491947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ValeurFin Technologies  ·  Built with love in India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BA388A2-FF8B-79A3-18F1-BEE698EAE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16" y="156498"/>
            <a:ext cx="3255975" cy="2170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1860</Words>
  <Application>Microsoft Office PowerPoint</Application>
  <PresentationFormat>On-screen Show (16:9)</PresentationFormat>
  <Paragraphs>530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ValeurFin — Investor Pitch Deck 2026</dc:title>
  <dc:subject>PptxGenJS Presentation</dc:subject>
  <dc:creator>ValeurFin Technologies</dc:creator>
  <cp:lastModifiedBy>Siddharth Tiwari (US)</cp:lastModifiedBy>
  <cp:revision>3</cp:revision>
  <dcterms:created xsi:type="dcterms:W3CDTF">2026-04-10T19:17:15Z</dcterms:created>
  <dcterms:modified xsi:type="dcterms:W3CDTF">2026-04-10T19:26:45Z</dcterms:modified>
</cp:coreProperties>
</file>