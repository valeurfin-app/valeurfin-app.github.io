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ddharth Tiwari (US)" userId="c00c8cc1-c7f4-4021-9c3d-fd7a5471a7da" providerId="ADAL" clId="{FF0E5A19-0FD7-49A1-A04A-D76BABAD730D}"/>
    <pc:docChg chg="custSel modSld">
      <pc:chgData name="Siddharth Tiwari (US)" userId="c00c8cc1-c7f4-4021-9c3d-fd7a5471a7da" providerId="ADAL" clId="{FF0E5A19-0FD7-49A1-A04A-D76BABAD730D}" dt="2026-04-10T19:54:45.505" v="2" actId="20577"/>
      <pc:docMkLst>
        <pc:docMk/>
      </pc:docMkLst>
      <pc:sldChg chg="modSp mod">
        <pc:chgData name="Siddharth Tiwari (US)" userId="c00c8cc1-c7f4-4021-9c3d-fd7a5471a7da" providerId="ADAL" clId="{FF0E5A19-0FD7-49A1-A04A-D76BABAD730D}" dt="2026-04-10T19:54:45.505" v="2" actId="20577"/>
        <pc:sldMkLst>
          <pc:docMk/>
          <pc:sldMk cId="0" sldId="256"/>
        </pc:sldMkLst>
        <pc:spChg chg="mod">
          <ac:chgData name="Siddharth Tiwari (US)" userId="c00c8cc1-c7f4-4021-9c3d-fd7a5471a7da" providerId="ADAL" clId="{FF0E5A19-0FD7-49A1-A04A-D76BABAD730D}" dt="2026-04-10T19:54:45.500" v="0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Siddharth Tiwari (US)" userId="c00c8cc1-c7f4-4021-9c3d-fd7a5471a7da" providerId="ADAL" clId="{FF0E5A19-0FD7-49A1-A04A-D76BABAD730D}" dt="2026-04-10T19:54:45.503" v="1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Siddharth Tiwari (US)" userId="c00c8cc1-c7f4-4021-9c3d-fd7a5471a7da" providerId="ADAL" clId="{FF0E5A19-0FD7-49A1-A04A-D76BABAD730D}" dt="2026-04-10T19:54:45.505" v="2" actId="20577"/>
          <ac:spMkLst>
            <pc:docMk/>
            <pc:sldMk cId="0" sldId="256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1E9A6-C5EA-4DC6-AEC0-48D4B175A332}" type="datetimeFigureOut">
              <a:t>4/11/2026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8EBFF0-271E-4C2C-9414-B55BBE0D0CC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95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product brief and logo supplied in chat.
- Product website: https://valeurfin-app.github.io/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product brief and problem framing.
- AMFI / ET summary of industry scale: India mutual fund AUM reached about ₹80.55 lakh crore by Nov 2025 (Economic Times summary of AMFI data, Dec 2025).
- Product website positioning and privacy language: https://valeurfin-app.github.io/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product brief.
- Product website sections listing dashboard areas, AI settings, tax calculator, exit signals, family mode and privacy policy: https://valeurfin-app.github.io/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product brief.
- Product website sections and privacy policy: https://valeurfin-app.github.io/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Dashboard mock visual created for this deck based on the user-provided product brief and product website sections.
- Product website dashboard sections: https://valeurfin-app.github.io/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product brief.
- Product website sections for investments, tax calculator and live market: https://valeurfin-app.github.io/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Market mock visual created for this deck based on the product brief.
- Product website references Yahoo Finance, MFAPI.in and TradingView widgets in the privacy policy: https://valeurfin-app.github.io/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AI assistant mock visual created for this deck based on the product brief.
- Product website AI settings and ValeurBot section: https://valeurfin-app.github.io/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tax and exit-signal brief.
- India capital gains changes: PIB press release on Budget 2024 changes including 20% STCG and 12.5% LTCG with ₹1.25 lakh exemption for listed equity/equity-oriented assets.
- Crypto/VDA flat 30% tax is consistent with widely reported 2025 guidance and summaries.
- This slide should be presented as indicative product logic, not tax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product brief.
- Score visuals created for this deck; the parameters shown are based on the user-provided scoring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Product website privacy policy and security section: https://valeurfin-app.github.io/
- User-provided product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product brief.
- Product website family, reminders, goals, dividends, what-if, transaction log and settings sections: https://valeurfin-app.github.io/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product brief and architecture notes.
- Product website privacy policy for third-party read-only services: https://valeurfin-app.github.io/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Comparison matrix based on the user-provided positioning brief.
- For external distribution, validate competitor feature states against current public product surfaces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contact details, product brief and logo.
- Product website URL: https://valeurfin-app.github.io/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logo_icon.png"/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>
            <a:off x="7863840" y="777240"/>
            <a:ext cx="3749040" cy="5394960"/>
          </a:xfrm>
          <a:prstGeom prst="rect">
            <a:avLst/>
          </a:prstGeom>
        </p:spPr>
      </p:pic>
      <p:pic>
        <p:nvPicPr>
          <p:cNvPr id="4" name="Image 2" descr="/mnt/data/logo_cropp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4389" y="822960"/>
            <a:ext cx="2549318" cy="173736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514600" y="27432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India's Privacy-First Wealth Dashboard</a:t>
            </a:r>
            <a:endParaRPr lang="en-US" sz="2200" dirty="0"/>
          </a:p>
        </p:txBody>
      </p:sp>
      <p:sp>
        <p:nvSpPr>
          <p:cNvPr id="6" name="Text 1"/>
          <p:cNvSpPr/>
          <p:nvPr/>
        </p:nvSpPr>
        <p:spPr>
          <a:xfrm>
            <a:off x="2057400" y="3255264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8B5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offline-first workspace for investing, tax visibility, scoring and family finance — built for Indian investors.</a:t>
            </a:r>
            <a:endParaRPr lang="en-US" sz="1250" dirty="0"/>
          </a:p>
        </p:txBody>
      </p:sp>
      <p:sp>
        <p:nvSpPr>
          <p:cNvPr id="7" name="Shape 2"/>
          <p:cNvSpPr/>
          <p:nvPr/>
        </p:nvSpPr>
        <p:spPr>
          <a:xfrm>
            <a:off x="2852928" y="3968496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62746"/>
          </a:solidFill>
          <a:ln w="12700">
            <a:solidFill>
              <a:srgbClr val="27406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3"/>
          <p:cNvSpPr/>
          <p:nvPr/>
        </p:nvSpPr>
        <p:spPr>
          <a:xfrm>
            <a:off x="2852928" y="398221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6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OFFLINE</a:t>
            </a:r>
            <a:endParaRPr lang="en-US" sz="1150" dirty="0"/>
          </a:p>
        </p:txBody>
      </p:sp>
      <p:sp>
        <p:nvSpPr>
          <p:cNvPr id="9" name="Shape 4"/>
          <p:cNvSpPr/>
          <p:nvPr/>
        </p:nvSpPr>
        <p:spPr>
          <a:xfrm>
            <a:off x="4544568" y="3968496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162746"/>
          </a:solidFill>
          <a:ln w="12700">
            <a:solidFill>
              <a:srgbClr val="27406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5"/>
          <p:cNvSpPr/>
          <p:nvPr/>
        </p:nvSpPr>
        <p:spPr>
          <a:xfrm>
            <a:off x="4544568" y="398221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6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SERVER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6236208" y="3968496"/>
            <a:ext cx="1828800" cy="310896"/>
          </a:xfrm>
          <a:prstGeom prst="roundRect">
            <a:avLst>
              <a:gd name="adj" fmla="val 35294"/>
            </a:avLst>
          </a:prstGeom>
          <a:solidFill>
            <a:srgbClr val="162746"/>
          </a:solidFill>
          <a:ln w="12700">
            <a:solidFill>
              <a:srgbClr val="27406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7"/>
          <p:cNvSpPr/>
          <p:nvPr/>
        </p:nvSpPr>
        <p:spPr>
          <a:xfrm>
            <a:off x="6236208" y="39822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6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DEVICE ONLY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3749040" y="473659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8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ValeurFin — Investor Pitch Deck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166360" y="50109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18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v4.0 · 2026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3657600" y="601675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A8B5D3"/>
                </a:solidFill>
              </a:rPr>
              <a:t>"Your money. Your device. Your story."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1411712" y="644652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18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8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VALEURFIN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21792" y="56692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Indian investors deserve better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21792" y="106070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5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retail investor stack is fragmented, over-shared and reactive.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21792" y="1408176"/>
            <a:ext cx="1234440" cy="0"/>
          </a:xfrm>
          <a:prstGeom prst="line">
            <a:avLst/>
          </a:prstGeom>
          <a:noFill/>
          <a:ln w="27940">
            <a:solidFill>
              <a:srgbClr val="A56C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58368" y="1691640"/>
            <a:ext cx="5989320" cy="4553712"/>
          </a:xfrm>
          <a:prstGeom prst="roundRect">
            <a:avLst>
              <a:gd name="adj" fmla="val 4016"/>
            </a:avLst>
          </a:prstGeom>
          <a:solidFill>
            <a:srgbClr val="0E1A33"/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32688" y="2002536"/>
            <a:ext cx="164592" cy="164592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88720" y="19568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8FF"/>
                </a:solidFill>
              </a:rPr>
              <a:t>5+ apps, zero unified view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215798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5D3"/>
                </a:solidFill>
              </a:rPr>
              <a:t>Zerodha, Groww, bank apps and spreadsheets still have to be stitched together manually.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32688" y="2788920"/>
            <a:ext cx="164592" cy="164592"/>
          </a:xfrm>
          <a:prstGeom prst="ellipse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188720" y="274320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8FF"/>
                </a:solidFill>
              </a:rPr>
              <a:t>Privacy becomes the product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88720" y="29443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5D3"/>
                </a:solidFill>
              </a:rPr>
              <a:t>PAN, bank and portfolio data are routinely replicated across third-party servers.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32688" y="3575304"/>
            <a:ext cx="164592" cy="164592"/>
          </a:xfrm>
          <a:prstGeom prst="ellipse">
            <a:avLst/>
          </a:prstGeom>
          <a:solidFill>
            <a:srgbClr val="FFD76A"/>
          </a:solidFill>
          <a:ln w="12700">
            <a:solidFill>
              <a:srgbClr val="FFD7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188720" y="352958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8FF"/>
                </a:solidFill>
              </a:rPr>
              <a:t>Tax surprises at year-end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88720" y="373075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5D3"/>
                </a:solidFill>
              </a:rPr>
              <a:t>Most investors discover LTCG/STCG implications only when filing or speaking to a CA.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932688" y="4361688"/>
            <a:ext cx="164592" cy="164592"/>
          </a:xfrm>
          <a:prstGeom prst="ellipse">
            <a:avLst/>
          </a:prstGeom>
          <a:solidFill>
            <a:srgbClr val="A56CFF"/>
          </a:solidFill>
          <a:ln w="12700">
            <a:solidFill>
              <a:srgbClr val="A56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188720" y="431596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8FF"/>
                </a:solidFill>
              </a:rPr>
              <a:t>No exit discipline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88720" y="451713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5D3"/>
                </a:solidFill>
              </a:rPr>
              <a:t>Without alerts, people often hold losers too long and sell winners too early.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32688" y="5148072"/>
            <a:ext cx="164592" cy="164592"/>
          </a:xfrm>
          <a:prstGeom prst="ellipse">
            <a:avLst/>
          </a:prstGeom>
          <a:solidFill>
            <a:srgbClr val="28C7FF"/>
          </a:solidFill>
          <a:ln w="12700">
            <a:solidFill>
              <a:srgbClr val="28C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188720" y="510235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8FF"/>
                </a:solidFill>
              </a:rPr>
              <a:t>Family tracking is messy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88720" y="530352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5D3"/>
                </a:solidFill>
              </a:rPr>
              <a:t>A single household may span spouse SIPs, parent FDs, child goals and insurance policies.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931152" y="1691640"/>
            <a:ext cx="4572000" cy="2743200"/>
          </a:xfrm>
          <a:prstGeom prst="roundRect">
            <a:avLst>
              <a:gd name="adj" fmla="val 7333"/>
            </a:avLst>
          </a:prstGeom>
          <a:solidFill>
            <a:srgbClr val="101C38"/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269480" y="19568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C7FF"/>
                </a:solidFill>
              </a:rPr>
              <a:t>The current experience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269480" y="2249424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6F8FF"/>
                </a:solidFill>
              </a:rPr>
              <a:t>5+</a:t>
            </a:r>
            <a:endParaRPr lang="en-US" sz="4400" dirty="0"/>
          </a:p>
        </p:txBody>
      </p:sp>
      <p:sp>
        <p:nvSpPr>
          <p:cNvPr id="26" name="Text 23"/>
          <p:cNvSpPr/>
          <p:nvPr/>
        </p:nvSpPr>
        <p:spPr>
          <a:xfrm>
            <a:off x="8247888" y="24414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B5D3"/>
                </a:solidFill>
              </a:rPr>
              <a:t>apps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372600" y="22494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6F8FF"/>
                </a:solidFill>
              </a:rPr>
              <a:t>0</a:t>
            </a:r>
            <a:endParaRPr lang="en-US" sz="4400" dirty="0"/>
          </a:p>
        </p:txBody>
      </p:sp>
      <p:sp>
        <p:nvSpPr>
          <p:cNvPr id="28" name="Text 25"/>
          <p:cNvSpPr/>
          <p:nvPr/>
        </p:nvSpPr>
        <p:spPr>
          <a:xfrm>
            <a:off x="9829800" y="2441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B5D3"/>
                </a:solidFill>
              </a:rPr>
              <a:t>single truth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269480" y="3163824"/>
            <a:ext cx="1325880" cy="310896"/>
          </a:xfrm>
          <a:prstGeom prst="roundRect">
            <a:avLst>
              <a:gd name="adj" fmla="val 35294"/>
            </a:avLst>
          </a:prstGeom>
          <a:solidFill>
            <a:srgbClr val="142236"/>
          </a:solidFill>
          <a:ln w="12700">
            <a:solidFill>
              <a:srgbClr val="27406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269480" y="31775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6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BROKER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842248" y="3163824"/>
            <a:ext cx="1325880" cy="310896"/>
          </a:xfrm>
          <a:prstGeom prst="roundRect">
            <a:avLst>
              <a:gd name="adj" fmla="val 35294"/>
            </a:avLst>
          </a:prstGeom>
          <a:solidFill>
            <a:srgbClr val="162746"/>
          </a:solidFill>
          <a:ln w="12700">
            <a:solidFill>
              <a:srgbClr val="27406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842248" y="31775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6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7269480" y="3621024"/>
            <a:ext cx="1325880" cy="310896"/>
          </a:xfrm>
          <a:prstGeom prst="roundRect">
            <a:avLst>
              <a:gd name="adj" fmla="val 35294"/>
            </a:avLst>
          </a:prstGeom>
          <a:solidFill>
            <a:srgbClr val="142236"/>
          </a:solidFill>
          <a:ln w="12700">
            <a:solidFill>
              <a:srgbClr val="27406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269480" y="36347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6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SPREADSHEET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8842248" y="3621024"/>
            <a:ext cx="1325880" cy="310896"/>
          </a:xfrm>
          <a:prstGeom prst="roundRect">
            <a:avLst>
              <a:gd name="adj" fmla="val 35294"/>
            </a:avLst>
          </a:prstGeom>
          <a:solidFill>
            <a:srgbClr val="162746"/>
          </a:solidFill>
          <a:ln w="12700">
            <a:solidFill>
              <a:srgbClr val="27406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8842248" y="36347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6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 SHEET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7269480" y="4078224"/>
            <a:ext cx="2194560" cy="310896"/>
          </a:xfrm>
          <a:prstGeom prst="roundRect">
            <a:avLst>
              <a:gd name="adj" fmla="val 35294"/>
            </a:avLst>
          </a:prstGeom>
          <a:solidFill>
            <a:srgbClr val="142236"/>
          </a:solidFill>
          <a:ln w="12700">
            <a:solidFill>
              <a:srgbClr val="27406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7269480" y="40919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6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REMINDERS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6931152" y="4645152"/>
            <a:ext cx="4572000" cy="1600200"/>
          </a:xfrm>
          <a:prstGeom prst="roundRect">
            <a:avLst>
              <a:gd name="adj" fmla="val 12571"/>
            </a:avLst>
          </a:prstGeom>
          <a:solidFill>
            <a:srgbClr val="111F3D"/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7269480" y="493776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6F8FF"/>
                </a:solidFill>
              </a:rPr>
              <a:t>India’s mutual fund industry crossed ₹80 lakh crore AUM in late 2025 — but privacy-first portfolio control remains underserved.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11411712" y="644652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18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8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VALEURFIN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21792" y="56692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Introducing ValeurFin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21792" y="106070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5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privacy-first dashboard that brings investing, risk, tax and family planning into one offline product.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21792" y="1408176"/>
            <a:ext cx="1234440" cy="0"/>
          </a:xfrm>
          <a:prstGeom prst="line">
            <a:avLst/>
          </a:prstGeom>
          <a:noFill/>
          <a:ln w="27940">
            <a:solidFill>
              <a:srgbClr val="A56C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32688" y="1755648"/>
            <a:ext cx="10332720" cy="4498848"/>
          </a:xfrm>
          <a:prstGeom prst="roundRect">
            <a:avLst>
              <a:gd name="adj" fmla="val 5691"/>
            </a:avLst>
          </a:prstGeom>
          <a:solidFill>
            <a:srgbClr val="101C38"/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/mnt/data/logo_icon.png"/>
          <p:cNvPicPr>
            <a:picLocks noChangeAspect="1"/>
          </p:cNvPicPr>
          <p:nvPr/>
        </p:nvPicPr>
        <p:blipFill>
          <a:blip r:embed="rId5">
            <a:alphaModFix amt="17000"/>
          </a:blip>
          <a:stretch>
            <a:fillRect/>
          </a:stretch>
        </p:blipFill>
        <p:spPr>
          <a:xfrm>
            <a:off x="7818120" y="1993392"/>
            <a:ext cx="2971800" cy="3703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2139696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dashboard.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financial asset.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ZERO data leaves your device.</a:t>
            </a:r>
            <a:endParaRPr lang="en-US" sz="2600" dirty="0"/>
          </a:p>
        </p:txBody>
      </p:sp>
      <p:sp>
        <p:nvSpPr>
          <p:cNvPr id="10" name="Shape 6"/>
          <p:cNvSpPr/>
          <p:nvPr/>
        </p:nvSpPr>
        <p:spPr>
          <a:xfrm>
            <a:off x="1353312" y="3913632"/>
            <a:ext cx="109728" cy="109728"/>
          </a:xfrm>
          <a:prstGeom prst="ellipse">
            <a:avLst/>
          </a:prstGeom>
          <a:solidFill>
            <a:srgbClr val="A56CFF"/>
          </a:solidFill>
          <a:ln w="12700">
            <a:solidFill>
              <a:srgbClr val="A56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536192" y="38221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A8B5D3"/>
                </a:solidFill>
              </a:rPr>
              <a:t>12 investment types</a:t>
            </a:r>
            <a:endParaRPr lang="en-US" sz="1280" dirty="0"/>
          </a:p>
        </p:txBody>
      </p:sp>
      <p:sp>
        <p:nvSpPr>
          <p:cNvPr id="12" name="Shape 8"/>
          <p:cNvSpPr/>
          <p:nvPr/>
        </p:nvSpPr>
        <p:spPr>
          <a:xfrm>
            <a:off x="1353312" y="4334256"/>
            <a:ext cx="109728" cy="109728"/>
          </a:xfrm>
          <a:prstGeom prst="ellipse">
            <a:avLst/>
          </a:prstGeom>
          <a:solidFill>
            <a:srgbClr val="28C7FF"/>
          </a:solidFill>
          <a:ln w="12700">
            <a:solidFill>
              <a:srgbClr val="28C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1536192" y="42428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A8B5D3"/>
                </a:solidFill>
              </a:rPr>
              <a:t>Live NSE stock prices</a:t>
            </a:r>
            <a:endParaRPr lang="en-US" sz="1280" dirty="0"/>
          </a:p>
        </p:txBody>
      </p:sp>
      <p:sp>
        <p:nvSpPr>
          <p:cNvPr id="14" name="Shape 10"/>
          <p:cNvSpPr/>
          <p:nvPr/>
        </p:nvSpPr>
        <p:spPr>
          <a:xfrm>
            <a:off x="1353312" y="4754880"/>
            <a:ext cx="109728" cy="109728"/>
          </a:xfrm>
          <a:prstGeom prst="ellipse">
            <a:avLst/>
          </a:prstGeom>
          <a:solidFill>
            <a:srgbClr val="A56CFF"/>
          </a:solidFill>
          <a:ln w="12700">
            <a:solidFill>
              <a:srgbClr val="A56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1536192" y="4663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A8B5D3"/>
                </a:solidFill>
              </a:rPr>
              <a:t>ValeurBot AI assistant</a:t>
            </a:r>
            <a:endParaRPr lang="en-US" sz="1280" dirty="0"/>
          </a:p>
        </p:txBody>
      </p:sp>
      <p:sp>
        <p:nvSpPr>
          <p:cNvPr id="16" name="Shape 12"/>
          <p:cNvSpPr/>
          <p:nvPr/>
        </p:nvSpPr>
        <p:spPr>
          <a:xfrm>
            <a:off x="1353312" y="5175504"/>
            <a:ext cx="109728" cy="109728"/>
          </a:xfrm>
          <a:prstGeom prst="ellipse">
            <a:avLst/>
          </a:prstGeom>
          <a:solidFill>
            <a:srgbClr val="28C7FF"/>
          </a:solidFill>
          <a:ln w="12700">
            <a:solidFill>
              <a:srgbClr val="28C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1536192" y="50840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A8B5D3"/>
                </a:solidFill>
              </a:rPr>
              <a:t>Tax calculator · LTCG / STCG</a:t>
            </a:r>
            <a:endParaRPr lang="en-US" sz="1280" dirty="0"/>
          </a:p>
        </p:txBody>
      </p:sp>
      <p:sp>
        <p:nvSpPr>
          <p:cNvPr id="18" name="Shape 14"/>
          <p:cNvSpPr/>
          <p:nvPr/>
        </p:nvSpPr>
        <p:spPr>
          <a:xfrm>
            <a:off x="4279392" y="3913632"/>
            <a:ext cx="109728" cy="109728"/>
          </a:xfrm>
          <a:prstGeom prst="ellipse">
            <a:avLst/>
          </a:prstGeom>
          <a:solidFill>
            <a:srgbClr val="A56CFF"/>
          </a:solidFill>
          <a:ln w="12700">
            <a:solidFill>
              <a:srgbClr val="A56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462272" y="38221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A8B5D3"/>
                </a:solidFill>
              </a:rPr>
              <a:t>Insurance + wealth scoring</a:t>
            </a:r>
            <a:endParaRPr lang="en-US" sz="1280" dirty="0"/>
          </a:p>
        </p:txBody>
      </p:sp>
      <p:sp>
        <p:nvSpPr>
          <p:cNvPr id="20" name="Shape 16"/>
          <p:cNvSpPr/>
          <p:nvPr/>
        </p:nvSpPr>
        <p:spPr>
          <a:xfrm>
            <a:off x="4279392" y="4334256"/>
            <a:ext cx="109728" cy="109728"/>
          </a:xfrm>
          <a:prstGeom prst="ellipse">
            <a:avLst/>
          </a:prstGeom>
          <a:solidFill>
            <a:srgbClr val="28C7FF"/>
          </a:solidFill>
          <a:ln w="12700">
            <a:solidFill>
              <a:srgbClr val="28C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462272" y="42428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A8B5D3"/>
                </a:solidFill>
              </a:rPr>
              <a:t>Family mode</a:t>
            </a:r>
            <a:endParaRPr lang="en-US" sz="1280" dirty="0"/>
          </a:p>
        </p:txBody>
      </p:sp>
      <p:sp>
        <p:nvSpPr>
          <p:cNvPr id="22" name="Shape 18"/>
          <p:cNvSpPr/>
          <p:nvPr/>
        </p:nvSpPr>
        <p:spPr>
          <a:xfrm>
            <a:off x="4279392" y="4754880"/>
            <a:ext cx="109728" cy="109728"/>
          </a:xfrm>
          <a:prstGeom prst="ellipse">
            <a:avLst/>
          </a:prstGeom>
          <a:solidFill>
            <a:srgbClr val="A56CFF"/>
          </a:solidFill>
          <a:ln w="12700">
            <a:solidFill>
              <a:srgbClr val="A56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462272" y="4663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A8B5D3"/>
                </a:solidFill>
              </a:rPr>
              <a:t>Installable offline PWA</a:t>
            </a:r>
            <a:endParaRPr lang="en-US" sz="1280" dirty="0"/>
          </a:p>
        </p:txBody>
      </p:sp>
      <p:sp>
        <p:nvSpPr>
          <p:cNvPr id="24" name="Shape 20"/>
          <p:cNvSpPr/>
          <p:nvPr/>
        </p:nvSpPr>
        <p:spPr>
          <a:xfrm>
            <a:off x="4279392" y="5175504"/>
            <a:ext cx="109728" cy="109728"/>
          </a:xfrm>
          <a:prstGeom prst="ellipse">
            <a:avLst/>
          </a:prstGeom>
          <a:solidFill>
            <a:srgbClr val="28C7FF"/>
          </a:solidFill>
          <a:ln w="12700">
            <a:solidFill>
              <a:srgbClr val="28C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4462272" y="50840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A8B5D3"/>
                </a:solidFill>
              </a:rPr>
              <a:t>No signup · no tracking</a:t>
            </a:r>
            <a:endParaRPr lang="en-US" sz="1280" dirty="0"/>
          </a:p>
        </p:txBody>
      </p:sp>
      <p:sp>
        <p:nvSpPr>
          <p:cNvPr id="26" name="Text 22"/>
          <p:cNvSpPr/>
          <p:nvPr/>
        </p:nvSpPr>
        <p:spPr>
          <a:xfrm>
            <a:off x="1298448" y="5486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C7FF"/>
                </a:solidFill>
              </a:rPr>
              <a:t>Built for Indian investors. By an Indian founder.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1298448" y="57607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6F8FF"/>
                </a:solidFill>
              </a:rPr>
              <a:t>No signup. No server. No tracking. Just your finances — your way.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11411712" y="644652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18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8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VALEURFIN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21792" y="56692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Six pillars that make the product defendable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21792" y="106070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5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just portfolio tracking — ValeurFin combines monitoring, insight, security and planning in one workflow.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21792" y="1408176"/>
            <a:ext cx="1234440" cy="0"/>
          </a:xfrm>
          <a:prstGeom prst="line">
            <a:avLst/>
          </a:prstGeom>
          <a:noFill/>
          <a:ln w="27940">
            <a:solidFill>
              <a:srgbClr val="A56C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04672" y="1783080"/>
            <a:ext cx="3328416" cy="1755648"/>
          </a:xfrm>
          <a:prstGeom prst="roundRect">
            <a:avLst>
              <a:gd name="adj" fmla="val 8333"/>
            </a:avLst>
          </a:prstGeom>
          <a:solidFill>
            <a:srgbClr val="0E1A33">
              <a:alpha val="95000"/>
            </a:srgbClr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05840" y="1947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5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05840" y="2258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 Tracking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2606040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B5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investment types across equity, debt, hybrid and alternatives — with invested, live value, return and owner tags.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53712" y="1783080"/>
            <a:ext cx="3328416" cy="1755648"/>
          </a:xfrm>
          <a:prstGeom prst="roundRect">
            <a:avLst>
              <a:gd name="adj" fmla="val 8333"/>
            </a:avLst>
          </a:prstGeom>
          <a:solidFill>
            <a:srgbClr val="0E1A33">
              <a:alpha val="95000"/>
            </a:srgbClr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54880" y="1947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8C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754880" y="2258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Market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754880" y="2606040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B5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NSE-oriented live prices, market pulse, heatmap, gainers/losers and 52-week context from one screen.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302752" y="1783080"/>
            <a:ext cx="3328416" cy="1755648"/>
          </a:xfrm>
          <a:prstGeom prst="roundRect">
            <a:avLst>
              <a:gd name="adj" fmla="val 8333"/>
            </a:avLst>
          </a:prstGeom>
          <a:solidFill>
            <a:srgbClr val="0E1A33">
              <a:alpha val="95000"/>
            </a:srgbClr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503920" y="1947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1D6B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503920" y="2258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Assistant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503920" y="2606040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B5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ValeurBot handles portfolio, tax, allocation, goals and insurance questions — with optional Gemini AI.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04672" y="3867912"/>
            <a:ext cx="3328416" cy="1755648"/>
          </a:xfrm>
          <a:prstGeom prst="roundRect">
            <a:avLst>
              <a:gd name="adj" fmla="val 8333"/>
            </a:avLst>
          </a:prstGeom>
          <a:solidFill>
            <a:srgbClr val="0E1A33">
              <a:alpha val="95000"/>
            </a:srgbClr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05840" y="4032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4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005840" y="4343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Tax Intelligence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005840" y="4690872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B5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Holding-period aware logic for LTCG/STCG, maturity cues and signals that bring selling discipline into the app.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53712" y="3867912"/>
            <a:ext cx="3328416" cy="1755648"/>
          </a:xfrm>
          <a:prstGeom prst="roundRect">
            <a:avLst>
              <a:gd name="adj" fmla="val 8333"/>
            </a:avLst>
          </a:prstGeom>
          <a:solidFill>
            <a:srgbClr val="0E1A33">
              <a:alpha val="95000"/>
            </a:srgbClr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754880" y="4032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5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4754880" y="4343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Scoring Engine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4754880" y="4690872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B5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Wealth and insurance scores convert scattered financial facts into a single prioritized action list.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302752" y="3867912"/>
            <a:ext cx="3328416" cy="1755648"/>
          </a:xfrm>
          <a:prstGeom prst="roundRect">
            <a:avLst>
              <a:gd name="adj" fmla="val 8333"/>
            </a:avLst>
          </a:prstGeom>
          <a:solidFill>
            <a:srgbClr val="0E1A33">
              <a:alpha val="95000"/>
            </a:srgbClr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503920" y="4032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8C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8503920" y="4343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Privacy-First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8503920" y="4690872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B5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client-side with IndexedDB + localStorage + session + cookie failsafe, plus PIN protection.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1411712" y="644652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18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8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VALEURFIN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21792" y="56692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Everything at a glance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21792" y="106070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5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home dashboard compresses net worth, scoring, allocation, alerts and action cues into one operating screen.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21792" y="1408176"/>
            <a:ext cx="1234440" cy="0"/>
          </a:xfrm>
          <a:prstGeom prst="line">
            <a:avLst/>
          </a:prstGeom>
          <a:noFill/>
          <a:ln w="27940">
            <a:solidFill>
              <a:srgbClr val="A56C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/mnt/data/valeurfin_pitch_assets/dashboard_showcase.sv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408" y="1673352"/>
            <a:ext cx="8412480" cy="483717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528048" y="1783080"/>
            <a:ext cx="2148840" cy="3840480"/>
          </a:xfrm>
          <a:prstGeom prst="roundRect">
            <a:avLst>
              <a:gd name="adj" fmla="val 8511"/>
            </a:avLst>
          </a:prstGeom>
          <a:solidFill>
            <a:srgbClr val="101C38"/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9646920" y="182880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F6F8FF"/>
                </a:solidFill>
              </a:rPr>
              <a:t>1  Net worth hero card</a:t>
            </a:r>
            <a:endParaRPr lang="en-US" sz="1140" dirty="0"/>
          </a:p>
        </p:txBody>
      </p:sp>
      <p:sp>
        <p:nvSpPr>
          <p:cNvPr id="10" name="Text 6"/>
          <p:cNvSpPr/>
          <p:nvPr/>
        </p:nvSpPr>
        <p:spPr>
          <a:xfrm>
            <a:off x="9646920" y="22128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F6F8FF"/>
                </a:solidFill>
              </a:rPr>
              <a:t>2  Wealth + insurance rings</a:t>
            </a:r>
            <a:endParaRPr lang="en-US" sz="1140" dirty="0"/>
          </a:p>
        </p:txBody>
      </p:sp>
      <p:sp>
        <p:nvSpPr>
          <p:cNvPr id="11" name="Text 7"/>
          <p:cNvSpPr/>
          <p:nvPr/>
        </p:nvSpPr>
        <p:spPr>
          <a:xfrm>
            <a:off x="9646920" y="2596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F6F8FF"/>
                </a:solidFill>
              </a:rPr>
              <a:t>3  AI tips surface</a:t>
            </a:r>
            <a:endParaRPr lang="en-US" sz="1140" dirty="0"/>
          </a:p>
        </p:txBody>
      </p:sp>
      <p:sp>
        <p:nvSpPr>
          <p:cNvPr id="12" name="Text 8"/>
          <p:cNvSpPr/>
          <p:nvPr/>
        </p:nvSpPr>
        <p:spPr>
          <a:xfrm>
            <a:off x="9646920" y="298094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F6F8FF"/>
                </a:solidFill>
              </a:rPr>
              <a:t>4  Asset allocation donut</a:t>
            </a:r>
            <a:endParaRPr lang="en-US" sz="1140" dirty="0"/>
          </a:p>
        </p:txBody>
      </p:sp>
      <p:sp>
        <p:nvSpPr>
          <p:cNvPr id="13" name="Text 9"/>
          <p:cNvSpPr/>
          <p:nvPr/>
        </p:nvSpPr>
        <p:spPr>
          <a:xfrm>
            <a:off x="9646920" y="336499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F6F8FF"/>
                </a:solidFill>
              </a:rPr>
              <a:t>5  Sector mix</a:t>
            </a:r>
            <a:endParaRPr lang="en-US" sz="1140" dirty="0"/>
          </a:p>
        </p:txBody>
      </p:sp>
      <p:sp>
        <p:nvSpPr>
          <p:cNvPr id="14" name="Text 10"/>
          <p:cNvSpPr/>
          <p:nvPr/>
        </p:nvSpPr>
        <p:spPr>
          <a:xfrm>
            <a:off x="9646920" y="3749040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F6F8FF"/>
                </a:solidFill>
              </a:rPr>
              <a:t>6  Net worth timeline</a:t>
            </a:r>
            <a:endParaRPr lang="en-US" sz="1140" dirty="0"/>
          </a:p>
        </p:txBody>
      </p:sp>
      <p:sp>
        <p:nvSpPr>
          <p:cNvPr id="15" name="Text 11"/>
          <p:cNvSpPr/>
          <p:nvPr/>
        </p:nvSpPr>
        <p:spPr>
          <a:xfrm>
            <a:off x="9646920" y="413308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F6F8FF"/>
                </a:solidFill>
              </a:rPr>
              <a:t>7  Top holdings</a:t>
            </a:r>
            <a:endParaRPr lang="en-US" sz="1140" dirty="0"/>
          </a:p>
        </p:txBody>
      </p:sp>
      <p:sp>
        <p:nvSpPr>
          <p:cNvPr id="16" name="Text 12"/>
          <p:cNvSpPr/>
          <p:nvPr/>
        </p:nvSpPr>
        <p:spPr>
          <a:xfrm>
            <a:off x="9646920" y="451713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F6F8FF"/>
                </a:solidFill>
              </a:rPr>
              <a:t>8  Exit cues</a:t>
            </a:r>
            <a:endParaRPr lang="en-US" sz="1140" dirty="0"/>
          </a:p>
        </p:txBody>
      </p:sp>
      <p:sp>
        <p:nvSpPr>
          <p:cNvPr id="17" name="Text 13"/>
          <p:cNvSpPr/>
          <p:nvPr/>
        </p:nvSpPr>
        <p:spPr>
          <a:xfrm>
            <a:off x="9646920" y="490118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F6F8FF"/>
                </a:solidFill>
              </a:rPr>
              <a:t>9  Expense pulse</a:t>
            </a:r>
            <a:endParaRPr lang="en-US" sz="1140" dirty="0"/>
          </a:p>
        </p:txBody>
      </p:sp>
      <p:sp>
        <p:nvSpPr>
          <p:cNvPr id="18" name="Text 14"/>
          <p:cNvSpPr/>
          <p:nvPr/>
        </p:nvSpPr>
        <p:spPr>
          <a:xfrm>
            <a:off x="9646920" y="528523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F6F8FF"/>
                </a:solidFill>
              </a:rPr>
              <a:t>10  Recent alerts</a:t>
            </a:r>
            <a:endParaRPr lang="en-US" sz="1140" dirty="0"/>
          </a:p>
        </p:txBody>
      </p:sp>
      <p:sp>
        <p:nvSpPr>
          <p:cNvPr id="19" name="Text 15"/>
          <p:cNvSpPr/>
          <p:nvPr/>
        </p:nvSpPr>
        <p:spPr>
          <a:xfrm>
            <a:off x="11411712" y="644652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18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8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VALEURFIN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21792" y="56692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 asset classes. One view.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21792" y="106070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5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the reality of Indian households — not just listed stocks.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21792" y="1408176"/>
            <a:ext cx="1234440" cy="0"/>
          </a:xfrm>
          <a:prstGeom prst="line">
            <a:avLst/>
          </a:prstGeom>
          <a:noFill/>
          <a:ln w="27940">
            <a:solidFill>
              <a:srgbClr val="A56C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41248" y="1755648"/>
            <a:ext cx="5486400" cy="4370832"/>
          </a:xfrm>
          <a:prstGeom prst="roundRect">
            <a:avLst>
              <a:gd name="adj" fmla="val 4603"/>
            </a:avLst>
          </a:prstGeom>
          <a:solidFill>
            <a:srgbClr val="0E1A33"/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115568" y="2066544"/>
            <a:ext cx="2240280" cy="420624"/>
          </a:xfrm>
          <a:prstGeom prst="roundRect">
            <a:avLst>
              <a:gd name="adj" fmla="val 26087"/>
            </a:avLst>
          </a:prstGeom>
          <a:solidFill>
            <a:srgbClr val="162746"/>
          </a:solidFill>
          <a:ln w="12700">
            <a:solidFill>
              <a:srgbClr val="2740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243584" y="2148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F"/>
                </a:solidFill>
              </a:rPr>
              <a:t>SIP / Mutual Funds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688336" y="2157984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8C7FF"/>
                </a:solidFill>
              </a:rPr>
              <a:t>EQUITY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3721608" y="2066544"/>
            <a:ext cx="2240280" cy="420624"/>
          </a:xfrm>
          <a:prstGeom prst="roundRect">
            <a:avLst>
              <a:gd name="adj" fmla="val 26087"/>
            </a:avLst>
          </a:prstGeom>
          <a:solidFill>
            <a:srgbClr val="162746"/>
          </a:solidFill>
          <a:ln w="12700">
            <a:solidFill>
              <a:srgbClr val="2740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849624" y="2148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F"/>
                </a:solidFill>
              </a:rPr>
              <a:t>Stocks / ETF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294376" y="2157984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8C7FF"/>
                </a:solidFill>
              </a:rPr>
              <a:t>EQUITY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1115568" y="2670048"/>
            <a:ext cx="2240280" cy="420624"/>
          </a:xfrm>
          <a:prstGeom prst="roundRect">
            <a:avLst>
              <a:gd name="adj" fmla="val 26087"/>
            </a:avLst>
          </a:prstGeom>
          <a:solidFill>
            <a:srgbClr val="142236"/>
          </a:solidFill>
          <a:ln w="12700">
            <a:solidFill>
              <a:srgbClr val="2740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243584" y="275234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F"/>
                </a:solidFill>
              </a:rPr>
              <a:t>Fixed Deposit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688336" y="276148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8C7FF"/>
                </a:solidFill>
              </a:rPr>
              <a:t>DEBT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3721608" y="2670048"/>
            <a:ext cx="2240280" cy="420624"/>
          </a:xfrm>
          <a:prstGeom prst="roundRect">
            <a:avLst>
              <a:gd name="adj" fmla="val 26087"/>
            </a:avLst>
          </a:prstGeom>
          <a:solidFill>
            <a:srgbClr val="142236"/>
          </a:solidFill>
          <a:ln w="12700">
            <a:solidFill>
              <a:srgbClr val="2740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849624" y="275234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F"/>
                </a:solidFill>
              </a:rPr>
              <a:t>Recurring Deposit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294376" y="2761488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8C7FF"/>
                </a:solidFill>
              </a:rPr>
              <a:t>DEBT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1115568" y="3273552"/>
            <a:ext cx="2240280" cy="420624"/>
          </a:xfrm>
          <a:prstGeom prst="roundRect">
            <a:avLst>
              <a:gd name="adj" fmla="val 26087"/>
            </a:avLst>
          </a:prstGeom>
          <a:solidFill>
            <a:srgbClr val="162746"/>
          </a:solidFill>
          <a:ln w="12700">
            <a:solidFill>
              <a:srgbClr val="2740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243584" y="335584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F"/>
                </a:solidFill>
              </a:rPr>
              <a:t>PPF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2688336" y="33649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8C7FF"/>
                </a:solidFill>
              </a:rPr>
              <a:t>DEBT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3721608" y="3273552"/>
            <a:ext cx="2240280" cy="420624"/>
          </a:xfrm>
          <a:prstGeom prst="roundRect">
            <a:avLst>
              <a:gd name="adj" fmla="val 26087"/>
            </a:avLst>
          </a:prstGeom>
          <a:solidFill>
            <a:srgbClr val="162746"/>
          </a:solidFill>
          <a:ln w="12700">
            <a:solidFill>
              <a:srgbClr val="2740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849624" y="335584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F"/>
                </a:solidFill>
              </a:rPr>
              <a:t>NPS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294376" y="33649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8C7FF"/>
                </a:solidFill>
              </a:rPr>
              <a:t>HYBRID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1115568" y="3877056"/>
            <a:ext cx="2240280" cy="420624"/>
          </a:xfrm>
          <a:prstGeom prst="roundRect">
            <a:avLst>
              <a:gd name="adj" fmla="val 26087"/>
            </a:avLst>
          </a:prstGeom>
          <a:solidFill>
            <a:srgbClr val="142236"/>
          </a:solidFill>
          <a:ln w="12700">
            <a:solidFill>
              <a:srgbClr val="2740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243584" y="395935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F"/>
                </a:solidFill>
              </a:rPr>
              <a:t>Gold / SGB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2688336" y="39684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8C7FF"/>
                </a:solidFill>
              </a:rPr>
              <a:t>ALTERNATIVE</a:t>
            </a:r>
            <a:endParaRPr lang="en-US" sz="880" dirty="0"/>
          </a:p>
        </p:txBody>
      </p:sp>
      <p:sp>
        <p:nvSpPr>
          <p:cNvPr id="29" name="Shape 26"/>
          <p:cNvSpPr/>
          <p:nvPr/>
        </p:nvSpPr>
        <p:spPr>
          <a:xfrm>
            <a:off x="3721608" y="3877056"/>
            <a:ext cx="2240280" cy="420624"/>
          </a:xfrm>
          <a:prstGeom prst="roundRect">
            <a:avLst>
              <a:gd name="adj" fmla="val 26087"/>
            </a:avLst>
          </a:prstGeom>
          <a:solidFill>
            <a:srgbClr val="142236"/>
          </a:solidFill>
          <a:ln w="12700">
            <a:solidFill>
              <a:srgbClr val="2740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849624" y="395935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F"/>
                </a:solidFill>
              </a:rPr>
              <a:t>Crypto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294376" y="3968496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8C7FF"/>
                </a:solidFill>
              </a:rPr>
              <a:t>ALTERNATIVE</a:t>
            </a:r>
            <a:endParaRPr lang="en-US" sz="880" dirty="0"/>
          </a:p>
        </p:txBody>
      </p:sp>
      <p:sp>
        <p:nvSpPr>
          <p:cNvPr id="32" name="Shape 29"/>
          <p:cNvSpPr/>
          <p:nvPr/>
        </p:nvSpPr>
        <p:spPr>
          <a:xfrm>
            <a:off x="1115568" y="4480560"/>
            <a:ext cx="2240280" cy="420624"/>
          </a:xfrm>
          <a:prstGeom prst="roundRect">
            <a:avLst>
              <a:gd name="adj" fmla="val 26087"/>
            </a:avLst>
          </a:prstGeom>
          <a:solidFill>
            <a:srgbClr val="162746"/>
          </a:solidFill>
          <a:ln w="12700">
            <a:solidFill>
              <a:srgbClr val="2740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1243584" y="456285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F"/>
                </a:solidFill>
              </a:rPr>
              <a:t>Real Estate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2688336" y="4572000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8C7FF"/>
                </a:solidFill>
              </a:rPr>
              <a:t>ALTERNATIVE</a:t>
            </a:r>
            <a:endParaRPr lang="en-US" sz="880" dirty="0"/>
          </a:p>
        </p:txBody>
      </p:sp>
      <p:sp>
        <p:nvSpPr>
          <p:cNvPr id="35" name="Shape 32"/>
          <p:cNvSpPr/>
          <p:nvPr/>
        </p:nvSpPr>
        <p:spPr>
          <a:xfrm>
            <a:off x="3721608" y="4480560"/>
            <a:ext cx="2240280" cy="420624"/>
          </a:xfrm>
          <a:prstGeom prst="roundRect">
            <a:avLst>
              <a:gd name="adj" fmla="val 26087"/>
            </a:avLst>
          </a:prstGeom>
          <a:solidFill>
            <a:srgbClr val="162746"/>
          </a:solidFill>
          <a:ln w="12700">
            <a:solidFill>
              <a:srgbClr val="2740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3849624" y="456285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F"/>
                </a:solidFill>
              </a:rPr>
              <a:t>ELSS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5294376" y="4572000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8C7FF"/>
                </a:solidFill>
              </a:rPr>
              <a:t>EQUITY</a:t>
            </a:r>
            <a:endParaRPr lang="en-US" sz="880" dirty="0"/>
          </a:p>
        </p:txBody>
      </p:sp>
      <p:sp>
        <p:nvSpPr>
          <p:cNvPr id="38" name="Shape 35"/>
          <p:cNvSpPr/>
          <p:nvPr/>
        </p:nvSpPr>
        <p:spPr>
          <a:xfrm>
            <a:off x="1115568" y="5084064"/>
            <a:ext cx="2240280" cy="420624"/>
          </a:xfrm>
          <a:prstGeom prst="roundRect">
            <a:avLst>
              <a:gd name="adj" fmla="val 26087"/>
            </a:avLst>
          </a:prstGeom>
          <a:solidFill>
            <a:srgbClr val="142236"/>
          </a:solidFill>
          <a:ln w="12700">
            <a:solidFill>
              <a:srgbClr val="2740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1243584" y="51663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F"/>
                </a:solidFill>
              </a:rPr>
              <a:t>Bonds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2688336" y="5175504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8C7FF"/>
                </a:solidFill>
              </a:rPr>
              <a:t>DEBT</a:t>
            </a:r>
            <a:endParaRPr lang="en-US" sz="880" dirty="0"/>
          </a:p>
        </p:txBody>
      </p:sp>
      <p:sp>
        <p:nvSpPr>
          <p:cNvPr id="41" name="Shape 38"/>
          <p:cNvSpPr/>
          <p:nvPr/>
        </p:nvSpPr>
        <p:spPr>
          <a:xfrm>
            <a:off x="3721608" y="5084064"/>
            <a:ext cx="2240280" cy="420624"/>
          </a:xfrm>
          <a:prstGeom prst="roundRect">
            <a:avLst>
              <a:gd name="adj" fmla="val 26087"/>
            </a:avLst>
          </a:prstGeom>
          <a:solidFill>
            <a:srgbClr val="142236"/>
          </a:solidFill>
          <a:ln w="12700">
            <a:solidFill>
              <a:srgbClr val="2740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3849624" y="51663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F"/>
                </a:solidFill>
              </a:rPr>
              <a:t>Others</a:t>
            </a:r>
            <a:endParaRPr lang="en-US" sz="1150" dirty="0"/>
          </a:p>
        </p:txBody>
      </p:sp>
      <p:sp>
        <p:nvSpPr>
          <p:cNvPr id="43" name="Text 40"/>
          <p:cNvSpPr/>
          <p:nvPr/>
        </p:nvSpPr>
        <p:spPr>
          <a:xfrm>
            <a:off x="5294376" y="5175504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8C7FF"/>
                </a:solidFill>
              </a:rPr>
              <a:t>ALTERNATIVE</a:t>
            </a:r>
            <a:endParaRPr lang="en-US" sz="880" dirty="0"/>
          </a:p>
        </p:txBody>
      </p:sp>
      <p:sp>
        <p:nvSpPr>
          <p:cNvPr id="44" name="Shape 41"/>
          <p:cNvSpPr/>
          <p:nvPr/>
        </p:nvSpPr>
        <p:spPr>
          <a:xfrm>
            <a:off x="6656832" y="1755648"/>
            <a:ext cx="4709160" cy="3090672"/>
          </a:xfrm>
          <a:prstGeom prst="roundRect">
            <a:avLst>
              <a:gd name="adj" fmla="val 6509"/>
            </a:avLst>
          </a:prstGeom>
          <a:solidFill>
            <a:srgbClr val="111F3D"/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6986016" y="2029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6F8FF"/>
                </a:solidFill>
              </a:rPr>
              <a:t>Reliance Industries</a:t>
            </a:r>
            <a:endParaRPr lang="en-US" sz="1900" dirty="0"/>
          </a:p>
        </p:txBody>
      </p:sp>
      <p:sp>
        <p:nvSpPr>
          <p:cNvPr id="46" name="Text 43"/>
          <p:cNvSpPr/>
          <p:nvPr/>
        </p:nvSpPr>
        <p:spPr>
          <a:xfrm>
            <a:off x="6986016" y="226771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5D3"/>
                </a:solidFill>
              </a:rPr>
              <a:t>Stocks · RELIANCE · Zerodha</a:t>
            </a:r>
            <a:endParaRPr 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6986016" y="259689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5D3"/>
                </a:solidFill>
              </a:rPr>
              <a:t>Invested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8211312" y="259689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F8FF"/>
                </a:solidFill>
              </a:rPr>
              <a:t>₹5,00,000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6986016" y="28986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5D3"/>
                </a:solidFill>
              </a:rPr>
              <a:t>Current</a:t>
            </a:r>
            <a:endParaRPr lang="en-US" sz="1150" dirty="0"/>
          </a:p>
        </p:txBody>
      </p:sp>
      <p:sp>
        <p:nvSpPr>
          <p:cNvPr id="50" name="Text 47"/>
          <p:cNvSpPr/>
          <p:nvPr/>
        </p:nvSpPr>
        <p:spPr>
          <a:xfrm>
            <a:off x="8211312" y="289864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₹6,84,750  LIVE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6986016" y="320040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5D3"/>
                </a:solidFill>
              </a:rPr>
              <a:t>Returns</a:t>
            </a:r>
            <a:endParaRPr lang="en-US" sz="1150" dirty="0"/>
          </a:p>
        </p:txBody>
      </p:sp>
      <p:sp>
        <p:nvSpPr>
          <p:cNvPr id="52" name="Text 49"/>
          <p:cNvSpPr/>
          <p:nvPr/>
        </p:nvSpPr>
        <p:spPr>
          <a:xfrm>
            <a:off x="8211312" y="32004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+₹1,84,750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6986016" y="350215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5D3"/>
                </a:solidFill>
              </a:rPr>
              <a:t>Return %</a:t>
            </a:r>
            <a:endParaRPr lang="en-US" sz="1150" dirty="0"/>
          </a:p>
        </p:txBody>
      </p:sp>
      <p:sp>
        <p:nvSpPr>
          <p:cNvPr id="54" name="Text 51"/>
          <p:cNvSpPr/>
          <p:nvPr/>
        </p:nvSpPr>
        <p:spPr>
          <a:xfrm>
            <a:off x="8211312" y="35021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+36.9%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6986016" y="380390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5D3"/>
                </a:solidFill>
              </a:rPr>
              <a:t>Tax</a:t>
            </a:r>
            <a:endParaRPr lang="en-US" sz="1150" dirty="0"/>
          </a:p>
        </p:txBody>
      </p:sp>
      <p:sp>
        <p:nvSpPr>
          <p:cNvPr id="56" name="Text 53"/>
          <p:cNvSpPr/>
          <p:nvPr/>
        </p:nvSpPr>
        <p:spPr>
          <a:xfrm>
            <a:off x="8211312" y="38039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C7FF"/>
                </a:solidFill>
              </a:rPr>
              <a:t>LTCG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6986016" y="410565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5D3"/>
                </a:solidFill>
              </a:rPr>
              <a:t>Signal</a:t>
            </a:r>
            <a:endParaRPr lang="en-US" sz="1150" dirty="0"/>
          </a:p>
        </p:txBody>
      </p:sp>
      <p:sp>
        <p:nvSpPr>
          <p:cNvPr id="58" name="Text 55"/>
          <p:cNvSpPr/>
          <p:nvPr/>
        </p:nvSpPr>
        <p:spPr>
          <a:xfrm>
            <a:off x="8211312" y="41056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1D6B9"/>
                </a:solidFill>
              </a:rPr>
              <a:t>Hold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6656832" y="5047488"/>
            <a:ext cx="4709160" cy="1078992"/>
          </a:xfrm>
          <a:prstGeom prst="roundRect">
            <a:avLst>
              <a:gd name="adj" fmla="val 15254"/>
            </a:avLst>
          </a:prstGeom>
          <a:solidFill>
            <a:srgbClr val="101C38"/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6967728" y="534009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A8B5D3"/>
                </a:solidFill>
              </a:rPr>
              <a:t>Also includes MF search, symbol mapping, step-up SIP, maturity tracking and platform tagging.</a:t>
            </a:r>
            <a:endParaRPr lang="en-US" sz="1220" dirty="0"/>
          </a:p>
        </p:txBody>
      </p:sp>
      <p:sp>
        <p:nvSpPr>
          <p:cNvPr id="61" name="Text 58"/>
          <p:cNvSpPr/>
          <p:nvPr/>
        </p:nvSpPr>
        <p:spPr>
          <a:xfrm>
            <a:off x="11411712" y="644652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18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8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VALEURFIN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21792" y="56692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 pulse — live from NSE context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21792" y="106070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5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portfolio view that stays connected to what the Indian market is doing right now.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21792" y="1408176"/>
            <a:ext cx="1234440" cy="0"/>
          </a:xfrm>
          <a:prstGeom prst="line">
            <a:avLst/>
          </a:prstGeom>
          <a:noFill/>
          <a:ln w="27940">
            <a:solidFill>
              <a:srgbClr val="A56C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6384" y="1700784"/>
            <a:ext cx="7882128" cy="486460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915400" y="1783080"/>
            <a:ext cx="2468880" cy="4681728"/>
          </a:xfrm>
          <a:prstGeom prst="roundRect">
            <a:avLst>
              <a:gd name="adj" fmla="val 7407"/>
            </a:avLst>
          </a:prstGeom>
          <a:solidFill>
            <a:srgbClr val="101C38"/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9171432" y="2057400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9427464" y="20116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8FF"/>
                </a:solidFill>
              </a:rPr>
              <a:t>Index overview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427464" y="22128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5D3"/>
                </a:solidFill>
              </a:rPr>
              <a:t>NIFTY 50, SENSEX, BANK NIFTY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9171432" y="2807208"/>
            <a:ext cx="164592" cy="164592"/>
          </a:xfrm>
          <a:prstGeom prst="ellipse">
            <a:avLst/>
          </a:prstGeom>
          <a:solidFill>
            <a:srgbClr val="28C7FF"/>
          </a:solidFill>
          <a:ln w="12700">
            <a:solidFill>
              <a:srgbClr val="28C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9427464" y="27614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8FF"/>
                </a:solidFill>
              </a:rPr>
              <a:t>Portfolio live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427464" y="296265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5D3"/>
                </a:solidFill>
              </a:rPr>
              <a:t>price, day move, 52-week range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9171432" y="3557016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9427464" y="35112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8FF"/>
                </a:solidFill>
              </a:rPr>
              <a:t>Auto-ranked top gainers and losers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9427464" y="371246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9171432" y="4306824"/>
            <a:ext cx="164592" cy="164592"/>
          </a:xfrm>
          <a:prstGeom prst="ellipse">
            <a:avLst/>
          </a:prstGeom>
          <a:solidFill>
            <a:srgbClr val="28C7FF"/>
          </a:solidFill>
          <a:ln w="12700">
            <a:solidFill>
              <a:srgbClr val="28C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9427464" y="42611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8FF"/>
                </a:solidFill>
              </a:rPr>
              <a:t>52-week context for review decisions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9427464" y="44622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9171432" y="5056632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9427464" y="50109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8FF"/>
                </a:solidFill>
              </a:rPr>
              <a:t>Embedded NSE heatmap for sector leadership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9427464" y="52120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9235440" y="6016752"/>
            <a:ext cx="1828800" cy="310896"/>
          </a:xfrm>
          <a:prstGeom prst="roundRect">
            <a:avLst>
              <a:gd name="adj" fmla="val 35294"/>
            </a:avLst>
          </a:prstGeom>
          <a:solidFill>
            <a:srgbClr val="142236"/>
          </a:solidFill>
          <a:ln w="12700">
            <a:solidFill>
              <a:srgbClr val="27406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9235440" y="60304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8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UPDATES WITH ONE TAP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11411712" y="644652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18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8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VALEURFIN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21792" y="56692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ValeurBot — your financial co-pilot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21792" y="106070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5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assistant is designed to answer practical, portfolio-aware questions without forcing users into another app.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21792" y="1408176"/>
            <a:ext cx="1234440" cy="0"/>
          </a:xfrm>
          <a:prstGeom prst="line">
            <a:avLst/>
          </a:prstGeom>
          <a:noFill/>
          <a:ln w="27940">
            <a:solidFill>
              <a:srgbClr val="A56C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9808" y="1737360"/>
            <a:ext cx="804672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098280" y="1810512"/>
            <a:ext cx="2194560" cy="4645152"/>
          </a:xfrm>
          <a:prstGeom prst="roundRect">
            <a:avLst>
              <a:gd name="adj" fmla="val 8333"/>
            </a:avLst>
          </a:prstGeom>
          <a:solidFill>
            <a:srgbClr val="101C38"/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9354312" y="2066544"/>
            <a:ext cx="109728" cy="109728"/>
          </a:xfrm>
          <a:prstGeom prst="ellipse">
            <a:avLst/>
          </a:prstGeom>
          <a:solidFill>
            <a:srgbClr val="A56CFF"/>
          </a:solidFill>
          <a:ln w="12700">
            <a:solidFill>
              <a:srgbClr val="A56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9537192" y="19842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F6F8FF"/>
                </a:solidFill>
              </a:rPr>
              <a:t>Portfolio Q&amp;A</a:t>
            </a:r>
            <a:endParaRPr lang="en-US" sz="1260" dirty="0"/>
          </a:p>
        </p:txBody>
      </p:sp>
      <p:sp>
        <p:nvSpPr>
          <p:cNvPr id="11" name="Shape 7"/>
          <p:cNvSpPr/>
          <p:nvPr/>
        </p:nvSpPr>
        <p:spPr>
          <a:xfrm>
            <a:off x="9354312" y="2651760"/>
            <a:ext cx="109728" cy="109728"/>
          </a:xfrm>
          <a:prstGeom prst="ellipse">
            <a:avLst/>
          </a:prstGeom>
          <a:solidFill>
            <a:srgbClr val="28C7FF"/>
          </a:solidFill>
          <a:ln w="12700">
            <a:solidFill>
              <a:srgbClr val="28C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9537192" y="25694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F6F8FF"/>
                </a:solidFill>
              </a:rPr>
              <a:t>Tax + exit cues</a:t>
            </a:r>
            <a:endParaRPr lang="en-US" sz="1260" dirty="0"/>
          </a:p>
        </p:txBody>
      </p:sp>
      <p:sp>
        <p:nvSpPr>
          <p:cNvPr id="13" name="Shape 9"/>
          <p:cNvSpPr/>
          <p:nvPr/>
        </p:nvSpPr>
        <p:spPr>
          <a:xfrm>
            <a:off x="9354312" y="3236976"/>
            <a:ext cx="109728" cy="109728"/>
          </a:xfrm>
          <a:prstGeom prst="ellipse">
            <a:avLst/>
          </a:prstGeom>
          <a:solidFill>
            <a:srgbClr val="A56CFF"/>
          </a:solidFill>
          <a:ln w="12700">
            <a:solidFill>
              <a:srgbClr val="A56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9537192" y="31546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F6F8FF"/>
                </a:solidFill>
              </a:rPr>
              <a:t>Goals + insurance</a:t>
            </a:r>
            <a:endParaRPr lang="en-US" sz="1260" dirty="0"/>
          </a:p>
        </p:txBody>
      </p:sp>
      <p:sp>
        <p:nvSpPr>
          <p:cNvPr id="15" name="Shape 11"/>
          <p:cNvSpPr/>
          <p:nvPr/>
        </p:nvSpPr>
        <p:spPr>
          <a:xfrm>
            <a:off x="9354312" y="3822192"/>
            <a:ext cx="109728" cy="109728"/>
          </a:xfrm>
          <a:prstGeom prst="ellipse">
            <a:avLst/>
          </a:prstGeom>
          <a:solidFill>
            <a:srgbClr val="28C7FF"/>
          </a:solidFill>
          <a:ln w="12700">
            <a:solidFill>
              <a:srgbClr val="28C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9537192" y="37398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F6F8FF"/>
                </a:solidFill>
              </a:rPr>
              <a:t>Voice input</a:t>
            </a:r>
            <a:endParaRPr lang="en-US" sz="1260" dirty="0"/>
          </a:p>
        </p:txBody>
      </p:sp>
      <p:sp>
        <p:nvSpPr>
          <p:cNvPr id="17" name="Shape 13"/>
          <p:cNvSpPr/>
          <p:nvPr/>
        </p:nvSpPr>
        <p:spPr>
          <a:xfrm>
            <a:off x="9354312" y="4407408"/>
            <a:ext cx="109728" cy="109728"/>
          </a:xfrm>
          <a:prstGeom prst="ellipse">
            <a:avLst/>
          </a:prstGeom>
          <a:solidFill>
            <a:srgbClr val="A56CFF"/>
          </a:solidFill>
          <a:ln w="12700">
            <a:solidFill>
              <a:srgbClr val="A56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9537192" y="432511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F6F8FF"/>
                </a:solidFill>
              </a:rPr>
              <a:t>Local by default</a:t>
            </a:r>
            <a:endParaRPr lang="en-US" sz="1260" dirty="0"/>
          </a:p>
        </p:txBody>
      </p:sp>
      <p:sp>
        <p:nvSpPr>
          <p:cNvPr id="19" name="Shape 15"/>
          <p:cNvSpPr/>
          <p:nvPr/>
        </p:nvSpPr>
        <p:spPr>
          <a:xfrm>
            <a:off x="9354312" y="4992624"/>
            <a:ext cx="109728" cy="109728"/>
          </a:xfrm>
          <a:prstGeom prst="ellipse">
            <a:avLst/>
          </a:prstGeom>
          <a:solidFill>
            <a:srgbClr val="28C7FF"/>
          </a:solidFill>
          <a:ln w="12700">
            <a:solidFill>
              <a:srgbClr val="28C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9537192" y="49103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F6F8FF"/>
                </a:solidFill>
              </a:rPr>
              <a:t>Optional Gemini mode</a:t>
            </a:r>
            <a:endParaRPr lang="en-US" sz="1260" dirty="0"/>
          </a:p>
        </p:txBody>
      </p:sp>
      <p:sp>
        <p:nvSpPr>
          <p:cNvPr id="21" name="Text 17"/>
          <p:cNvSpPr/>
          <p:nvPr/>
        </p:nvSpPr>
        <p:spPr>
          <a:xfrm>
            <a:off x="11411712" y="644652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18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8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VALEURFIN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21792" y="56692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Tax calculator + exit intelligence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21792" y="106070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5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planning layer that helps users understand what happens before they sell.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21792" y="1408176"/>
            <a:ext cx="1234440" cy="0"/>
          </a:xfrm>
          <a:prstGeom prst="line">
            <a:avLst/>
          </a:prstGeom>
          <a:noFill/>
          <a:ln w="27940">
            <a:solidFill>
              <a:srgbClr val="A56C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41248" y="1755648"/>
            <a:ext cx="5394960" cy="4617720"/>
          </a:xfrm>
          <a:prstGeom prst="roundRect">
            <a:avLst>
              <a:gd name="adj" fmla="val 4356"/>
            </a:avLst>
          </a:prstGeom>
          <a:solidFill>
            <a:srgbClr val="101C38"/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133856" y="19933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C7FF"/>
                </a:solidFill>
              </a:rPr>
              <a:t>Indicative tax logic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33856" y="23042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6F8FF"/>
                </a:solidFill>
              </a:rPr>
              <a:t>Asset</a:t>
            </a:r>
            <a:endParaRPr lang="en-US" sz="1180" dirty="0"/>
          </a:p>
        </p:txBody>
      </p:sp>
      <p:sp>
        <p:nvSpPr>
          <p:cNvPr id="10" name="Text 7"/>
          <p:cNvSpPr/>
          <p:nvPr/>
        </p:nvSpPr>
        <p:spPr>
          <a:xfrm>
            <a:off x="2916936" y="23042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6F8FF"/>
                </a:solidFill>
              </a:rPr>
              <a:t>Short term</a:t>
            </a:r>
            <a:endParaRPr lang="en-US" sz="1180" dirty="0"/>
          </a:p>
        </p:txBody>
      </p:sp>
      <p:sp>
        <p:nvSpPr>
          <p:cNvPr id="11" name="Text 8"/>
          <p:cNvSpPr/>
          <p:nvPr/>
        </p:nvSpPr>
        <p:spPr>
          <a:xfrm>
            <a:off x="4535424" y="23042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6F8FF"/>
                </a:solidFill>
              </a:rPr>
              <a:t>Long term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1042416" y="2578608"/>
            <a:ext cx="4974336" cy="384048"/>
          </a:xfrm>
          <a:prstGeom prst="roundRect">
            <a:avLst>
              <a:gd name="adj" fmla="val 19048"/>
            </a:avLst>
          </a:prstGeom>
          <a:solidFill>
            <a:srgbClr val="162746"/>
          </a:solidFill>
          <a:ln w="12700">
            <a:solidFill>
              <a:srgbClr val="27406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133856" y="265176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6F8FF"/>
                </a:solidFill>
              </a:rPr>
              <a:t>Listed equity / ELSS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2889504" y="265176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A8B5D3"/>
                </a:solidFill>
              </a:rPr>
              <a:t>20% STCG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4507992" y="265176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A8B5D3"/>
                </a:solidFill>
              </a:rPr>
              <a:t>12.5% LTCG · ₹1.25L exempt</a:t>
            </a:r>
            <a:endParaRPr lang="en-US" sz="1010" dirty="0"/>
          </a:p>
        </p:txBody>
      </p:sp>
      <p:sp>
        <p:nvSpPr>
          <p:cNvPr id="16" name="Shape 13"/>
          <p:cNvSpPr/>
          <p:nvPr/>
        </p:nvSpPr>
        <p:spPr>
          <a:xfrm>
            <a:off x="1042416" y="3099816"/>
            <a:ext cx="4974336" cy="384048"/>
          </a:xfrm>
          <a:prstGeom prst="roundRect">
            <a:avLst>
              <a:gd name="adj" fmla="val 19048"/>
            </a:avLst>
          </a:prstGeom>
          <a:solidFill>
            <a:srgbClr val="142236"/>
          </a:solidFill>
          <a:ln w="12700">
            <a:solidFill>
              <a:srgbClr val="27406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133856" y="317296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6F8FF"/>
                </a:solidFill>
              </a:rPr>
              <a:t>Gold / land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2889504" y="317296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A8B5D3"/>
                </a:solidFill>
              </a:rPr>
              <a:t>Slab / applicable rules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4507992" y="317296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A8B5D3"/>
                </a:solidFill>
              </a:rPr>
              <a:t>12.5% LTCG (indicative)</a:t>
            </a:r>
            <a:endParaRPr lang="en-US" sz="1010" dirty="0"/>
          </a:p>
        </p:txBody>
      </p:sp>
      <p:sp>
        <p:nvSpPr>
          <p:cNvPr id="20" name="Shape 17"/>
          <p:cNvSpPr/>
          <p:nvPr/>
        </p:nvSpPr>
        <p:spPr>
          <a:xfrm>
            <a:off x="1042416" y="3621024"/>
            <a:ext cx="4974336" cy="384048"/>
          </a:xfrm>
          <a:prstGeom prst="roundRect">
            <a:avLst>
              <a:gd name="adj" fmla="val 19048"/>
            </a:avLst>
          </a:prstGeom>
          <a:solidFill>
            <a:srgbClr val="162746"/>
          </a:solidFill>
          <a:ln w="12700">
            <a:solidFill>
              <a:srgbClr val="27406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133856" y="369417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6F8FF"/>
                </a:solidFill>
              </a:rPr>
              <a:t>FD / RD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2889504" y="369417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A8B5D3"/>
                </a:solidFill>
              </a:rPr>
              <a:t>Slab rate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4507992" y="3694176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A8B5D3"/>
                </a:solidFill>
              </a:rPr>
              <a:t>Slab rate</a:t>
            </a:r>
            <a:endParaRPr lang="en-US" sz="1010" dirty="0"/>
          </a:p>
        </p:txBody>
      </p:sp>
      <p:sp>
        <p:nvSpPr>
          <p:cNvPr id="24" name="Shape 21"/>
          <p:cNvSpPr/>
          <p:nvPr/>
        </p:nvSpPr>
        <p:spPr>
          <a:xfrm>
            <a:off x="1042416" y="4142232"/>
            <a:ext cx="4974336" cy="384048"/>
          </a:xfrm>
          <a:prstGeom prst="roundRect">
            <a:avLst>
              <a:gd name="adj" fmla="val 19048"/>
            </a:avLst>
          </a:prstGeom>
          <a:solidFill>
            <a:srgbClr val="142236"/>
          </a:solidFill>
          <a:ln w="12700">
            <a:solidFill>
              <a:srgbClr val="27406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133856" y="421538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6F8FF"/>
                </a:solidFill>
              </a:rPr>
              <a:t>PPF</a:t>
            </a:r>
            <a:endParaRPr lang="en-US" sz="1080" dirty="0"/>
          </a:p>
        </p:txBody>
      </p:sp>
      <p:sp>
        <p:nvSpPr>
          <p:cNvPr id="26" name="Text 23"/>
          <p:cNvSpPr/>
          <p:nvPr/>
        </p:nvSpPr>
        <p:spPr>
          <a:xfrm>
            <a:off x="2889504" y="4215384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A8B5D3"/>
                </a:solidFill>
              </a:rPr>
              <a:t>Exempt</a:t>
            </a:r>
            <a:endParaRPr lang="en-US" sz="1080" dirty="0"/>
          </a:p>
        </p:txBody>
      </p:sp>
      <p:sp>
        <p:nvSpPr>
          <p:cNvPr id="27" name="Text 24"/>
          <p:cNvSpPr/>
          <p:nvPr/>
        </p:nvSpPr>
        <p:spPr>
          <a:xfrm>
            <a:off x="4507992" y="421538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A8B5D3"/>
                </a:solidFill>
              </a:rPr>
              <a:t>Exempt</a:t>
            </a:r>
            <a:endParaRPr lang="en-US" sz="1010" dirty="0"/>
          </a:p>
        </p:txBody>
      </p:sp>
      <p:sp>
        <p:nvSpPr>
          <p:cNvPr id="28" name="Shape 25"/>
          <p:cNvSpPr/>
          <p:nvPr/>
        </p:nvSpPr>
        <p:spPr>
          <a:xfrm>
            <a:off x="1042416" y="4663440"/>
            <a:ext cx="4974336" cy="384048"/>
          </a:xfrm>
          <a:prstGeom prst="roundRect">
            <a:avLst>
              <a:gd name="adj" fmla="val 19048"/>
            </a:avLst>
          </a:prstGeom>
          <a:solidFill>
            <a:srgbClr val="162746"/>
          </a:solidFill>
          <a:ln w="12700">
            <a:solidFill>
              <a:srgbClr val="27406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133856" y="4736592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6F8FF"/>
                </a:solidFill>
              </a:rPr>
              <a:t>Crypto / VDA</a:t>
            </a:r>
            <a:endParaRPr lang="en-US" sz="1080" dirty="0"/>
          </a:p>
        </p:txBody>
      </p:sp>
      <p:sp>
        <p:nvSpPr>
          <p:cNvPr id="30" name="Text 27"/>
          <p:cNvSpPr/>
          <p:nvPr/>
        </p:nvSpPr>
        <p:spPr>
          <a:xfrm>
            <a:off x="2889504" y="473659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A8B5D3"/>
                </a:solidFill>
              </a:rPr>
              <a:t>30% flat</a:t>
            </a:r>
            <a:endParaRPr lang="en-US" sz="1080" dirty="0"/>
          </a:p>
        </p:txBody>
      </p:sp>
      <p:sp>
        <p:nvSpPr>
          <p:cNvPr id="31" name="Text 28"/>
          <p:cNvSpPr/>
          <p:nvPr/>
        </p:nvSpPr>
        <p:spPr>
          <a:xfrm>
            <a:off x="4507992" y="473659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A8B5D3"/>
                </a:solidFill>
              </a:rPr>
              <a:t>30% flat</a:t>
            </a:r>
            <a:endParaRPr lang="en-US" sz="1010" dirty="0"/>
          </a:p>
        </p:txBody>
      </p:sp>
      <p:sp>
        <p:nvSpPr>
          <p:cNvPr id="32" name="Text 29"/>
          <p:cNvSpPr/>
          <p:nvPr/>
        </p:nvSpPr>
        <p:spPr>
          <a:xfrm>
            <a:off x="1133856" y="54132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A8B5D3"/>
                </a:solidFill>
              </a:rPr>
              <a:t>ValeurFin auto-classifies holdings by duration and shows an estimated tax lens inside the app.</a:t>
            </a:r>
            <a:endParaRPr lang="en-US" sz="1130" dirty="0"/>
          </a:p>
        </p:txBody>
      </p:sp>
      <p:sp>
        <p:nvSpPr>
          <p:cNvPr id="33" name="Shape 30"/>
          <p:cNvSpPr/>
          <p:nvPr/>
        </p:nvSpPr>
        <p:spPr>
          <a:xfrm>
            <a:off x="6455664" y="1755648"/>
            <a:ext cx="4892040" cy="4617720"/>
          </a:xfrm>
          <a:prstGeom prst="roundRect">
            <a:avLst>
              <a:gd name="adj" fmla="val 4356"/>
            </a:avLst>
          </a:prstGeom>
          <a:solidFill>
            <a:srgbClr val="101C38"/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766560" y="19933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C7FF"/>
                </a:solidFill>
              </a:rPr>
              <a:t>Exit signal engine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6675120" y="2487168"/>
            <a:ext cx="4443984" cy="420624"/>
          </a:xfrm>
          <a:prstGeom prst="roundRect">
            <a:avLst>
              <a:gd name="adj" fmla="val 26087"/>
            </a:avLst>
          </a:prstGeom>
          <a:solidFill>
            <a:srgbClr val="162746"/>
          </a:solidFill>
          <a:ln w="12700">
            <a:solidFill>
              <a:srgbClr val="27406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876288" y="260604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7077456" y="256032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F6F8FF"/>
                </a:solidFill>
              </a:rPr>
              <a:t>Target hit</a:t>
            </a:r>
            <a:endParaRPr lang="en-US" sz="1170" dirty="0"/>
          </a:p>
        </p:txBody>
      </p:sp>
      <p:sp>
        <p:nvSpPr>
          <p:cNvPr id="38" name="Text 35"/>
          <p:cNvSpPr/>
          <p:nvPr/>
        </p:nvSpPr>
        <p:spPr>
          <a:xfrm>
            <a:off x="8183880" y="25603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A8B5D3"/>
                </a:solidFill>
              </a:rPr>
              <a:t>Return % ≥ your target</a:t>
            </a:r>
            <a:endParaRPr lang="en-US" sz="1070" dirty="0"/>
          </a:p>
        </p:txBody>
      </p:sp>
      <p:sp>
        <p:nvSpPr>
          <p:cNvPr id="39" name="Shape 36"/>
          <p:cNvSpPr/>
          <p:nvPr/>
        </p:nvSpPr>
        <p:spPr>
          <a:xfrm>
            <a:off x="6675120" y="3072384"/>
            <a:ext cx="4443984" cy="420624"/>
          </a:xfrm>
          <a:prstGeom prst="roundRect">
            <a:avLst>
              <a:gd name="adj" fmla="val 26087"/>
            </a:avLst>
          </a:prstGeom>
          <a:solidFill>
            <a:srgbClr val="142236"/>
          </a:solidFill>
          <a:ln w="12700">
            <a:solidFill>
              <a:srgbClr val="27406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6876288" y="3191256"/>
            <a:ext cx="109728" cy="109728"/>
          </a:xfrm>
          <a:prstGeom prst="ellipse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7077456" y="314553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F6F8FF"/>
                </a:solidFill>
              </a:rPr>
              <a:t>Stop loss</a:t>
            </a:r>
            <a:endParaRPr lang="en-US" sz="1170" dirty="0"/>
          </a:p>
        </p:txBody>
      </p:sp>
      <p:sp>
        <p:nvSpPr>
          <p:cNvPr id="42" name="Text 39"/>
          <p:cNvSpPr/>
          <p:nvPr/>
        </p:nvSpPr>
        <p:spPr>
          <a:xfrm>
            <a:off x="8183880" y="31455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A8B5D3"/>
                </a:solidFill>
              </a:rPr>
              <a:t>Return % ≤ your stop loss</a:t>
            </a:r>
            <a:endParaRPr lang="en-US" sz="1070" dirty="0"/>
          </a:p>
        </p:txBody>
      </p:sp>
      <p:sp>
        <p:nvSpPr>
          <p:cNvPr id="43" name="Shape 40"/>
          <p:cNvSpPr/>
          <p:nvPr/>
        </p:nvSpPr>
        <p:spPr>
          <a:xfrm>
            <a:off x="6675120" y="3657600"/>
            <a:ext cx="4443984" cy="420624"/>
          </a:xfrm>
          <a:prstGeom prst="roundRect">
            <a:avLst>
              <a:gd name="adj" fmla="val 26087"/>
            </a:avLst>
          </a:prstGeom>
          <a:solidFill>
            <a:srgbClr val="162746"/>
          </a:solidFill>
          <a:ln w="12700">
            <a:solidFill>
              <a:srgbClr val="27406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6876288" y="3776472"/>
            <a:ext cx="109728" cy="109728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7077456" y="37307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F6F8FF"/>
                </a:solidFill>
              </a:rPr>
              <a:t>Matured</a:t>
            </a:r>
            <a:endParaRPr lang="en-US" sz="1170" dirty="0"/>
          </a:p>
        </p:txBody>
      </p:sp>
      <p:sp>
        <p:nvSpPr>
          <p:cNvPr id="46" name="Text 43"/>
          <p:cNvSpPr/>
          <p:nvPr/>
        </p:nvSpPr>
        <p:spPr>
          <a:xfrm>
            <a:off x="8183880" y="37307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A8B5D3"/>
                </a:solidFill>
              </a:rPr>
              <a:t>FD / RD maturity passed</a:t>
            </a:r>
            <a:endParaRPr lang="en-US" sz="1070" dirty="0"/>
          </a:p>
        </p:txBody>
      </p:sp>
      <p:sp>
        <p:nvSpPr>
          <p:cNvPr id="47" name="Shape 44"/>
          <p:cNvSpPr/>
          <p:nvPr/>
        </p:nvSpPr>
        <p:spPr>
          <a:xfrm>
            <a:off x="6675120" y="4242816"/>
            <a:ext cx="4443984" cy="420624"/>
          </a:xfrm>
          <a:prstGeom prst="roundRect">
            <a:avLst>
              <a:gd name="adj" fmla="val 26087"/>
            </a:avLst>
          </a:prstGeom>
          <a:solidFill>
            <a:srgbClr val="142236"/>
          </a:solidFill>
          <a:ln w="12700">
            <a:solidFill>
              <a:srgbClr val="27406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6876288" y="4361688"/>
            <a:ext cx="109728" cy="109728"/>
          </a:xfrm>
          <a:prstGeom prst="ellipse">
            <a:avLst/>
          </a:prstGeom>
          <a:solidFill>
            <a:srgbClr val="28C7FF"/>
          </a:solidFill>
          <a:ln w="12700">
            <a:solidFill>
              <a:srgbClr val="28C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7077456" y="431596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F6F8FF"/>
                </a:solidFill>
              </a:rPr>
              <a:t>52W low</a:t>
            </a:r>
            <a:endParaRPr lang="en-US" sz="1170" dirty="0"/>
          </a:p>
        </p:txBody>
      </p:sp>
      <p:sp>
        <p:nvSpPr>
          <p:cNvPr id="50" name="Text 47"/>
          <p:cNvSpPr/>
          <p:nvPr/>
        </p:nvSpPr>
        <p:spPr>
          <a:xfrm>
            <a:off x="8183880" y="43159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A8B5D3"/>
                </a:solidFill>
              </a:rPr>
              <a:t>Within 5% of 52-week low</a:t>
            </a:r>
            <a:endParaRPr lang="en-US" sz="1070" dirty="0"/>
          </a:p>
        </p:txBody>
      </p:sp>
      <p:sp>
        <p:nvSpPr>
          <p:cNvPr id="51" name="Shape 48"/>
          <p:cNvSpPr/>
          <p:nvPr/>
        </p:nvSpPr>
        <p:spPr>
          <a:xfrm>
            <a:off x="6675120" y="4828032"/>
            <a:ext cx="4443984" cy="420624"/>
          </a:xfrm>
          <a:prstGeom prst="roundRect">
            <a:avLst>
              <a:gd name="adj" fmla="val 26087"/>
            </a:avLst>
          </a:prstGeom>
          <a:solidFill>
            <a:srgbClr val="162746"/>
          </a:solidFill>
          <a:ln w="12700">
            <a:solidFill>
              <a:srgbClr val="27406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6876288" y="4946904"/>
            <a:ext cx="109728" cy="109728"/>
          </a:xfrm>
          <a:prstGeom prst="ellipse">
            <a:avLst/>
          </a:prstGeom>
          <a:solidFill>
            <a:srgbClr val="A56CFF"/>
          </a:solidFill>
          <a:ln w="12700">
            <a:solidFill>
              <a:srgbClr val="A56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7077456" y="490118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F6F8FF"/>
                </a:solidFill>
              </a:rPr>
              <a:t>Overweight</a:t>
            </a:r>
            <a:endParaRPr lang="en-US" sz="1170" dirty="0"/>
          </a:p>
        </p:txBody>
      </p:sp>
      <p:sp>
        <p:nvSpPr>
          <p:cNvPr id="54" name="Text 51"/>
          <p:cNvSpPr/>
          <p:nvPr/>
        </p:nvSpPr>
        <p:spPr>
          <a:xfrm>
            <a:off x="8183880" y="49011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A8B5D3"/>
                </a:solidFill>
              </a:rPr>
              <a:t>Single holding &gt; 30% of portfolio</a:t>
            </a:r>
            <a:endParaRPr lang="en-US" sz="1070" dirty="0"/>
          </a:p>
        </p:txBody>
      </p:sp>
      <p:sp>
        <p:nvSpPr>
          <p:cNvPr id="55" name="Shape 52"/>
          <p:cNvSpPr/>
          <p:nvPr/>
        </p:nvSpPr>
        <p:spPr>
          <a:xfrm>
            <a:off x="6675120" y="5413248"/>
            <a:ext cx="4443984" cy="420624"/>
          </a:xfrm>
          <a:prstGeom prst="roundRect">
            <a:avLst>
              <a:gd name="adj" fmla="val 26087"/>
            </a:avLst>
          </a:prstGeom>
          <a:solidFill>
            <a:srgbClr val="142236"/>
          </a:solidFill>
          <a:ln w="12700">
            <a:solidFill>
              <a:srgbClr val="27406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6876288" y="5532120"/>
            <a:ext cx="109728" cy="109728"/>
          </a:xfrm>
          <a:prstGeom prst="ellipse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7077456" y="548640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F6F8FF"/>
                </a:solidFill>
              </a:rPr>
              <a:t>Deep loss</a:t>
            </a:r>
            <a:endParaRPr lang="en-US" sz="1170" dirty="0"/>
          </a:p>
        </p:txBody>
      </p:sp>
      <p:sp>
        <p:nvSpPr>
          <p:cNvPr id="58" name="Text 55"/>
          <p:cNvSpPr/>
          <p:nvPr/>
        </p:nvSpPr>
        <p:spPr>
          <a:xfrm>
            <a:off x="8183880" y="548640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A8B5D3"/>
                </a:solidFill>
              </a:rPr>
              <a:t>Down &gt; 20%</a:t>
            </a:r>
            <a:endParaRPr lang="en-US" sz="1070" dirty="0"/>
          </a:p>
        </p:txBody>
      </p:sp>
      <p:sp>
        <p:nvSpPr>
          <p:cNvPr id="59" name="Text 56"/>
          <p:cNvSpPr/>
          <p:nvPr/>
        </p:nvSpPr>
        <p:spPr>
          <a:xfrm>
            <a:off x="11411712" y="644652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18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8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VALEURFIN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21792" y="56692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 your financial health instantly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21792" y="106070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5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Scoring converts scattered accounts into a clear improvement agenda.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21792" y="1408176"/>
            <a:ext cx="1234440" cy="0"/>
          </a:xfrm>
          <a:prstGeom prst="line">
            <a:avLst/>
          </a:prstGeom>
          <a:noFill/>
          <a:ln w="27940">
            <a:solidFill>
              <a:srgbClr val="A56C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1248" y="1755648"/>
            <a:ext cx="3429000" cy="34290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98848" y="1755648"/>
            <a:ext cx="3429000" cy="34290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183880" y="1783080"/>
            <a:ext cx="3063240" cy="1828800"/>
          </a:xfrm>
          <a:prstGeom prst="roundRect">
            <a:avLst>
              <a:gd name="adj" fmla="val 10000"/>
            </a:avLst>
          </a:prstGeom>
          <a:solidFill>
            <a:srgbClr val="101C38"/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8449056" y="19933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8C7FF"/>
                </a:solidFill>
              </a:rPr>
              <a:t>Wealth score inputs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8449056" y="22677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A8B5D3"/>
                </a:solidFill>
              </a:rPr>
              <a:t>• Emergency fund</a:t>
            </a:r>
            <a:endParaRPr lang="en-US" sz="1130" dirty="0"/>
          </a:p>
        </p:txBody>
      </p:sp>
      <p:sp>
        <p:nvSpPr>
          <p:cNvPr id="12" name="Text 7"/>
          <p:cNvSpPr/>
          <p:nvPr/>
        </p:nvSpPr>
        <p:spPr>
          <a:xfrm>
            <a:off x="8449056" y="24871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A8B5D3"/>
                </a:solidFill>
              </a:rPr>
              <a:t>• Savings rate</a:t>
            </a:r>
            <a:endParaRPr lang="en-US" sz="1130" dirty="0"/>
          </a:p>
        </p:txBody>
      </p:sp>
      <p:sp>
        <p:nvSpPr>
          <p:cNvPr id="13" name="Text 8"/>
          <p:cNvSpPr/>
          <p:nvPr/>
        </p:nvSpPr>
        <p:spPr>
          <a:xfrm>
            <a:off x="8449056" y="27066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A8B5D3"/>
                </a:solidFill>
              </a:rPr>
              <a:t>• Diversification</a:t>
            </a:r>
            <a:endParaRPr lang="en-US" sz="1130" dirty="0"/>
          </a:p>
        </p:txBody>
      </p:sp>
      <p:sp>
        <p:nvSpPr>
          <p:cNvPr id="14" name="Text 9"/>
          <p:cNvSpPr/>
          <p:nvPr/>
        </p:nvSpPr>
        <p:spPr>
          <a:xfrm>
            <a:off x="8449056" y="292608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A8B5D3"/>
                </a:solidFill>
              </a:rPr>
              <a:t>• Returns performance</a:t>
            </a:r>
            <a:endParaRPr lang="en-US" sz="1130" dirty="0"/>
          </a:p>
        </p:txBody>
      </p:sp>
      <p:sp>
        <p:nvSpPr>
          <p:cNvPr id="15" name="Text 10"/>
          <p:cNvSpPr/>
          <p:nvPr/>
        </p:nvSpPr>
        <p:spPr>
          <a:xfrm>
            <a:off x="8449056" y="314553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A8B5D3"/>
                </a:solidFill>
              </a:rPr>
              <a:t>• Goal progress</a:t>
            </a:r>
            <a:endParaRPr lang="en-US" sz="1130" dirty="0"/>
          </a:p>
        </p:txBody>
      </p:sp>
      <p:sp>
        <p:nvSpPr>
          <p:cNvPr id="16" name="Text 11"/>
          <p:cNvSpPr/>
          <p:nvPr/>
        </p:nvSpPr>
        <p:spPr>
          <a:xfrm>
            <a:off x="8449056" y="33649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A8B5D3"/>
                </a:solidFill>
              </a:rPr>
              <a:t>• Insurance factor</a:t>
            </a:r>
            <a:endParaRPr lang="en-US" sz="1130" dirty="0"/>
          </a:p>
        </p:txBody>
      </p:sp>
      <p:sp>
        <p:nvSpPr>
          <p:cNvPr id="17" name="Shape 12"/>
          <p:cNvSpPr/>
          <p:nvPr/>
        </p:nvSpPr>
        <p:spPr>
          <a:xfrm>
            <a:off x="8183880" y="3840480"/>
            <a:ext cx="3063240" cy="1828800"/>
          </a:xfrm>
          <a:prstGeom prst="roundRect">
            <a:avLst>
              <a:gd name="adj" fmla="val 10000"/>
            </a:avLst>
          </a:prstGeom>
          <a:solidFill>
            <a:srgbClr val="101C38"/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8449056" y="40507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8C7FF"/>
                </a:solidFill>
              </a:rPr>
              <a:t>Insurance score weights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449056" y="43251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A8B5D3"/>
                </a:solidFill>
              </a:rPr>
              <a:t>• Term life</a:t>
            </a:r>
            <a:endParaRPr lang="en-US" sz="1130" dirty="0"/>
          </a:p>
        </p:txBody>
      </p:sp>
      <p:sp>
        <p:nvSpPr>
          <p:cNvPr id="20" name="Text 15"/>
          <p:cNvSpPr/>
          <p:nvPr/>
        </p:nvSpPr>
        <p:spPr>
          <a:xfrm>
            <a:off x="8449056" y="45445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A8B5D3"/>
                </a:solidFill>
              </a:rPr>
              <a:t>• Health</a:t>
            </a:r>
            <a:endParaRPr lang="en-US" sz="1130" dirty="0"/>
          </a:p>
        </p:txBody>
      </p:sp>
      <p:sp>
        <p:nvSpPr>
          <p:cNvPr id="21" name="Text 16"/>
          <p:cNvSpPr/>
          <p:nvPr/>
        </p:nvSpPr>
        <p:spPr>
          <a:xfrm>
            <a:off x="8449056" y="47640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A8B5D3"/>
                </a:solidFill>
              </a:rPr>
              <a:t>• Accident</a:t>
            </a:r>
            <a:endParaRPr lang="en-US" sz="1130" dirty="0"/>
          </a:p>
        </p:txBody>
      </p:sp>
      <p:sp>
        <p:nvSpPr>
          <p:cNvPr id="22" name="Text 17"/>
          <p:cNvSpPr/>
          <p:nvPr/>
        </p:nvSpPr>
        <p:spPr>
          <a:xfrm>
            <a:off x="8449056" y="49834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A8B5D3"/>
                </a:solidFill>
              </a:rPr>
              <a:t>• Critical illness</a:t>
            </a:r>
            <a:endParaRPr lang="en-US" sz="1130" dirty="0"/>
          </a:p>
        </p:txBody>
      </p:sp>
      <p:sp>
        <p:nvSpPr>
          <p:cNvPr id="23" name="Text 18"/>
          <p:cNvSpPr/>
          <p:nvPr/>
        </p:nvSpPr>
        <p:spPr>
          <a:xfrm>
            <a:off x="8449056" y="52029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A8B5D3"/>
                </a:solidFill>
              </a:rPr>
              <a:t>• Vehicle / home</a:t>
            </a:r>
            <a:endParaRPr lang="en-US" sz="1130" dirty="0"/>
          </a:p>
        </p:txBody>
      </p:sp>
      <p:sp>
        <p:nvSpPr>
          <p:cNvPr id="24" name="Text 19"/>
          <p:cNvSpPr/>
          <p:nvPr/>
        </p:nvSpPr>
        <p:spPr>
          <a:xfrm>
            <a:off x="8449056" y="54223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A8B5D3"/>
                </a:solidFill>
              </a:rPr>
              <a:t>• Travel / child / others</a:t>
            </a:r>
            <a:endParaRPr lang="en-US" sz="1130" dirty="0"/>
          </a:p>
        </p:txBody>
      </p:sp>
      <p:sp>
        <p:nvSpPr>
          <p:cNvPr id="25" name="Shape 20"/>
          <p:cNvSpPr/>
          <p:nvPr/>
        </p:nvSpPr>
        <p:spPr>
          <a:xfrm>
            <a:off x="3063240" y="6099048"/>
            <a:ext cx="6080760" cy="310896"/>
          </a:xfrm>
          <a:prstGeom prst="roundRect">
            <a:avLst>
              <a:gd name="adj" fmla="val 35294"/>
            </a:avLst>
          </a:prstGeom>
          <a:solidFill>
            <a:srgbClr val="142236"/>
          </a:solidFill>
          <a:ln w="12700">
            <a:solidFill>
              <a:srgbClr val="27406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3063240" y="6112764"/>
            <a:ext cx="608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6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Grades: Excellent 85+ · Good 70+ · Fair 50+ · Needs work &lt;50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11411712" y="644652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18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8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VALEURFIN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21792" y="56692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data never leaves your device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21792" y="106070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5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not “privacy policy as fine print” — it is the core product architecture.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21792" y="1408176"/>
            <a:ext cx="1234440" cy="0"/>
          </a:xfrm>
          <a:prstGeom prst="line">
            <a:avLst/>
          </a:prstGeom>
          <a:noFill/>
          <a:ln w="27940">
            <a:solidFill>
              <a:srgbClr val="A56C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7824" y="1783080"/>
            <a:ext cx="3063240" cy="40690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206240" y="1755648"/>
            <a:ext cx="6903720" cy="4425696"/>
          </a:xfrm>
          <a:prstGeom prst="roundRect">
            <a:avLst>
              <a:gd name="adj" fmla="val 4545"/>
            </a:avLst>
          </a:prstGeom>
          <a:solidFill>
            <a:srgbClr val="101C38"/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4526280" y="2057400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782312" y="201168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8FF"/>
                </a:solidFill>
              </a:rPr>
              <a:t>Zero server communication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782312" y="221284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5D3"/>
                </a:solidFill>
              </a:rPr>
              <a:t>No signup, no email, no phone number required.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26280" y="2697480"/>
            <a:ext cx="164592" cy="164592"/>
          </a:xfrm>
          <a:prstGeom prst="ellipse">
            <a:avLst/>
          </a:prstGeom>
          <a:solidFill>
            <a:srgbClr val="28C7FF"/>
          </a:solidFill>
          <a:ln w="12700">
            <a:solidFill>
              <a:srgbClr val="28C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782312" y="26517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8FF"/>
                </a:solidFill>
              </a:rPr>
              <a:t>No analytics or tracking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782312" y="285292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5D3"/>
                </a:solidFill>
              </a:rPr>
              <a:t>Cookies are used only as a storage failsafe, not as a behavioral tracker.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26280" y="3337560"/>
            <a:ext cx="164592" cy="164592"/>
          </a:xfrm>
          <a:prstGeom prst="ellipse">
            <a:avLst/>
          </a:prstGeom>
          <a:solidFill>
            <a:srgbClr val="A56CFF"/>
          </a:solidFill>
          <a:ln w="12700">
            <a:solidFill>
              <a:srgbClr val="A56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782312" y="32918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8FF"/>
                </a:solidFill>
              </a:rPr>
              <a:t>PIN lock + recovery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782312" y="349300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5D3"/>
                </a:solidFill>
              </a:rPr>
              <a:t>4-digit PIN, cooldown and security question flows are built into the app.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26280" y="3977640"/>
            <a:ext cx="164592" cy="164592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782312" y="39319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8FF"/>
                </a:solidFill>
              </a:rPr>
              <a:t>Quad-backup storage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782312" y="413308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5D3"/>
                </a:solidFill>
              </a:rPr>
              <a:t>IndexedDB + localStorage + sessionStorage + cookie fallback.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526280" y="4617720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782312" y="45720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8FF"/>
                </a:solidFill>
              </a:rPr>
              <a:t>Export / import + wipe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782312" y="477316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5D3"/>
                </a:solidFill>
              </a:rPr>
              <a:t>Manual backup, restore and full wipe with confirmation.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526280" y="5257800"/>
            <a:ext cx="164592" cy="164592"/>
          </a:xfrm>
          <a:prstGeom prst="ellipse">
            <a:avLst/>
          </a:prstGeom>
          <a:solidFill>
            <a:srgbClr val="28C7FF"/>
          </a:solidFill>
          <a:ln w="12700">
            <a:solidFill>
              <a:srgbClr val="28C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4782312" y="521208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8FF"/>
                </a:solidFill>
              </a:rPr>
              <a:t>Installable PWA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4782312" y="541324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5D3"/>
                </a:solidFill>
              </a:rPr>
              <a:t>Works offline after first load and behaves like a native app shell.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11411712" y="644652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18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8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VALEURFIN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21792" y="56692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Family finances. One dashboard.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21792" y="106070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5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ValeurFin expands from solo investing into a household operating system for savings, protection and goals.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21792" y="1408176"/>
            <a:ext cx="1234440" cy="0"/>
          </a:xfrm>
          <a:prstGeom prst="line">
            <a:avLst/>
          </a:prstGeom>
          <a:noFill/>
          <a:ln w="27940">
            <a:solidFill>
              <a:srgbClr val="A56C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4672" y="1737360"/>
            <a:ext cx="6720840" cy="48280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818120" y="1783080"/>
            <a:ext cx="3429000" cy="2011680"/>
          </a:xfrm>
          <a:prstGeom prst="roundRect">
            <a:avLst>
              <a:gd name="adj" fmla="val 9091"/>
            </a:avLst>
          </a:prstGeom>
          <a:solidFill>
            <a:srgbClr val="101C38"/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092440" y="19933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28C7FF"/>
                </a:solidFill>
              </a:rPr>
              <a:t>Core family mode value</a:t>
            </a:r>
            <a:endParaRPr lang="en-US" sz="1480" dirty="0"/>
          </a:p>
        </p:txBody>
      </p:sp>
      <p:sp>
        <p:nvSpPr>
          <p:cNvPr id="10" name="Text 6"/>
          <p:cNvSpPr/>
          <p:nvPr/>
        </p:nvSpPr>
        <p:spPr>
          <a:xfrm>
            <a:off x="8092440" y="226771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A8B5D3"/>
                </a:solidFill>
              </a:rPr>
              <a:t>• Switch members from one selector</a:t>
            </a:r>
            <a:endParaRPr lang="en-US" sz="1130" dirty="0"/>
          </a:p>
        </p:txBody>
      </p:sp>
      <p:sp>
        <p:nvSpPr>
          <p:cNvPr id="11" name="Text 7"/>
          <p:cNvSpPr/>
          <p:nvPr/>
        </p:nvSpPr>
        <p:spPr>
          <a:xfrm>
            <a:off x="8092440" y="25328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A8B5D3"/>
                </a:solidFill>
              </a:rPr>
              <a:t>• Combined or individual net-worth views</a:t>
            </a:r>
            <a:endParaRPr lang="en-US" sz="1130" dirty="0"/>
          </a:p>
        </p:txBody>
      </p:sp>
      <p:sp>
        <p:nvSpPr>
          <p:cNvPr id="12" name="Text 8"/>
          <p:cNvSpPr/>
          <p:nvPr/>
        </p:nvSpPr>
        <p:spPr>
          <a:xfrm>
            <a:off x="8092440" y="279806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A8B5D3"/>
                </a:solidFill>
              </a:rPr>
              <a:t>• Every investment tagged to an owner</a:t>
            </a:r>
            <a:endParaRPr lang="en-US" sz="1130" dirty="0"/>
          </a:p>
        </p:txBody>
      </p:sp>
      <p:sp>
        <p:nvSpPr>
          <p:cNvPr id="13" name="Text 9"/>
          <p:cNvSpPr/>
          <p:nvPr/>
        </p:nvSpPr>
        <p:spPr>
          <a:xfrm>
            <a:off x="8092440" y="30632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A8B5D3"/>
                </a:solidFill>
              </a:rPr>
              <a:t>• Useful for spouse, parents and child goals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7818120" y="3977640"/>
            <a:ext cx="3429000" cy="2057400"/>
          </a:xfrm>
          <a:prstGeom prst="roundRect">
            <a:avLst>
              <a:gd name="adj" fmla="val 8889"/>
            </a:avLst>
          </a:prstGeom>
          <a:solidFill>
            <a:srgbClr val="101C38"/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8092440" y="41879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28C7FF"/>
                </a:solidFill>
              </a:rPr>
              <a:t>Beyond investing</a:t>
            </a:r>
            <a:endParaRPr lang="en-US" sz="1480" dirty="0"/>
          </a:p>
        </p:txBody>
      </p:sp>
      <p:sp>
        <p:nvSpPr>
          <p:cNvPr id="16" name="Text 12"/>
          <p:cNvSpPr/>
          <p:nvPr/>
        </p:nvSpPr>
        <p:spPr>
          <a:xfrm>
            <a:off x="8092440" y="44805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A8B5D3"/>
                </a:solidFill>
              </a:rPr>
              <a:t>• Expense tracking</a:t>
            </a:r>
            <a:endParaRPr lang="en-US" sz="1080" dirty="0"/>
          </a:p>
        </p:txBody>
      </p:sp>
      <p:sp>
        <p:nvSpPr>
          <p:cNvPr id="17" name="Text 13"/>
          <p:cNvSpPr/>
          <p:nvPr/>
        </p:nvSpPr>
        <p:spPr>
          <a:xfrm>
            <a:off x="9665208" y="44805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A8B5D3"/>
                </a:solidFill>
              </a:rPr>
              <a:t>• Income management</a:t>
            </a:r>
            <a:endParaRPr lang="en-US" sz="1080" dirty="0"/>
          </a:p>
        </p:txBody>
      </p:sp>
      <p:sp>
        <p:nvSpPr>
          <p:cNvPr id="18" name="Text 14"/>
          <p:cNvSpPr/>
          <p:nvPr/>
        </p:nvSpPr>
        <p:spPr>
          <a:xfrm>
            <a:off x="8092440" y="476402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A8B5D3"/>
                </a:solidFill>
              </a:rPr>
              <a:t>• Payment reminders</a:t>
            </a:r>
            <a:endParaRPr lang="en-US" sz="1080" dirty="0"/>
          </a:p>
        </p:txBody>
      </p:sp>
      <p:sp>
        <p:nvSpPr>
          <p:cNvPr id="19" name="Text 15"/>
          <p:cNvSpPr/>
          <p:nvPr/>
        </p:nvSpPr>
        <p:spPr>
          <a:xfrm>
            <a:off x="9665208" y="476402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A8B5D3"/>
                </a:solidFill>
              </a:rPr>
              <a:t>• Financial goals</a:t>
            </a:r>
            <a:endParaRPr lang="en-US" sz="1080" dirty="0"/>
          </a:p>
        </p:txBody>
      </p:sp>
      <p:sp>
        <p:nvSpPr>
          <p:cNvPr id="20" name="Text 16"/>
          <p:cNvSpPr/>
          <p:nvPr/>
        </p:nvSpPr>
        <p:spPr>
          <a:xfrm>
            <a:off x="8092440" y="50474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A8B5D3"/>
                </a:solidFill>
              </a:rPr>
              <a:t>• Dividend tracker</a:t>
            </a:r>
            <a:endParaRPr lang="en-US" sz="1080" dirty="0"/>
          </a:p>
        </p:txBody>
      </p:sp>
      <p:sp>
        <p:nvSpPr>
          <p:cNvPr id="21" name="Text 17"/>
          <p:cNvSpPr/>
          <p:nvPr/>
        </p:nvSpPr>
        <p:spPr>
          <a:xfrm>
            <a:off x="9665208" y="50474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A8B5D3"/>
                </a:solidFill>
              </a:rPr>
              <a:t>• What-if engine</a:t>
            </a:r>
            <a:endParaRPr lang="en-US" sz="1080" dirty="0"/>
          </a:p>
        </p:txBody>
      </p:sp>
      <p:sp>
        <p:nvSpPr>
          <p:cNvPr id="22" name="Text 18"/>
          <p:cNvSpPr/>
          <p:nvPr/>
        </p:nvSpPr>
        <p:spPr>
          <a:xfrm>
            <a:off x="8092440" y="533095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A8B5D3"/>
                </a:solidFill>
              </a:rPr>
              <a:t>• Transaction log</a:t>
            </a:r>
            <a:endParaRPr lang="en-US" sz="1080" dirty="0"/>
          </a:p>
        </p:txBody>
      </p:sp>
      <p:sp>
        <p:nvSpPr>
          <p:cNvPr id="23" name="Text 19"/>
          <p:cNvSpPr/>
          <p:nvPr/>
        </p:nvSpPr>
        <p:spPr>
          <a:xfrm>
            <a:off x="9665208" y="533095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A8B5D3"/>
                </a:solidFill>
              </a:rPr>
              <a:t>• Dark / light theme</a:t>
            </a:r>
            <a:endParaRPr lang="en-US" sz="1080" dirty="0"/>
          </a:p>
        </p:txBody>
      </p:sp>
      <p:sp>
        <p:nvSpPr>
          <p:cNvPr id="24" name="Text 20"/>
          <p:cNvSpPr/>
          <p:nvPr/>
        </p:nvSpPr>
        <p:spPr>
          <a:xfrm>
            <a:off x="11411712" y="644652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18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8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VALEURFIN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21792" y="56692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different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21792" y="106070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5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architecture is intentionally simple: client-only state, redundant local storage and read-only market APIs.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21792" y="1408176"/>
            <a:ext cx="1234440" cy="0"/>
          </a:xfrm>
          <a:prstGeom prst="line">
            <a:avLst/>
          </a:prstGeom>
          <a:noFill/>
          <a:ln w="27940">
            <a:solidFill>
              <a:srgbClr val="A56C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417320" y="2633472"/>
            <a:ext cx="7040880" cy="0"/>
          </a:xfrm>
          <a:prstGeom prst="line">
            <a:avLst/>
          </a:prstGeom>
          <a:noFill/>
          <a:ln w="1651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937760" y="2834640"/>
            <a:ext cx="0" cy="548640"/>
          </a:xfrm>
          <a:prstGeom prst="line">
            <a:avLst/>
          </a:prstGeom>
          <a:noFill/>
          <a:ln w="1651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937760" y="4590288"/>
            <a:ext cx="0" cy="411480"/>
          </a:xfrm>
          <a:prstGeom prst="line">
            <a:avLst/>
          </a:prstGeom>
          <a:noFill/>
          <a:ln w="1651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937760" y="5065776"/>
            <a:ext cx="0" cy="475488"/>
          </a:xfrm>
          <a:prstGeom prst="line">
            <a:avLst/>
          </a:prstGeom>
          <a:noFill/>
          <a:ln w="16510">
            <a:solidFill>
              <a:srgbClr val="1B2A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937760" y="5065776"/>
            <a:ext cx="0" cy="475488"/>
          </a:xfrm>
          <a:prstGeom prst="line">
            <a:avLst/>
          </a:prstGeom>
          <a:noFill/>
          <a:ln w="16510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37760" y="5065776"/>
            <a:ext cx="2011680" cy="475488"/>
          </a:xfrm>
          <a:prstGeom prst="line">
            <a:avLst/>
          </a:prstGeom>
          <a:noFill/>
          <a:ln w="16510">
            <a:solidFill>
              <a:srgbClr val="1B2A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937760" y="4590288"/>
            <a:ext cx="2697480" cy="228600"/>
          </a:xfrm>
          <a:prstGeom prst="line">
            <a:avLst/>
          </a:prstGeom>
          <a:noFill/>
          <a:ln w="1397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960120" y="1627632"/>
            <a:ext cx="7955280" cy="4800600"/>
          </a:xfrm>
          <a:prstGeom prst="roundRect">
            <a:avLst>
              <a:gd name="adj" fmla="val 3429"/>
            </a:avLst>
          </a:prstGeom>
          <a:solidFill>
            <a:srgbClr val="0E1A33"/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143000" y="17556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6F8FF"/>
                </a:solidFill>
              </a:rPr>
              <a:t>BROWSER (PWA)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1490472" y="2139696"/>
            <a:ext cx="1417320" cy="713232"/>
          </a:xfrm>
          <a:prstGeom prst="roundRect">
            <a:avLst>
              <a:gd name="adj" fmla="val 15385"/>
            </a:avLst>
          </a:prstGeom>
          <a:solidFill>
            <a:srgbClr val="122245"/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490472" y="23042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8FF"/>
                </a:solidFill>
              </a:rPr>
              <a:t>index.html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490472" y="252374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5D3"/>
                </a:solidFill>
              </a:rPr>
              <a:t>UI shell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273552" y="2139696"/>
            <a:ext cx="1417320" cy="713232"/>
          </a:xfrm>
          <a:prstGeom prst="roundRect">
            <a:avLst>
              <a:gd name="adj" fmla="val 15385"/>
            </a:avLst>
          </a:prstGeom>
          <a:solidFill>
            <a:srgbClr val="122245"/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273552" y="23042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8FF"/>
                </a:solidFill>
              </a:rPr>
              <a:t>mobile.html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273552" y="252374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5D3"/>
                </a:solidFill>
              </a:rPr>
              <a:t>UI shell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056632" y="2139696"/>
            <a:ext cx="1417320" cy="713232"/>
          </a:xfrm>
          <a:prstGeom prst="roundRect">
            <a:avLst>
              <a:gd name="adj" fmla="val 15385"/>
            </a:avLst>
          </a:prstGeom>
          <a:solidFill>
            <a:srgbClr val="122245"/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056632" y="23042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F8FF"/>
                </a:solidFill>
              </a:rPr>
              <a:t>sw.js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056632" y="252374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B5D3"/>
                </a:solidFill>
              </a:rPr>
              <a:t>offline cache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1965960" y="2999232"/>
            <a:ext cx="5943600" cy="1051560"/>
          </a:xfrm>
          <a:prstGeom prst="roundRect">
            <a:avLst>
              <a:gd name="adj" fmla="val 12174"/>
            </a:avLst>
          </a:prstGeom>
          <a:solidFill>
            <a:srgbClr val="122245"/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2148840" y="3163824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6F8FF"/>
                </a:solidFill>
              </a:rPr>
              <a:t>SINGLE STATE OBJECT (S)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2194560" y="343814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B5D3"/>
                </a:solidFill>
              </a:rPr>
              <a:t>investments · expenses · income · insurance · goals · dividends · reminders · snapshots · family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1618488" y="5175504"/>
            <a:ext cx="1572768" cy="822960"/>
          </a:xfrm>
          <a:prstGeom prst="roundRect">
            <a:avLst>
              <a:gd name="adj" fmla="val 13333"/>
            </a:avLst>
          </a:prstGeom>
          <a:solidFill>
            <a:srgbClr val="122245"/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618488" y="535838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6F8FF"/>
                </a:solidFill>
              </a:rPr>
              <a:t>IndexedDB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1618488" y="560527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D3"/>
                </a:solidFill>
              </a:rPr>
              <a:t>primary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611880" y="5175504"/>
            <a:ext cx="1572768" cy="822960"/>
          </a:xfrm>
          <a:prstGeom prst="roundRect">
            <a:avLst>
              <a:gd name="adj" fmla="val 13333"/>
            </a:avLst>
          </a:prstGeom>
          <a:solidFill>
            <a:srgbClr val="122245"/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611880" y="535838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6F8FF"/>
                </a:solidFill>
              </a:rPr>
              <a:t>localStorage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3611880" y="560527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D3"/>
                </a:solidFill>
              </a:rPr>
              <a:t>backup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605272" y="5175504"/>
            <a:ext cx="1572768" cy="822960"/>
          </a:xfrm>
          <a:prstGeom prst="roundRect">
            <a:avLst>
              <a:gd name="adj" fmla="val 13333"/>
            </a:avLst>
          </a:prstGeom>
          <a:solidFill>
            <a:srgbClr val="122245"/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605272" y="535838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6F8FF"/>
                </a:solidFill>
              </a:rPr>
              <a:t>Cookie / Session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5605272" y="5605272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D3"/>
                </a:solidFill>
              </a:rPr>
              <a:t>failsafe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309360" y="3383280"/>
            <a:ext cx="2331720" cy="1920240"/>
          </a:xfrm>
          <a:prstGeom prst="roundRect">
            <a:avLst>
              <a:gd name="adj" fmla="val 5714"/>
            </a:avLst>
          </a:prstGeom>
          <a:solidFill>
            <a:srgbClr val="122245"/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492240" y="352958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8C7FF"/>
                </a:solidFill>
              </a:rPr>
              <a:t>READ-ONLY EXTERNAL APIS</a:t>
            </a:r>
            <a:endParaRPr lang="en-US" sz="1450" dirty="0"/>
          </a:p>
        </p:txBody>
      </p:sp>
      <p:sp>
        <p:nvSpPr>
          <p:cNvPr id="39" name="Text 36"/>
          <p:cNvSpPr/>
          <p:nvPr/>
        </p:nvSpPr>
        <p:spPr>
          <a:xfrm>
            <a:off x="6583680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8B5D3"/>
                </a:solidFill>
              </a:rPr>
              <a:t>• Yahoo Finance</a:t>
            </a:r>
            <a:endParaRPr lang="en-US" sz="1120" dirty="0"/>
          </a:p>
        </p:txBody>
      </p:sp>
      <p:sp>
        <p:nvSpPr>
          <p:cNvPr id="40" name="Text 37"/>
          <p:cNvSpPr/>
          <p:nvPr/>
        </p:nvSpPr>
        <p:spPr>
          <a:xfrm>
            <a:off x="6583680" y="41330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8B5D3"/>
                </a:solidFill>
              </a:rPr>
              <a:t>• MFAPI.in</a:t>
            </a:r>
            <a:endParaRPr lang="en-US" sz="1120" dirty="0"/>
          </a:p>
        </p:txBody>
      </p:sp>
      <p:sp>
        <p:nvSpPr>
          <p:cNvPr id="41" name="Text 38"/>
          <p:cNvSpPr/>
          <p:nvPr/>
        </p:nvSpPr>
        <p:spPr>
          <a:xfrm>
            <a:off x="6583680" y="442569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8B5D3"/>
                </a:solidFill>
              </a:rPr>
              <a:t>• TradingView</a:t>
            </a:r>
            <a:endParaRPr lang="en-US" sz="1120" dirty="0"/>
          </a:p>
        </p:txBody>
      </p:sp>
      <p:sp>
        <p:nvSpPr>
          <p:cNvPr id="42" name="Text 39"/>
          <p:cNvSpPr/>
          <p:nvPr/>
        </p:nvSpPr>
        <p:spPr>
          <a:xfrm>
            <a:off x="6583680" y="471830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8B5D3"/>
                </a:solidFill>
              </a:rPr>
              <a:t>• Gemini AI (optional)</a:t>
            </a:r>
            <a:endParaRPr lang="en-US" sz="1120" dirty="0"/>
          </a:p>
        </p:txBody>
      </p:sp>
      <p:sp>
        <p:nvSpPr>
          <p:cNvPr id="43" name="Shape 40"/>
          <p:cNvSpPr/>
          <p:nvPr/>
        </p:nvSpPr>
        <p:spPr>
          <a:xfrm>
            <a:off x="9253728" y="1783080"/>
            <a:ext cx="1993392" cy="4572000"/>
          </a:xfrm>
          <a:prstGeom prst="roundRect">
            <a:avLst>
              <a:gd name="adj" fmla="val 9174"/>
            </a:avLst>
          </a:prstGeom>
          <a:solidFill>
            <a:srgbClr val="101C38"/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9491472" y="19933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8C7FF"/>
                </a:solidFill>
              </a:rPr>
              <a:t>Why this matters</a:t>
            </a:r>
            <a:endParaRPr lang="en-US" sz="1450" dirty="0"/>
          </a:p>
        </p:txBody>
      </p:sp>
      <p:sp>
        <p:nvSpPr>
          <p:cNvPr id="45" name="Text 42"/>
          <p:cNvSpPr/>
          <p:nvPr/>
        </p:nvSpPr>
        <p:spPr>
          <a:xfrm>
            <a:off x="9491472" y="226771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8B5D3"/>
                </a:solidFill>
              </a:rPr>
              <a:t>• Single HTML app per platform</a:t>
            </a:r>
            <a:endParaRPr lang="en-US" sz="1120" dirty="0"/>
          </a:p>
        </p:txBody>
      </p:sp>
      <p:sp>
        <p:nvSpPr>
          <p:cNvPr id="46" name="Text 43"/>
          <p:cNvSpPr/>
          <p:nvPr/>
        </p:nvSpPr>
        <p:spPr>
          <a:xfrm>
            <a:off x="9491472" y="26517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8B5D3"/>
                </a:solidFill>
              </a:rPr>
              <a:t>• No heavy framework dependency</a:t>
            </a:r>
            <a:endParaRPr lang="en-US" sz="1120" dirty="0"/>
          </a:p>
        </p:txBody>
      </p:sp>
      <p:sp>
        <p:nvSpPr>
          <p:cNvPr id="47" name="Text 44"/>
          <p:cNvSpPr/>
          <p:nvPr/>
        </p:nvSpPr>
        <p:spPr>
          <a:xfrm>
            <a:off x="9491472" y="303580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8B5D3"/>
                </a:solidFill>
              </a:rPr>
              <a:t>• Runs on file://, localhost and https://</a:t>
            </a:r>
            <a:endParaRPr lang="en-US" sz="1120" dirty="0"/>
          </a:p>
        </p:txBody>
      </p:sp>
      <p:sp>
        <p:nvSpPr>
          <p:cNvPr id="48" name="Text 45"/>
          <p:cNvSpPr/>
          <p:nvPr/>
        </p:nvSpPr>
        <p:spPr>
          <a:xfrm>
            <a:off x="9491472" y="341985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8B5D3"/>
                </a:solidFill>
              </a:rPr>
              <a:t>• External APIs are read-only</a:t>
            </a:r>
            <a:endParaRPr lang="en-US" sz="1120" dirty="0"/>
          </a:p>
        </p:txBody>
      </p:sp>
      <p:sp>
        <p:nvSpPr>
          <p:cNvPr id="49" name="Text 46"/>
          <p:cNvSpPr/>
          <p:nvPr/>
        </p:nvSpPr>
        <p:spPr>
          <a:xfrm>
            <a:off x="9491472" y="380390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A8B5D3"/>
                </a:solidFill>
              </a:rPr>
              <a:t>• User data stays client-side</a:t>
            </a:r>
            <a:endParaRPr lang="en-US" sz="1120" dirty="0"/>
          </a:p>
        </p:txBody>
      </p:sp>
      <p:sp>
        <p:nvSpPr>
          <p:cNvPr id="50" name="Text 47"/>
          <p:cNvSpPr/>
          <p:nvPr/>
        </p:nvSpPr>
        <p:spPr>
          <a:xfrm>
            <a:off x="11411712" y="644652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18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3840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8C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VALEURFIN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21792" y="56692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6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ValeurFin wins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21792" y="106070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B5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clearest wedge is not just tracking breadth — it is private, offline control plus decision support.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21792" y="1408176"/>
            <a:ext cx="1234440" cy="0"/>
          </a:xfrm>
          <a:prstGeom prst="line">
            <a:avLst/>
          </a:prstGeom>
          <a:noFill/>
          <a:ln w="27940">
            <a:solidFill>
              <a:srgbClr val="A56C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04672" y="1755648"/>
            <a:ext cx="10561320" cy="4526280"/>
          </a:xfrm>
          <a:prstGeom prst="roundRect">
            <a:avLst>
              <a:gd name="adj" fmla="val 4444"/>
            </a:avLst>
          </a:prstGeom>
          <a:solidFill>
            <a:srgbClr val="101C38"/>
          </a:solidFill>
          <a:ln w="12700">
            <a:solidFill>
              <a:srgbClr val="1B2A4A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24128" y="1993392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142236"/>
          </a:solidFill>
          <a:ln w="12700">
            <a:solidFill>
              <a:srgbClr val="2740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24128" y="208483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6F8FF"/>
                </a:solidFill>
              </a:rPr>
              <a:t>Feature</a:t>
            </a:r>
            <a:endParaRPr lang="en-US" sz="1160" dirty="0"/>
          </a:p>
        </p:txBody>
      </p:sp>
      <p:sp>
        <p:nvSpPr>
          <p:cNvPr id="10" name="Shape 7"/>
          <p:cNvSpPr/>
          <p:nvPr/>
        </p:nvSpPr>
        <p:spPr>
          <a:xfrm>
            <a:off x="4014216" y="199339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92B4D"/>
          </a:solidFill>
          <a:ln w="12700">
            <a:solidFill>
              <a:srgbClr val="2740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014216" y="20848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28C7FF"/>
                </a:solidFill>
              </a:rPr>
              <a:t>ValeurFin</a:t>
            </a:r>
            <a:endParaRPr lang="en-US" sz="1160" dirty="0"/>
          </a:p>
        </p:txBody>
      </p:sp>
      <p:sp>
        <p:nvSpPr>
          <p:cNvPr id="12" name="Shape 9"/>
          <p:cNvSpPr/>
          <p:nvPr/>
        </p:nvSpPr>
        <p:spPr>
          <a:xfrm>
            <a:off x="5495544" y="199339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42236"/>
          </a:solidFill>
          <a:ln w="12700">
            <a:solidFill>
              <a:srgbClr val="2740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95544" y="20848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6F8FF"/>
                </a:solidFill>
              </a:rPr>
              <a:t>Groww</a:t>
            </a:r>
            <a:endParaRPr lang="en-US" sz="1160" dirty="0"/>
          </a:p>
        </p:txBody>
      </p:sp>
      <p:sp>
        <p:nvSpPr>
          <p:cNvPr id="14" name="Shape 11"/>
          <p:cNvSpPr/>
          <p:nvPr/>
        </p:nvSpPr>
        <p:spPr>
          <a:xfrm>
            <a:off x="6976872" y="199339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42236"/>
          </a:solidFill>
          <a:ln w="12700">
            <a:solidFill>
              <a:srgbClr val="2740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976872" y="20848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6F8FF"/>
                </a:solidFill>
              </a:rPr>
              <a:t>INDmoney</a:t>
            </a:r>
            <a:endParaRPr lang="en-US" sz="1160" dirty="0"/>
          </a:p>
        </p:txBody>
      </p:sp>
      <p:sp>
        <p:nvSpPr>
          <p:cNvPr id="16" name="Shape 13"/>
          <p:cNvSpPr/>
          <p:nvPr/>
        </p:nvSpPr>
        <p:spPr>
          <a:xfrm>
            <a:off x="8458200" y="199339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42236"/>
          </a:solidFill>
          <a:ln w="12700">
            <a:solidFill>
              <a:srgbClr val="2740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58200" y="20848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6F8FF"/>
                </a:solidFill>
              </a:rPr>
              <a:t>Excel</a:t>
            </a:r>
            <a:endParaRPr lang="en-US" sz="1160" dirty="0"/>
          </a:p>
        </p:txBody>
      </p:sp>
      <p:sp>
        <p:nvSpPr>
          <p:cNvPr id="18" name="Shape 15"/>
          <p:cNvSpPr/>
          <p:nvPr/>
        </p:nvSpPr>
        <p:spPr>
          <a:xfrm>
            <a:off x="1024128" y="2459736"/>
            <a:ext cx="10021824" cy="283464"/>
          </a:xfrm>
          <a:prstGeom prst="roundRect">
            <a:avLst>
              <a:gd name="adj" fmla="val 12903"/>
            </a:avLst>
          </a:prstGeom>
          <a:solidFill>
            <a:srgbClr val="162746"/>
          </a:solidFill>
          <a:ln w="12700">
            <a:solidFill>
              <a:srgbClr val="27406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115568" y="2487168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F6F8FF"/>
                </a:solidFill>
              </a:rPr>
              <a:t>Privacy (no server)</a:t>
            </a:r>
            <a:endParaRPr lang="en-US" sz="1090" dirty="0"/>
          </a:p>
        </p:txBody>
      </p:sp>
      <p:sp>
        <p:nvSpPr>
          <p:cNvPr id="20" name="Text 17"/>
          <p:cNvSpPr/>
          <p:nvPr/>
        </p:nvSpPr>
        <p:spPr>
          <a:xfrm>
            <a:off x="4014216" y="248716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34D399"/>
                </a:solidFill>
              </a:rPr>
              <a:t>YES</a:t>
            </a:r>
            <a:endParaRPr lang="en-US" sz="1060" dirty="0"/>
          </a:p>
        </p:txBody>
      </p:sp>
      <p:sp>
        <p:nvSpPr>
          <p:cNvPr id="21" name="Text 18"/>
          <p:cNvSpPr/>
          <p:nvPr/>
        </p:nvSpPr>
        <p:spPr>
          <a:xfrm>
            <a:off x="5495544" y="248716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6B7A"/>
                </a:solidFill>
              </a:rPr>
              <a:t>NO</a:t>
            </a:r>
            <a:endParaRPr lang="en-US" sz="1060" dirty="0"/>
          </a:p>
        </p:txBody>
      </p:sp>
      <p:sp>
        <p:nvSpPr>
          <p:cNvPr id="22" name="Text 19"/>
          <p:cNvSpPr/>
          <p:nvPr/>
        </p:nvSpPr>
        <p:spPr>
          <a:xfrm>
            <a:off x="6976872" y="248716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6B7A"/>
                </a:solidFill>
              </a:rPr>
              <a:t>NO</a:t>
            </a:r>
            <a:endParaRPr lang="en-US" sz="1060" dirty="0"/>
          </a:p>
        </p:txBody>
      </p:sp>
      <p:sp>
        <p:nvSpPr>
          <p:cNvPr id="23" name="Text 20"/>
          <p:cNvSpPr/>
          <p:nvPr/>
        </p:nvSpPr>
        <p:spPr>
          <a:xfrm>
            <a:off x="8458200" y="248716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34D399"/>
                </a:solidFill>
              </a:rPr>
              <a:t>YES</a:t>
            </a:r>
            <a:endParaRPr lang="en-US" sz="1060" dirty="0"/>
          </a:p>
        </p:txBody>
      </p:sp>
      <p:sp>
        <p:nvSpPr>
          <p:cNvPr id="24" name="Shape 21"/>
          <p:cNvSpPr/>
          <p:nvPr/>
        </p:nvSpPr>
        <p:spPr>
          <a:xfrm>
            <a:off x="1024128" y="2798064"/>
            <a:ext cx="10021824" cy="283464"/>
          </a:xfrm>
          <a:prstGeom prst="roundRect">
            <a:avLst>
              <a:gd name="adj" fmla="val 12903"/>
            </a:avLst>
          </a:prstGeom>
          <a:solidFill>
            <a:srgbClr val="142236"/>
          </a:solidFill>
          <a:ln w="12700">
            <a:solidFill>
              <a:srgbClr val="27406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115568" y="2825496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F6F8FF"/>
                </a:solidFill>
              </a:rPr>
              <a:t>12 asset types</a:t>
            </a:r>
            <a:endParaRPr lang="en-US" sz="1090" dirty="0"/>
          </a:p>
        </p:txBody>
      </p:sp>
      <p:sp>
        <p:nvSpPr>
          <p:cNvPr id="26" name="Text 23"/>
          <p:cNvSpPr/>
          <p:nvPr/>
        </p:nvSpPr>
        <p:spPr>
          <a:xfrm>
            <a:off x="4014216" y="282549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34D399"/>
                </a:solidFill>
              </a:rPr>
              <a:t>YES</a:t>
            </a:r>
            <a:endParaRPr lang="en-US" sz="1060" dirty="0"/>
          </a:p>
        </p:txBody>
      </p:sp>
      <p:sp>
        <p:nvSpPr>
          <p:cNvPr id="27" name="Text 24"/>
          <p:cNvSpPr/>
          <p:nvPr/>
        </p:nvSpPr>
        <p:spPr>
          <a:xfrm>
            <a:off x="5495544" y="282549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6B7A"/>
                </a:solidFill>
              </a:rPr>
              <a:t>NO</a:t>
            </a:r>
            <a:endParaRPr lang="en-US" sz="1060" dirty="0"/>
          </a:p>
        </p:txBody>
      </p:sp>
      <p:sp>
        <p:nvSpPr>
          <p:cNvPr id="28" name="Text 25"/>
          <p:cNvSpPr/>
          <p:nvPr/>
        </p:nvSpPr>
        <p:spPr>
          <a:xfrm>
            <a:off x="6976872" y="282549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B454"/>
                </a:solidFill>
              </a:rPr>
              <a:t>PARTIAL</a:t>
            </a:r>
            <a:endParaRPr lang="en-US" sz="1060" dirty="0"/>
          </a:p>
        </p:txBody>
      </p:sp>
      <p:sp>
        <p:nvSpPr>
          <p:cNvPr id="29" name="Text 26"/>
          <p:cNvSpPr/>
          <p:nvPr/>
        </p:nvSpPr>
        <p:spPr>
          <a:xfrm>
            <a:off x="8458200" y="282549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34D399"/>
                </a:solidFill>
              </a:rPr>
              <a:t>YES</a:t>
            </a:r>
            <a:endParaRPr lang="en-US" sz="1060" dirty="0"/>
          </a:p>
        </p:txBody>
      </p:sp>
      <p:sp>
        <p:nvSpPr>
          <p:cNvPr id="30" name="Shape 27"/>
          <p:cNvSpPr/>
          <p:nvPr/>
        </p:nvSpPr>
        <p:spPr>
          <a:xfrm>
            <a:off x="1024128" y="3136392"/>
            <a:ext cx="10021824" cy="283464"/>
          </a:xfrm>
          <a:prstGeom prst="roundRect">
            <a:avLst>
              <a:gd name="adj" fmla="val 12903"/>
            </a:avLst>
          </a:prstGeom>
          <a:solidFill>
            <a:srgbClr val="162746"/>
          </a:solidFill>
          <a:ln w="12700">
            <a:solidFill>
              <a:srgbClr val="27406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115568" y="3163824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F6F8FF"/>
                </a:solidFill>
              </a:rPr>
              <a:t>Live NSE prices</a:t>
            </a:r>
            <a:endParaRPr lang="en-US" sz="1090" dirty="0"/>
          </a:p>
        </p:txBody>
      </p:sp>
      <p:sp>
        <p:nvSpPr>
          <p:cNvPr id="32" name="Text 29"/>
          <p:cNvSpPr/>
          <p:nvPr/>
        </p:nvSpPr>
        <p:spPr>
          <a:xfrm>
            <a:off x="4014216" y="316382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34D399"/>
                </a:solidFill>
              </a:rPr>
              <a:t>YES</a:t>
            </a:r>
            <a:endParaRPr lang="en-US" sz="1060" dirty="0"/>
          </a:p>
        </p:txBody>
      </p:sp>
      <p:sp>
        <p:nvSpPr>
          <p:cNvPr id="33" name="Text 30"/>
          <p:cNvSpPr/>
          <p:nvPr/>
        </p:nvSpPr>
        <p:spPr>
          <a:xfrm>
            <a:off x="5495544" y="316382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34D399"/>
                </a:solidFill>
              </a:rPr>
              <a:t>YES</a:t>
            </a:r>
            <a:endParaRPr lang="en-US" sz="1060" dirty="0"/>
          </a:p>
        </p:txBody>
      </p:sp>
      <p:sp>
        <p:nvSpPr>
          <p:cNvPr id="34" name="Text 31"/>
          <p:cNvSpPr/>
          <p:nvPr/>
        </p:nvSpPr>
        <p:spPr>
          <a:xfrm>
            <a:off x="6976872" y="316382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34D399"/>
                </a:solidFill>
              </a:rPr>
              <a:t>YES</a:t>
            </a:r>
            <a:endParaRPr lang="en-US" sz="1060" dirty="0"/>
          </a:p>
        </p:txBody>
      </p:sp>
      <p:sp>
        <p:nvSpPr>
          <p:cNvPr id="35" name="Text 32"/>
          <p:cNvSpPr/>
          <p:nvPr/>
        </p:nvSpPr>
        <p:spPr>
          <a:xfrm>
            <a:off x="8458200" y="316382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6B7A"/>
                </a:solidFill>
              </a:rPr>
              <a:t>NO</a:t>
            </a:r>
            <a:endParaRPr lang="en-US" sz="1060" dirty="0"/>
          </a:p>
        </p:txBody>
      </p:sp>
      <p:sp>
        <p:nvSpPr>
          <p:cNvPr id="36" name="Shape 33"/>
          <p:cNvSpPr/>
          <p:nvPr/>
        </p:nvSpPr>
        <p:spPr>
          <a:xfrm>
            <a:off x="1024128" y="3474720"/>
            <a:ext cx="10021824" cy="283464"/>
          </a:xfrm>
          <a:prstGeom prst="roundRect">
            <a:avLst>
              <a:gd name="adj" fmla="val 12903"/>
            </a:avLst>
          </a:prstGeom>
          <a:solidFill>
            <a:srgbClr val="142236"/>
          </a:solidFill>
          <a:ln w="12700">
            <a:solidFill>
              <a:srgbClr val="27406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1115568" y="3502152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F6F8FF"/>
                </a:solidFill>
              </a:rPr>
              <a:t>AI assistant</a:t>
            </a:r>
            <a:endParaRPr lang="en-US" sz="1090" dirty="0"/>
          </a:p>
        </p:txBody>
      </p:sp>
      <p:sp>
        <p:nvSpPr>
          <p:cNvPr id="38" name="Text 35"/>
          <p:cNvSpPr/>
          <p:nvPr/>
        </p:nvSpPr>
        <p:spPr>
          <a:xfrm>
            <a:off x="4014216" y="350215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34D399"/>
                </a:solidFill>
              </a:rPr>
              <a:t>YES</a:t>
            </a:r>
            <a:endParaRPr lang="en-US" sz="1060" dirty="0"/>
          </a:p>
        </p:txBody>
      </p:sp>
      <p:sp>
        <p:nvSpPr>
          <p:cNvPr id="39" name="Text 36"/>
          <p:cNvSpPr/>
          <p:nvPr/>
        </p:nvSpPr>
        <p:spPr>
          <a:xfrm>
            <a:off x="5495544" y="350215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6B7A"/>
                </a:solidFill>
              </a:rPr>
              <a:t>NO</a:t>
            </a:r>
            <a:endParaRPr lang="en-US" sz="1060" dirty="0"/>
          </a:p>
        </p:txBody>
      </p:sp>
      <p:sp>
        <p:nvSpPr>
          <p:cNvPr id="40" name="Text 37"/>
          <p:cNvSpPr/>
          <p:nvPr/>
        </p:nvSpPr>
        <p:spPr>
          <a:xfrm>
            <a:off x="6976872" y="350215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6B7A"/>
                </a:solidFill>
              </a:rPr>
              <a:t>NO</a:t>
            </a:r>
            <a:endParaRPr lang="en-US" sz="1060" dirty="0"/>
          </a:p>
        </p:txBody>
      </p:sp>
      <p:sp>
        <p:nvSpPr>
          <p:cNvPr id="41" name="Text 38"/>
          <p:cNvSpPr/>
          <p:nvPr/>
        </p:nvSpPr>
        <p:spPr>
          <a:xfrm>
            <a:off x="8458200" y="350215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6B7A"/>
                </a:solidFill>
              </a:rPr>
              <a:t>NO</a:t>
            </a:r>
            <a:endParaRPr lang="en-US" sz="1060" dirty="0"/>
          </a:p>
        </p:txBody>
      </p:sp>
      <p:sp>
        <p:nvSpPr>
          <p:cNvPr id="42" name="Shape 39"/>
          <p:cNvSpPr/>
          <p:nvPr/>
        </p:nvSpPr>
        <p:spPr>
          <a:xfrm>
            <a:off x="1024128" y="3813048"/>
            <a:ext cx="10021824" cy="283464"/>
          </a:xfrm>
          <a:prstGeom prst="roundRect">
            <a:avLst>
              <a:gd name="adj" fmla="val 12903"/>
            </a:avLst>
          </a:prstGeom>
          <a:solidFill>
            <a:srgbClr val="162746"/>
          </a:solidFill>
          <a:ln w="12700">
            <a:solidFill>
              <a:srgbClr val="27406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1115568" y="3840480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F6F8FF"/>
                </a:solidFill>
              </a:rPr>
              <a:t>Tax calculator</a:t>
            </a:r>
            <a:endParaRPr lang="en-US" sz="1090" dirty="0"/>
          </a:p>
        </p:txBody>
      </p:sp>
      <p:sp>
        <p:nvSpPr>
          <p:cNvPr id="44" name="Text 41"/>
          <p:cNvSpPr/>
          <p:nvPr/>
        </p:nvSpPr>
        <p:spPr>
          <a:xfrm>
            <a:off x="4014216" y="384048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34D399"/>
                </a:solidFill>
              </a:rPr>
              <a:t>YES</a:t>
            </a:r>
            <a:endParaRPr lang="en-US" sz="1060" dirty="0"/>
          </a:p>
        </p:txBody>
      </p:sp>
      <p:sp>
        <p:nvSpPr>
          <p:cNvPr id="45" name="Text 42"/>
          <p:cNvSpPr/>
          <p:nvPr/>
        </p:nvSpPr>
        <p:spPr>
          <a:xfrm>
            <a:off x="5495544" y="384048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6B7A"/>
                </a:solidFill>
              </a:rPr>
              <a:t>NO</a:t>
            </a:r>
            <a:endParaRPr lang="en-US" sz="1060" dirty="0"/>
          </a:p>
        </p:txBody>
      </p:sp>
      <p:sp>
        <p:nvSpPr>
          <p:cNvPr id="46" name="Text 43"/>
          <p:cNvSpPr/>
          <p:nvPr/>
        </p:nvSpPr>
        <p:spPr>
          <a:xfrm>
            <a:off x="6976872" y="384048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B454"/>
                </a:solidFill>
              </a:rPr>
              <a:t>PARTIAL</a:t>
            </a:r>
            <a:endParaRPr lang="en-US" sz="1060" dirty="0"/>
          </a:p>
        </p:txBody>
      </p:sp>
      <p:sp>
        <p:nvSpPr>
          <p:cNvPr id="47" name="Text 44"/>
          <p:cNvSpPr/>
          <p:nvPr/>
        </p:nvSpPr>
        <p:spPr>
          <a:xfrm>
            <a:off x="8458200" y="384048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6B7A"/>
                </a:solidFill>
              </a:rPr>
              <a:t>NO</a:t>
            </a:r>
            <a:endParaRPr lang="en-US" sz="1060" dirty="0"/>
          </a:p>
        </p:txBody>
      </p:sp>
      <p:sp>
        <p:nvSpPr>
          <p:cNvPr id="48" name="Shape 45"/>
          <p:cNvSpPr/>
          <p:nvPr/>
        </p:nvSpPr>
        <p:spPr>
          <a:xfrm>
            <a:off x="1024128" y="4151376"/>
            <a:ext cx="10021824" cy="283464"/>
          </a:xfrm>
          <a:prstGeom prst="roundRect">
            <a:avLst>
              <a:gd name="adj" fmla="val 12903"/>
            </a:avLst>
          </a:prstGeom>
          <a:solidFill>
            <a:srgbClr val="142236"/>
          </a:solidFill>
          <a:ln w="12700">
            <a:solidFill>
              <a:srgbClr val="27406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1115568" y="4178808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F6F8FF"/>
                </a:solidFill>
              </a:rPr>
              <a:t>Exit signals</a:t>
            </a:r>
            <a:endParaRPr lang="en-US" sz="1090" dirty="0"/>
          </a:p>
        </p:txBody>
      </p:sp>
      <p:sp>
        <p:nvSpPr>
          <p:cNvPr id="50" name="Text 47"/>
          <p:cNvSpPr/>
          <p:nvPr/>
        </p:nvSpPr>
        <p:spPr>
          <a:xfrm>
            <a:off x="4014216" y="417880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34D399"/>
                </a:solidFill>
              </a:rPr>
              <a:t>YES</a:t>
            </a:r>
            <a:endParaRPr lang="en-US" sz="1060" dirty="0"/>
          </a:p>
        </p:txBody>
      </p:sp>
      <p:sp>
        <p:nvSpPr>
          <p:cNvPr id="51" name="Text 48"/>
          <p:cNvSpPr/>
          <p:nvPr/>
        </p:nvSpPr>
        <p:spPr>
          <a:xfrm>
            <a:off x="5495544" y="417880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6B7A"/>
                </a:solidFill>
              </a:rPr>
              <a:t>NO</a:t>
            </a:r>
            <a:endParaRPr lang="en-US" sz="1060" dirty="0"/>
          </a:p>
        </p:txBody>
      </p:sp>
      <p:sp>
        <p:nvSpPr>
          <p:cNvPr id="52" name="Text 49"/>
          <p:cNvSpPr/>
          <p:nvPr/>
        </p:nvSpPr>
        <p:spPr>
          <a:xfrm>
            <a:off x="6976872" y="417880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6B7A"/>
                </a:solidFill>
              </a:rPr>
              <a:t>NO</a:t>
            </a:r>
            <a:endParaRPr lang="en-US" sz="1060" dirty="0"/>
          </a:p>
        </p:txBody>
      </p:sp>
      <p:sp>
        <p:nvSpPr>
          <p:cNvPr id="53" name="Text 50"/>
          <p:cNvSpPr/>
          <p:nvPr/>
        </p:nvSpPr>
        <p:spPr>
          <a:xfrm>
            <a:off x="8458200" y="417880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6B7A"/>
                </a:solidFill>
              </a:rPr>
              <a:t>NO</a:t>
            </a:r>
            <a:endParaRPr lang="en-US" sz="1060" dirty="0"/>
          </a:p>
        </p:txBody>
      </p:sp>
      <p:sp>
        <p:nvSpPr>
          <p:cNvPr id="54" name="Shape 51"/>
          <p:cNvSpPr/>
          <p:nvPr/>
        </p:nvSpPr>
        <p:spPr>
          <a:xfrm>
            <a:off x="1024128" y="4489704"/>
            <a:ext cx="10021824" cy="283464"/>
          </a:xfrm>
          <a:prstGeom prst="roundRect">
            <a:avLst>
              <a:gd name="adj" fmla="val 12903"/>
            </a:avLst>
          </a:prstGeom>
          <a:solidFill>
            <a:srgbClr val="162746"/>
          </a:solidFill>
          <a:ln w="12700">
            <a:solidFill>
              <a:srgbClr val="27406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1115568" y="4517136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F6F8FF"/>
                </a:solidFill>
              </a:rPr>
              <a:t>Insurance scoring</a:t>
            </a:r>
            <a:endParaRPr lang="en-US" sz="1090" dirty="0"/>
          </a:p>
        </p:txBody>
      </p:sp>
      <p:sp>
        <p:nvSpPr>
          <p:cNvPr id="56" name="Text 53"/>
          <p:cNvSpPr/>
          <p:nvPr/>
        </p:nvSpPr>
        <p:spPr>
          <a:xfrm>
            <a:off x="4014216" y="451713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34D399"/>
                </a:solidFill>
              </a:rPr>
              <a:t>YES</a:t>
            </a:r>
            <a:endParaRPr lang="en-US" sz="1060" dirty="0"/>
          </a:p>
        </p:txBody>
      </p:sp>
      <p:sp>
        <p:nvSpPr>
          <p:cNvPr id="57" name="Text 54"/>
          <p:cNvSpPr/>
          <p:nvPr/>
        </p:nvSpPr>
        <p:spPr>
          <a:xfrm>
            <a:off x="5495544" y="451713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6B7A"/>
                </a:solidFill>
              </a:rPr>
              <a:t>NO</a:t>
            </a:r>
            <a:endParaRPr lang="en-US" sz="1060" dirty="0"/>
          </a:p>
        </p:txBody>
      </p:sp>
      <p:sp>
        <p:nvSpPr>
          <p:cNvPr id="58" name="Text 55"/>
          <p:cNvSpPr/>
          <p:nvPr/>
        </p:nvSpPr>
        <p:spPr>
          <a:xfrm>
            <a:off x="6976872" y="451713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6B7A"/>
                </a:solidFill>
              </a:rPr>
              <a:t>NO</a:t>
            </a:r>
            <a:endParaRPr lang="en-US" sz="1060" dirty="0"/>
          </a:p>
        </p:txBody>
      </p:sp>
      <p:sp>
        <p:nvSpPr>
          <p:cNvPr id="59" name="Text 56"/>
          <p:cNvSpPr/>
          <p:nvPr/>
        </p:nvSpPr>
        <p:spPr>
          <a:xfrm>
            <a:off x="8458200" y="451713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6B7A"/>
                </a:solidFill>
              </a:rPr>
              <a:t>NO</a:t>
            </a:r>
            <a:endParaRPr lang="en-US" sz="1060" dirty="0"/>
          </a:p>
        </p:txBody>
      </p:sp>
      <p:sp>
        <p:nvSpPr>
          <p:cNvPr id="60" name="Shape 57"/>
          <p:cNvSpPr/>
          <p:nvPr/>
        </p:nvSpPr>
        <p:spPr>
          <a:xfrm>
            <a:off x="1024128" y="4828032"/>
            <a:ext cx="10021824" cy="283464"/>
          </a:xfrm>
          <a:prstGeom prst="roundRect">
            <a:avLst>
              <a:gd name="adj" fmla="val 12903"/>
            </a:avLst>
          </a:prstGeom>
          <a:solidFill>
            <a:srgbClr val="142236"/>
          </a:solidFill>
          <a:ln w="12700">
            <a:solidFill>
              <a:srgbClr val="27406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1115568" y="4855464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F6F8FF"/>
                </a:solidFill>
              </a:rPr>
              <a:t>Family mode</a:t>
            </a:r>
            <a:endParaRPr lang="en-US" sz="1090" dirty="0"/>
          </a:p>
        </p:txBody>
      </p:sp>
      <p:sp>
        <p:nvSpPr>
          <p:cNvPr id="62" name="Text 59"/>
          <p:cNvSpPr/>
          <p:nvPr/>
        </p:nvSpPr>
        <p:spPr>
          <a:xfrm>
            <a:off x="4014216" y="485546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34D399"/>
                </a:solidFill>
              </a:rPr>
              <a:t>YES</a:t>
            </a:r>
            <a:endParaRPr lang="en-US" sz="1060" dirty="0"/>
          </a:p>
        </p:txBody>
      </p:sp>
      <p:sp>
        <p:nvSpPr>
          <p:cNvPr id="63" name="Text 60"/>
          <p:cNvSpPr/>
          <p:nvPr/>
        </p:nvSpPr>
        <p:spPr>
          <a:xfrm>
            <a:off x="5495544" y="485546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6B7A"/>
                </a:solidFill>
              </a:rPr>
              <a:t>NO</a:t>
            </a:r>
            <a:endParaRPr lang="en-US" sz="1060" dirty="0"/>
          </a:p>
        </p:txBody>
      </p:sp>
      <p:sp>
        <p:nvSpPr>
          <p:cNvPr id="64" name="Text 61"/>
          <p:cNvSpPr/>
          <p:nvPr/>
        </p:nvSpPr>
        <p:spPr>
          <a:xfrm>
            <a:off x="6976872" y="485546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6B7A"/>
                </a:solidFill>
              </a:rPr>
              <a:t>NO</a:t>
            </a:r>
            <a:endParaRPr lang="en-US" sz="1060" dirty="0"/>
          </a:p>
        </p:txBody>
      </p:sp>
      <p:sp>
        <p:nvSpPr>
          <p:cNvPr id="65" name="Text 62"/>
          <p:cNvSpPr/>
          <p:nvPr/>
        </p:nvSpPr>
        <p:spPr>
          <a:xfrm>
            <a:off x="8458200" y="485546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B454"/>
                </a:solidFill>
              </a:rPr>
              <a:t>PARTIAL</a:t>
            </a:r>
            <a:endParaRPr lang="en-US" sz="1060" dirty="0"/>
          </a:p>
        </p:txBody>
      </p:sp>
      <p:sp>
        <p:nvSpPr>
          <p:cNvPr id="66" name="Shape 63"/>
          <p:cNvSpPr/>
          <p:nvPr/>
        </p:nvSpPr>
        <p:spPr>
          <a:xfrm>
            <a:off x="1024128" y="5166360"/>
            <a:ext cx="10021824" cy="283464"/>
          </a:xfrm>
          <a:prstGeom prst="roundRect">
            <a:avLst>
              <a:gd name="adj" fmla="val 12903"/>
            </a:avLst>
          </a:prstGeom>
          <a:solidFill>
            <a:srgbClr val="162746"/>
          </a:solidFill>
          <a:ln w="12700">
            <a:solidFill>
              <a:srgbClr val="27406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1115568" y="5193792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F6F8FF"/>
                </a:solidFill>
              </a:rPr>
              <a:t>Works offline</a:t>
            </a:r>
            <a:endParaRPr lang="en-US" sz="1090" dirty="0"/>
          </a:p>
        </p:txBody>
      </p:sp>
      <p:sp>
        <p:nvSpPr>
          <p:cNvPr id="68" name="Text 65"/>
          <p:cNvSpPr/>
          <p:nvPr/>
        </p:nvSpPr>
        <p:spPr>
          <a:xfrm>
            <a:off x="4014216" y="519379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34D399"/>
                </a:solidFill>
              </a:rPr>
              <a:t>YES</a:t>
            </a:r>
            <a:endParaRPr lang="en-US" sz="1060" dirty="0"/>
          </a:p>
        </p:txBody>
      </p:sp>
      <p:sp>
        <p:nvSpPr>
          <p:cNvPr id="69" name="Text 66"/>
          <p:cNvSpPr/>
          <p:nvPr/>
        </p:nvSpPr>
        <p:spPr>
          <a:xfrm>
            <a:off x="5495544" y="519379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6B7A"/>
                </a:solidFill>
              </a:rPr>
              <a:t>NO</a:t>
            </a:r>
            <a:endParaRPr lang="en-US" sz="1060" dirty="0"/>
          </a:p>
        </p:txBody>
      </p:sp>
      <p:sp>
        <p:nvSpPr>
          <p:cNvPr id="70" name="Text 67"/>
          <p:cNvSpPr/>
          <p:nvPr/>
        </p:nvSpPr>
        <p:spPr>
          <a:xfrm>
            <a:off x="6976872" y="519379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6B7A"/>
                </a:solidFill>
              </a:rPr>
              <a:t>NO</a:t>
            </a:r>
            <a:endParaRPr lang="en-US" sz="1060" dirty="0"/>
          </a:p>
        </p:txBody>
      </p:sp>
      <p:sp>
        <p:nvSpPr>
          <p:cNvPr id="71" name="Text 68"/>
          <p:cNvSpPr/>
          <p:nvPr/>
        </p:nvSpPr>
        <p:spPr>
          <a:xfrm>
            <a:off x="8458200" y="519379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34D399"/>
                </a:solidFill>
              </a:rPr>
              <a:t>YES</a:t>
            </a:r>
            <a:endParaRPr lang="en-US" sz="1060" dirty="0"/>
          </a:p>
        </p:txBody>
      </p:sp>
      <p:sp>
        <p:nvSpPr>
          <p:cNvPr id="72" name="Shape 69"/>
          <p:cNvSpPr/>
          <p:nvPr/>
        </p:nvSpPr>
        <p:spPr>
          <a:xfrm>
            <a:off x="1024128" y="5504688"/>
            <a:ext cx="10021824" cy="283464"/>
          </a:xfrm>
          <a:prstGeom prst="roundRect">
            <a:avLst>
              <a:gd name="adj" fmla="val 12903"/>
            </a:avLst>
          </a:prstGeom>
          <a:solidFill>
            <a:srgbClr val="142236"/>
          </a:solidFill>
          <a:ln w="12700">
            <a:solidFill>
              <a:srgbClr val="27406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1115568" y="5532120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F6F8FF"/>
                </a:solidFill>
              </a:rPr>
              <a:t>No signup required</a:t>
            </a:r>
            <a:endParaRPr lang="en-US" sz="1090" dirty="0"/>
          </a:p>
        </p:txBody>
      </p:sp>
      <p:sp>
        <p:nvSpPr>
          <p:cNvPr id="74" name="Text 71"/>
          <p:cNvSpPr/>
          <p:nvPr/>
        </p:nvSpPr>
        <p:spPr>
          <a:xfrm>
            <a:off x="4014216" y="553212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34D399"/>
                </a:solidFill>
              </a:rPr>
              <a:t>YES</a:t>
            </a:r>
            <a:endParaRPr lang="en-US" sz="1060" dirty="0"/>
          </a:p>
        </p:txBody>
      </p:sp>
      <p:sp>
        <p:nvSpPr>
          <p:cNvPr id="75" name="Text 72"/>
          <p:cNvSpPr/>
          <p:nvPr/>
        </p:nvSpPr>
        <p:spPr>
          <a:xfrm>
            <a:off x="5495544" y="553212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6B7A"/>
                </a:solidFill>
              </a:rPr>
              <a:t>NO</a:t>
            </a:r>
            <a:endParaRPr lang="en-US" sz="1060" dirty="0"/>
          </a:p>
        </p:txBody>
      </p:sp>
      <p:sp>
        <p:nvSpPr>
          <p:cNvPr id="76" name="Text 73"/>
          <p:cNvSpPr/>
          <p:nvPr/>
        </p:nvSpPr>
        <p:spPr>
          <a:xfrm>
            <a:off x="6976872" y="553212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6B7A"/>
                </a:solidFill>
              </a:rPr>
              <a:t>NO</a:t>
            </a:r>
            <a:endParaRPr lang="en-US" sz="1060" dirty="0"/>
          </a:p>
        </p:txBody>
      </p:sp>
      <p:sp>
        <p:nvSpPr>
          <p:cNvPr id="77" name="Text 74"/>
          <p:cNvSpPr/>
          <p:nvPr/>
        </p:nvSpPr>
        <p:spPr>
          <a:xfrm>
            <a:off x="8458200" y="5532120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34D399"/>
                </a:solidFill>
              </a:rPr>
              <a:t>YES</a:t>
            </a:r>
            <a:endParaRPr lang="en-US" sz="1060" dirty="0"/>
          </a:p>
        </p:txBody>
      </p:sp>
      <p:sp>
        <p:nvSpPr>
          <p:cNvPr id="78" name="Shape 75"/>
          <p:cNvSpPr/>
          <p:nvPr/>
        </p:nvSpPr>
        <p:spPr>
          <a:xfrm>
            <a:off x="7909560" y="5907024"/>
            <a:ext cx="2761488" cy="310896"/>
          </a:xfrm>
          <a:prstGeom prst="roundRect">
            <a:avLst>
              <a:gd name="adj" fmla="val 35294"/>
            </a:avLst>
          </a:prstGeom>
          <a:solidFill>
            <a:srgbClr val="142236"/>
          </a:solidFill>
          <a:ln w="12700">
            <a:solidFill>
              <a:srgbClr val="27406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6"/>
          <p:cNvSpPr/>
          <p:nvPr/>
        </p:nvSpPr>
        <p:spPr>
          <a:xfrm>
            <a:off x="7909560" y="5920740"/>
            <a:ext cx="2761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POSITIONING TO VALIDATE PRE-LAUNCH</a:t>
            </a:r>
            <a:endParaRPr lang="en-US" sz="1150" dirty="0"/>
          </a:p>
        </p:txBody>
      </p:sp>
      <p:sp>
        <p:nvSpPr>
          <p:cNvPr id="80" name="Text 77"/>
          <p:cNvSpPr/>
          <p:nvPr/>
        </p:nvSpPr>
        <p:spPr>
          <a:xfrm>
            <a:off x="11411712" y="644652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18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logo_icon.png"/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8321040" y="594360"/>
            <a:ext cx="3017520" cy="4754880"/>
          </a:xfrm>
          <a:prstGeom prst="rect">
            <a:avLst/>
          </a:prstGeom>
        </p:spPr>
      </p:pic>
      <p:pic>
        <p:nvPicPr>
          <p:cNvPr id="4" name="Image 2" descr="/mnt/data/logo_cropp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6267" y="777240"/>
            <a:ext cx="2079707" cy="14173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42416" y="1920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6F8FF"/>
                </a:solidFill>
              </a:rPr>
              <a:t>Master Your Financial Story</a:t>
            </a:r>
            <a:endParaRPr lang="en-US" sz="1800" dirty="0"/>
          </a:p>
        </p:txBody>
      </p:sp>
      <p:sp>
        <p:nvSpPr>
          <p:cNvPr id="6" name="Text 1"/>
          <p:cNvSpPr/>
          <p:nvPr/>
        </p:nvSpPr>
        <p:spPr>
          <a:xfrm>
            <a:off x="1042416" y="228600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8C7FF"/>
                </a:solidFill>
              </a:rPr>
              <a:t>Ready to bring private, offline-first wealth operating software to Indian investors?</a:t>
            </a:r>
            <a:endParaRPr lang="en-US" sz="2000" dirty="0"/>
          </a:p>
        </p:txBody>
      </p:sp>
      <p:sp>
        <p:nvSpPr>
          <p:cNvPr id="7" name="Text 2"/>
          <p:cNvSpPr/>
          <p:nvPr/>
        </p:nvSpPr>
        <p:spPr>
          <a:xfrm>
            <a:off x="1060704" y="31272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8FF"/>
                </a:solidFill>
              </a:rPr>
              <a:t>valeurfin-app.github.io/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1060704" y="34564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8FF"/>
                </a:solidFill>
              </a:rPr>
              <a:t>valeurfin.masteryourfinances@gmail.com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1060704" y="37856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F8FF"/>
                </a:solidFill>
              </a:rPr>
              <a:t>Siddharth Tiwari — Founder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7772400" y="1645920"/>
            <a:ext cx="2606040" cy="260604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FFFFFF">
                <a:alpha val="70000"/>
              </a:srgbClr>
            </a:solidFill>
            <a:prstDash val="solid"/>
          </a:ln>
          <a:effectLst>
            <a:outerShdw blurRad="1524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3" descr="/mnt/data/valeurfin_pitch_assets/qr_ap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8432" y="1901952"/>
            <a:ext cx="2103120" cy="21031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955280" y="38862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F6F8FF"/>
                </a:solidFill>
              </a:rPr>
              <a:t>Scan to open the app</a:t>
            </a:r>
            <a:endParaRPr lang="en-US" sz="1180" dirty="0"/>
          </a:p>
        </p:txBody>
      </p:sp>
      <p:sp>
        <p:nvSpPr>
          <p:cNvPr id="13" name="Shape 7"/>
          <p:cNvSpPr/>
          <p:nvPr/>
        </p:nvSpPr>
        <p:spPr>
          <a:xfrm>
            <a:off x="1051560" y="4718304"/>
            <a:ext cx="3840480" cy="310896"/>
          </a:xfrm>
          <a:prstGeom prst="roundRect">
            <a:avLst>
              <a:gd name="adj" fmla="val 35294"/>
            </a:avLst>
          </a:prstGeom>
          <a:solidFill>
            <a:srgbClr val="142236"/>
          </a:solidFill>
          <a:ln w="12700">
            <a:solidFill>
              <a:srgbClr val="27406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8"/>
          <p:cNvSpPr/>
          <p:nvPr/>
        </p:nvSpPr>
        <p:spPr>
          <a:xfrm>
            <a:off x="1051560" y="47320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6F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MONEY · YOUR DEVICE · YOUR STORY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1060704" y="599846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A8"/>
                </a:solidFill>
              </a:rPr>
              <a:t>© 2026 ValeurFin Technologies · Built with care in India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11411712" y="6446520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180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2001</Words>
  <Application>Microsoft Office PowerPoint</Application>
  <PresentationFormat>Widescreen</PresentationFormat>
  <Paragraphs>371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ValeurFin — Investor Pitch Deck</dc:title>
  <dc:subject>ValeurFin Investor Pitch Deck</dc:subject>
  <dc:creator>OpenAI</dc:creator>
  <cp:lastModifiedBy>Siddharth Tiwari (US)</cp:lastModifiedBy>
  <cp:revision>4</cp:revision>
  <dcterms:created xsi:type="dcterms:W3CDTF">2026-04-10T19:40:28Z</dcterms:created>
  <dcterms:modified xsi:type="dcterms:W3CDTF">2026-04-10T19:54:51Z</dcterms:modified>
</cp:coreProperties>
</file>